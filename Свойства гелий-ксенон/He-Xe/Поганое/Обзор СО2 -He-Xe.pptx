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8"/>
  </p:notesMasterIdLst>
  <p:sldIdLst>
    <p:sldId id="257" r:id="rId3"/>
    <p:sldId id="269" r:id="rId4"/>
    <p:sldId id="259" r:id="rId5"/>
    <p:sldId id="297" r:id="rId6"/>
    <p:sldId id="274" r:id="rId7"/>
    <p:sldId id="276" r:id="rId8"/>
    <p:sldId id="279" r:id="rId9"/>
    <p:sldId id="300" r:id="rId10"/>
    <p:sldId id="277" r:id="rId11"/>
    <p:sldId id="290" r:id="rId12"/>
    <p:sldId id="296" r:id="rId13"/>
    <p:sldId id="280" r:id="rId14"/>
    <p:sldId id="301" r:id="rId15"/>
    <p:sldId id="285" r:id="rId16"/>
    <p:sldId id="289" r:id="rId17"/>
    <p:sldId id="298" r:id="rId18"/>
    <p:sldId id="299" r:id="rId19"/>
    <p:sldId id="281" r:id="rId20"/>
    <p:sldId id="288" r:id="rId21"/>
    <p:sldId id="286" r:id="rId22"/>
    <p:sldId id="282" r:id="rId23"/>
    <p:sldId id="270" r:id="rId24"/>
    <p:sldId id="273" r:id="rId25"/>
    <p:sldId id="260" r:id="rId26"/>
    <p:sldId id="287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9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684"/>
    <a:srgbClr val="C00000"/>
    <a:srgbClr val="70AD47"/>
    <a:srgbClr val="523BA3"/>
    <a:srgbClr val="17F8F8"/>
    <a:srgbClr val="FF3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Темный стиль 1 — акцент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276" y="60"/>
      </p:cViewPr>
      <p:guideLst>
        <p:guide orient="horz" pos="2069"/>
        <p:guide pos="3885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DBE964-8D4B-4051-88B6-C41C4AC1AFA9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33D016-9A0B-40D0-9BB2-D06F70992A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164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[1] - https://www.sciencedirect.com/science/article/pii/S0360544218310065</a:t>
            </a:r>
            <a:endParaRPr lang="ru-RU" dirty="0" smtClean="0"/>
          </a:p>
          <a:p>
            <a:r>
              <a:rPr lang="en-US" dirty="0" smtClean="0"/>
              <a:t>[2] - https://naked-science.ru/article/tech/v-ssha-predstavili-2</a:t>
            </a:r>
          </a:p>
          <a:p>
            <a:r>
              <a:rPr lang="en-US" dirty="0" smtClean="0"/>
              <a:t>[4] - https://www.sciencedirect.com/science/article/pii/S0735193325002921?ref=pdf_download&amp;fr=RR-2&amp;rr=a16daf400aa6ec4f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3D016-9A0B-40D0-9BB2-D06F70992A3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543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[1] - https://www.sciencedirect.com/science/article/pii/S0360544218310065</a:t>
            </a:r>
            <a:endParaRPr lang="ru-RU" dirty="0" smtClean="0"/>
          </a:p>
          <a:p>
            <a:r>
              <a:rPr lang="en-US" dirty="0" smtClean="0"/>
              <a:t>[2] - https://naked-science.ru/article/tech/v-ssha-predstavili-2</a:t>
            </a:r>
          </a:p>
          <a:p>
            <a:r>
              <a:rPr lang="en-US" dirty="0" smtClean="0"/>
              <a:t>[4] - https://www.sciencedirect.com/science/article/pii/S0735193325002921?ref=pdf_download&amp;fr=RR-2&amp;rr=a16daf400aa6ec4f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3D016-9A0B-40D0-9BB2-D06F70992A3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598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3D016-9A0B-40D0-9BB2-D06F70992A3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087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3D016-9A0B-40D0-9BB2-D06F70992A3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6231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3D016-9A0B-40D0-9BB2-D06F70992A33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9722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3D016-9A0B-40D0-9BB2-D06F70992A33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8588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[3] </a:t>
            </a:r>
            <a:r>
              <a:rPr lang="ru-RU" dirty="0" smtClean="0"/>
              <a:t>- </a:t>
            </a:r>
            <a:r>
              <a:rPr lang="en-US" dirty="0" smtClean="0"/>
              <a:t>https://www.mdpi.com/1996-1073/16/21/7367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3D016-9A0B-40D0-9BB2-D06F70992A33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6183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824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664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286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2885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85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643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2561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7872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640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097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994F-4FB3-4196-A6BB-9CFD993ADD17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3731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ли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Текст 34">
            <a:extLst>
              <a:ext uri="{FF2B5EF4-FFF2-40B4-BE49-F238E27FC236}">
                <a16:creationId xmlns="" xmlns:a16="http://schemas.microsoft.com/office/drawing/2014/main" id="{31549AFB-CDCD-4578-B683-8446D88E6E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560320"/>
            <a:ext cx="12192000" cy="1911927"/>
          </a:xfrm>
          <a:prstGeom prst="rect">
            <a:avLst/>
          </a:prstGeom>
          <a:noFill/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40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="" xmlns:a16="http://schemas.microsoft.com/office/drawing/2014/main" id="{20BE1841-41F8-46D0-A2C5-8AF064905C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57"/>
          <a:stretch/>
        </p:blipFill>
        <p:spPr>
          <a:xfrm>
            <a:off x="11169115" y="2753"/>
            <a:ext cx="1019650" cy="101449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="" xmlns:a16="http://schemas.microsoft.com/office/drawing/2014/main" id="{21F8AEC7-7217-4D41-99DF-304341EEB0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20" y="6423141"/>
            <a:ext cx="1193165" cy="37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Прямоугольник 11">
            <a:extLst>
              <a:ext uri="{FF2B5EF4-FFF2-40B4-BE49-F238E27FC236}">
                <a16:creationId xmlns="" xmlns:a16="http://schemas.microsoft.com/office/drawing/2014/main" id="{DB783906-9486-4897-B71D-583C91180E43}"/>
              </a:ext>
            </a:extLst>
          </p:cNvPr>
          <p:cNvSpPr/>
          <p:nvPr userDrawn="1"/>
        </p:nvSpPr>
        <p:spPr>
          <a:xfrm>
            <a:off x="8966" y="6356349"/>
            <a:ext cx="1540476" cy="49982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="" xmlns:a16="http://schemas.microsoft.com/office/drawing/2014/main" id="{57EB7362-D781-489C-B517-F34F5025C309}"/>
              </a:ext>
            </a:extLst>
          </p:cNvPr>
          <p:cNvSpPr/>
          <p:nvPr userDrawn="1"/>
        </p:nvSpPr>
        <p:spPr>
          <a:xfrm>
            <a:off x="11059187" y="0"/>
            <a:ext cx="1132813" cy="1060964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Текст 2">
            <a:extLst>
              <a:ext uri="{FF2B5EF4-FFF2-40B4-BE49-F238E27FC236}">
                <a16:creationId xmlns="" xmlns:a16="http://schemas.microsoft.com/office/drawing/2014/main" id="{236FE8D6-F35D-4A5D-BE7A-07C8BBD958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5129001"/>
            <a:ext cx="12188765" cy="340705"/>
          </a:xfrm>
          <a:prstGeom prst="rect">
            <a:avLst/>
          </a:prstGeom>
        </p:spPr>
        <p:txBody>
          <a:bodyPr/>
          <a:lstStyle>
            <a:lvl1pPr algn="ctr">
              <a:defRPr sz="2200" b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7" name="Текст 6">
            <a:extLst>
              <a:ext uri="{FF2B5EF4-FFF2-40B4-BE49-F238E27FC236}">
                <a16:creationId xmlns="" xmlns:a16="http://schemas.microsoft.com/office/drawing/2014/main" id="{3CEB8157-CFBE-460A-BD13-0838A2B6DA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481398"/>
            <a:ext cx="12188764" cy="33855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Место работы, должность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86EADFC-1093-40D4-9613-0CEF5019EF90}"/>
              </a:ext>
            </a:extLst>
          </p:cNvPr>
          <p:cNvSpPr txBox="1"/>
          <p:nvPr userDrawn="1"/>
        </p:nvSpPr>
        <p:spPr>
          <a:xfrm>
            <a:off x="4992626" y="6030440"/>
            <a:ext cx="2203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8363174-6380-4D07-8ABE-7240EA0A080B}" type="datetime1">
              <a:rPr lang="ru-RU" sz="1600" smtClean="0">
                <a:solidFill>
                  <a:schemeClr val="accent3"/>
                </a:solidFill>
                <a:latin typeface="+mj-lt"/>
              </a:rPr>
              <a:pPr algn="ctr"/>
              <a:t>30.07.2026</a:t>
            </a:fld>
            <a:endParaRPr lang="ru-RU" sz="16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5132E0B7-2C4D-44A9-810A-8F8E64AFEB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6121237"/>
            <a:ext cx="3524250" cy="278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 dirty="0"/>
              <a:t>тел: +7 (000) 000-00-00</a:t>
            </a:r>
          </a:p>
        </p:txBody>
      </p:sp>
      <p:sp>
        <p:nvSpPr>
          <p:cNvPr id="18" name="Текст 2">
            <a:extLst>
              <a:ext uri="{FF2B5EF4-FFF2-40B4-BE49-F238E27FC236}">
                <a16:creationId xmlns="" xmlns:a16="http://schemas.microsoft.com/office/drawing/2014/main" id="{9D5672AB-A094-4016-B8E0-92A57CD1EB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5831335"/>
            <a:ext cx="3524250" cy="278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email: mail@mail.ru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36424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 l="-200" t="-200" r="-200" b="-2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="" xmlns:a16="http://schemas.microsoft.com/office/drawing/2014/main" id="{6BD80F16-0C0C-45EB-3773-2B1A97D9E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925450"/>
            <a:ext cx="12192000" cy="1325563"/>
          </a:xfr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 algn="ctr">
              <a:spcBef>
                <a:spcPts val="600"/>
              </a:spcBef>
            </a:pPr>
            <a:r>
              <a: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Название дисциплины</a:t>
            </a:r>
            <a:br>
              <a: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ru-RU" sz="3200" dirty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Тема занятия</a:t>
            </a:r>
            <a:endParaRPr lang="ru-RU" dirty="0"/>
          </a:p>
        </p:txBody>
      </p:sp>
      <p:sp>
        <p:nvSpPr>
          <p:cNvPr id="17" name="Text Placeholder 16">
            <a:extLst>
              <a:ext uri="{FF2B5EF4-FFF2-40B4-BE49-F238E27FC236}">
                <a16:creationId xmlns="" xmlns:a16="http://schemas.microsoft.com/office/drawing/2014/main" id="{6A781CB9-25B3-0F7D-BF51-8A1D0D3D7B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92188"/>
          </a:xfrm>
        </p:spPr>
        <p:txBody>
          <a:bodyPr/>
          <a:lstStyle>
            <a:lvl1pPr marL="0" indent="0" algn="ctr">
              <a:buNone/>
              <a:defRPr sz="3000">
                <a:solidFill>
                  <a:srgbClr val="114578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rgbClr val="114578"/>
                </a:solidFill>
                <a:latin typeface="+mj-lt"/>
              </a:defRPr>
            </a:lvl2pPr>
          </a:lstStyle>
          <a:p>
            <a:pPr lvl="0"/>
            <a:r>
              <a:rPr lang="ru-RU" dirty="0"/>
              <a:t>Кафедра ИТНО | МЭИ</a:t>
            </a:r>
            <a:endParaRPr lang="en-US" dirty="0"/>
          </a:p>
          <a:p>
            <a:pPr lvl="1"/>
            <a:r>
              <a:rPr lang="ru-RU" dirty="0"/>
              <a:t>Инновационных технологий наукоемких отраслей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36B493AB-7287-D4D0-5D86-B7DB8F0BD9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04188" y="5159141"/>
            <a:ext cx="4087812" cy="952901"/>
          </a:xfrm>
        </p:spPr>
        <p:txBody>
          <a:bodyPr>
            <a:noAutofit/>
          </a:bodyPr>
          <a:lstStyle>
            <a:lvl1pPr>
              <a:defRPr lang="en-US" sz="2000" smtClean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ru-RU"/>
            </a:lvl5pPr>
          </a:lstStyle>
          <a:p>
            <a:pPr marL="0" lvl="0" indent="0" algn="r">
              <a:spcBef>
                <a:spcPts val="0"/>
              </a:spcBef>
              <a:buNone/>
            </a:pPr>
            <a:r>
              <a:rPr lang="ru-RU" dirty="0"/>
              <a:t>Иванов И.И. Старший преподаватель ИТНО Лекция 1_01.09.2022</a:t>
            </a:r>
          </a:p>
          <a:p>
            <a:pPr marL="0" lvl="0" indent="0" algn="r">
              <a:spcBef>
                <a:spcPts val="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851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следний слайд">
    <p:bg>
      <p:bgPr>
        <a:blipFill dpi="0" rotWithShape="1">
          <a:blip r:embed="rId2">
            <a:lum/>
          </a:blip>
          <a:srcRect/>
          <a:stretch>
            <a:fillRect l="-200" t="-200" r="-200" b="-2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6">
            <a:extLst>
              <a:ext uri="{FF2B5EF4-FFF2-40B4-BE49-F238E27FC236}">
                <a16:creationId xmlns="" xmlns:a16="http://schemas.microsoft.com/office/drawing/2014/main" id="{7F9103FD-BBAE-6AB4-FA3D-2654D39C7F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992188"/>
          </a:xfrm>
        </p:spPr>
        <p:txBody>
          <a:bodyPr/>
          <a:lstStyle>
            <a:lvl1pPr marL="0" indent="0" algn="ctr">
              <a:buNone/>
              <a:defRPr sz="3000">
                <a:solidFill>
                  <a:srgbClr val="114578"/>
                </a:solidFill>
                <a:latin typeface="+mj-lt"/>
              </a:defRPr>
            </a:lvl1pPr>
            <a:lvl2pPr marL="457200" indent="0" algn="ctr">
              <a:buNone/>
              <a:defRPr sz="2000">
                <a:solidFill>
                  <a:srgbClr val="114578"/>
                </a:solidFill>
                <a:latin typeface="+mj-lt"/>
              </a:defRPr>
            </a:lvl2pPr>
          </a:lstStyle>
          <a:p>
            <a:pPr lvl="0"/>
            <a:r>
              <a:rPr lang="ru-RU" dirty="0"/>
              <a:t>Кафедра ИТНО | МЭИ</a:t>
            </a:r>
            <a:endParaRPr lang="en-US" dirty="0"/>
          </a:p>
          <a:p>
            <a:pPr lvl="1"/>
            <a:r>
              <a:rPr lang="ru-RU" dirty="0"/>
              <a:t>Инновационных технологий наукоемких отраслей</a:t>
            </a:r>
            <a:endParaRPr lang="en-US" dirty="0"/>
          </a:p>
        </p:txBody>
      </p:sp>
      <p:sp>
        <p:nvSpPr>
          <p:cNvPr id="9" name="Text Placeholder 18">
            <a:extLst>
              <a:ext uri="{FF2B5EF4-FFF2-40B4-BE49-F238E27FC236}">
                <a16:creationId xmlns="" xmlns:a16="http://schemas.microsoft.com/office/drawing/2014/main" id="{C56CF550-32BB-8D78-ED4B-3AA24A3A0F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2" y="1963554"/>
            <a:ext cx="12192001" cy="2993457"/>
          </a:xfrm>
          <a:solidFill>
            <a:schemeClr val="bg1">
              <a:alpha val="0"/>
            </a:schemeClr>
          </a:solidFill>
        </p:spPr>
        <p:txBody>
          <a:bodyPr vert="horz" lIns="91440" tIns="45720" rIns="91440" bIns="45720" rtlCol="0" anchor="ctr">
            <a:normAutofit fontScale="90000"/>
          </a:bodyPr>
          <a:lstStyle>
            <a:lvl1pPr indent="0">
              <a:defRPr lang="en-US" sz="3200" dirty="0" smtClean="0">
                <a:solidFill>
                  <a:srgbClr val="445684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ru-RU" dirty="0"/>
              <a:t>Заключительный слайд с дополнительной информацией, например, списком источников, контактными данными (при необходимости)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036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 l="-1000" t="-100" r="-100" b="5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71638" y="100453"/>
            <a:ext cx="10641530" cy="480131"/>
          </a:xfrm>
          <a:noFill/>
        </p:spPr>
        <p:txBody>
          <a:bodyPr wrap="square" rtlCol="0">
            <a:spAutoFit/>
          </a:bodyPr>
          <a:lstStyle>
            <a:lvl1pPr>
              <a:defRPr lang="ru-RU" sz="2800" dirty="0">
                <a:solidFill>
                  <a:srgbClr val="445684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ru-RU" dirty="0"/>
              <a:t>Заголовок слайда: шрифт </a:t>
            </a:r>
            <a:r>
              <a:rPr lang="ru-RU" dirty="0" err="1"/>
              <a:t>Calibri</a:t>
            </a:r>
            <a:r>
              <a:rPr lang="ru-RU" dirty="0"/>
              <a:t> Light (Заголовки)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471638" y="1045979"/>
            <a:ext cx="10515600" cy="4830040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200" smtClean="0">
                <a:solidFill>
                  <a:srgbClr val="445684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228600" indent="0">
              <a:buNone/>
              <a:defRPr lang="en-US" sz="2000" kern="1200" dirty="0" smtClean="0">
                <a:solidFill>
                  <a:srgbClr val="445684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685800" indent="0">
              <a:buNone/>
              <a:defRPr lang="en-US" sz="1800" kern="1200" dirty="0" smtClean="0">
                <a:solidFill>
                  <a:srgbClr val="445684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143000" indent="0">
              <a:buNone/>
              <a:defRPr lang="en-US" sz="1600" kern="1200" dirty="0" smtClean="0">
                <a:solidFill>
                  <a:srgbClr val="445684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600200" indent="0">
              <a:buNone/>
              <a:defRPr lang="ru-RU" sz="1600" kern="1200" dirty="0">
                <a:solidFill>
                  <a:srgbClr val="445684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marL="0" lvl="0"/>
            <a:r>
              <a:rPr lang="ru-RU" dirty="0"/>
              <a:t>Текст презентации: шрифт </a:t>
            </a:r>
            <a:r>
              <a:rPr lang="ru-RU" dirty="0" err="1"/>
              <a:t>Calibri</a:t>
            </a:r>
            <a:r>
              <a:rPr lang="ru-RU" dirty="0"/>
              <a:t> Light, рекомендуемый размер шрифта 20-22 пт., старайтесь придерживаться границ текста (рамка, в которой находится настоящий текст), рекомендуемый цвет текста: индиго (#445684), черный (#000000) </a:t>
            </a:r>
          </a:p>
          <a:p>
            <a:pPr marL="0" lvl="0"/>
            <a:r>
              <a:rPr lang="ru-RU" dirty="0"/>
              <a:t>При необходимости используйте:</a:t>
            </a:r>
          </a:p>
          <a:p>
            <a:pPr marL="0" lvl="0"/>
            <a:r>
              <a:rPr lang="ru-RU" dirty="0"/>
              <a:t>- цвет;</a:t>
            </a:r>
          </a:p>
          <a:p>
            <a:pPr marL="0" lvl="0"/>
            <a:r>
              <a:rPr lang="ru-RU" dirty="0"/>
              <a:t>- подчеркивание;</a:t>
            </a:r>
          </a:p>
          <a:p>
            <a:pPr marL="0" lvl="0"/>
            <a:r>
              <a:rPr lang="ru-RU" dirty="0"/>
              <a:t>- жирный шрифт;</a:t>
            </a:r>
          </a:p>
          <a:p>
            <a:pPr marL="0" lvl="0"/>
            <a:r>
              <a:rPr lang="ru-RU" dirty="0"/>
              <a:t>- встроенные таблицы, фигуры, диаграммы, формулы;</a:t>
            </a:r>
          </a:p>
          <a:p>
            <a:pPr marL="0" lvl="0"/>
            <a:r>
              <a:rPr lang="ru-RU" dirty="0"/>
              <a:t>- бесплатные/собственные иконки и рисунки.</a:t>
            </a:r>
          </a:p>
          <a:p>
            <a:pPr marL="457200" lvl="1"/>
            <a:r>
              <a:rPr lang="en-US" dirty="0"/>
              <a:t>Second level</a:t>
            </a:r>
          </a:p>
          <a:p>
            <a:pPr marL="914400" lvl="2"/>
            <a:r>
              <a:rPr lang="en-US" dirty="0"/>
              <a:t>Third level</a:t>
            </a:r>
          </a:p>
          <a:p>
            <a:pPr marL="1371600" lvl="3"/>
            <a:r>
              <a:rPr lang="en-US" dirty="0"/>
              <a:t>Fourth level</a:t>
            </a:r>
          </a:p>
          <a:p>
            <a:pPr marL="1828800"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957110" y="6433353"/>
            <a:ext cx="2743200" cy="365125"/>
          </a:xfrm>
        </p:spPr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9509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ключите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="" xmlns:a16="http://schemas.microsoft.com/office/drawing/2014/main" id="{20BE1841-41F8-46D0-A2C5-8AF064905C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57"/>
          <a:stretch/>
        </p:blipFill>
        <p:spPr>
          <a:xfrm>
            <a:off x="11169115" y="2753"/>
            <a:ext cx="1019650" cy="101449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="" xmlns:a16="http://schemas.microsoft.com/office/drawing/2014/main" id="{21F8AEC7-7217-4D41-99DF-304341EEB0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20" y="6423141"/>
            <a:ext cx="1193165" cy="37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Прямоугольник 11">
            <a:extLst>
              <a:ext uri="{FF2B5EF4-FFF2-40B4-BE49-F238E27FC236}">
                <a16:creationId xmlns="" xmlns:a16="http://schemas.microsoft.com/office/drawing/2014/main" id="{DB783906-9486-4897-B71D-583C91180E43}"/>
              </a:ext>
            </a:extLst>
          </p:cNvPr>
          <p:cNvSpPr/>
          <p:nvPr userDrawn="1"/>
        </p:nvSpPr>
        <p:spPr>
          <a:xfrm>
            <a:off x="8966" y="6356349"/>
            <a:ext cx="1540476" cy="49982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="" xmlns:a16="http://schemas.microsoft.com/office/drawing/2014/main" id="{57EB7362-D781-489C-B517-F34F5025C309}"/>
              </a:ext>
            </a:extLst>
          </p:cNvPr>
          <p:cNvSpPr/>
          <p:nvPr userDrawn="1"/>
        </p:nvSpPr>
        <p:spPr>
          <a:xfrm>
            <a:off x="11059187" y="0"/>
            <a:ext cx="1132813" cy="1060964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9" name="Текст 34">
            <a:extLst>
              <a:ext uri="{FF2B5EF4-FFF2-40B4-BE49-F238E27FC236}">
                <a16:creationId xmlns="" xmlns:a16="http://schemas.microsoft.com/office/drawing/2014/main" id="{64D3E3AE-F380-4D6C-A5D2-1A37DFFB05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560320"/>
            <a:ext cx="12192000" cy="1911927"/>
          </a:xfrm>
          <a:prstGeom prst="rect">
            <a:avLst/>
          </a:prstGeom>
          <a:noFill/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40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625364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ли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Текст 34">
            <a:extLst>
              <a:ext uri="{FF2B5EF4-FFF2-40B4-BE49-F238E27FC236}">
                <a16:creationId xmlns="" xmlns:a16="http://schemas.microsoft.com/office/drawing/2014/main" id="{31549AFB-CDCD-4578-B683-8446D88E6E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560320"/>
            <a:ext cx="12192000" cy="1911927"/>
          </a:xfrm>
          <a:prstGeom prst="rect">
            <a:avLst/>
          </a:prstGeom>
          <a:noFill/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40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="" xmlns:a16="http://schemas.microsoft.com/office/drawing/2014/main" id="{20BE1841-41F8-46D0-A2C5-8AF064905C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57"/>
          <a:stretch/>
        </p:blipFill>
        <p:spPr>
          <a:xfrm>
            <a:off x="11169115" y="2753"/>
            <a:ext cx="1019650" cy="101449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="" xmlns:a16="http://schemas.microsoft.com/office/drawing/2014/main" id="{21F8AEC7-7217-4D41-99DF-304341EEB0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20" y="6423141"/>
            <a:ext cx="1193165" cy="37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Прямоугольник 11">
            <a:extLst>
              <a:ext uri="{FF2B5EF4-FFF2-40B4-BE49-F238E27FC236}">
                <a16:creationId xmlns="" xmlns:a16="http://schemas.microsoft.com/office/drawing/2014/main" id="{DB783906-9486-4897-B71D-583C91180E43}"/>
              </a:ext>
            </a:extLst>
          </p:cNvPr>
          <p:cNvSpPr/>
          <p:nvPr userDrawn="1"/>
        </p:nvSpPr>
        <p:spPr>
          <a:xfrm>
            <a:off x="8966" y="6356349"/>
            <a:ext cx="1540476" cy="499827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="" xmlns:a16="http://schemas.microsoft.com/office/drawing/2014/main" id="{57EB7362-D781-489C-B517-F34F5025C309}"/>
              </a:ext>
            </a:extLst>
          </p:cNvPr>
          <p:cNvSpPr/>
          <p:nvPr userDrawn="1"/>
        </p:nvSpPr>
        <p:spPr>
          <a:xfrm>
            <a:off x="11059187" y="0"/>
            <a:ext cx="1132813" cy="1060964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prstClr val="white"/>
              </a:solidFill>
            </a:endParaRPr>
          </a:p>
        </p:txBody>
      </p:sp>
      <p:sp>
        <p:nvSpPr>
          <p:cNvPr id="11" name="Текст 2">
            <a:extLst>
              <a:ext uri="{FF2B5EF4-FFF2-40B4-BE49-F238E27FC236}">
                <a16:creationId xmlns="" xmlns:a16="http://schemas.microsoft.com/office/drawing/2014/main" id="{236FE8D6-F35D-4A5D-BE7A-07C8BBD958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5129001"/>
            <a:ext cx="12188765" cy="340705"/>
          </a:xfrm>
          <a:prstGeom prst="rect">
            <a:avLst/>
          </a:prstGeom>
        </p:spPr>
        <p:txBody>
          <a:bodyPr/>
          <a:lstStyle>
            <a:lvl1pPr algn="ctr">
              <a:defRPr sz="2200" b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7" name="Текст 6">
            <a:extLst>
              <a:ext uri="{FF2B5EF4-FFF2-40B4-BE49-F238E27FC236}">
                <a16:creationId xmlns="" xmlns:a16="http://schemas.microsoft.com/office/drawing/2014/main" id="{3CEB8157-CFBE-460A-BD13-0838A2B6DA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481398"/>
            <a:ext cx="12188764" cy="33855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Место работы, должность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86EADFC-1093-40D4-9613-0CEF5019EF90}"/>
              </a:ext>
            </a:extLst>
          </p:cNvPr>
          <p:cNvSpPr txBox="1"/>
          <p:nvPr userDrawn="1"/>
        </p:nvSpPr>
        <p:spPr>
          <a:xfrm>
            <a:off x="4992626" y="6030440"/>
            <a:ext cx="2203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68363174-6380-4D07-8ABE-7240EA0A080B}" type="datetime1">
              <a:rPr lang="ru-RU" sz="1600">
                <a:solidFill>
                  <a:srgbClr val="A5A5A5"/>
                </a:solidFill>
                <a:latin typeface="Calibri Light" panose="020F0302020204030204"/>
              </a:rPr>
              <a:pPr algn="ctr"/>
              <a:t>30.07.2026</a:t>
            </a:fld>
            <a:endParaRPr lang="ru-RU" sz="1600" dirty="0">
              <a:solidFill>
                <a:srgbClr val="A5A5A5"/>
              </a:solidFill>
              <a:latin typeface="Calibri Light" panose="020F0302020204030204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5132E0B7-2C4D-44A9-810A-8F8E64AFEB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" y="6121237"/>
            <a:ext cx="3524250" cy="278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 dirty="0"/>
              <a:t>тел: +7 (000) 000-00-00</a:t>
            </a:r>
          </a:p>
        </p:txBody>
      </p:sp>
      <p:sp>
        <p:nvSpPr>
          <p:cNvPr id="18" name="Текст 2">
            <a:extLst>
              <a:ext uri="{FF2B5EF4-FFF2-40B4-BE49-F238E27FC236}">
                <a16:creationId xmlns="" xmlns:a16="http://schemas.microsoft.com/office/drawing/2014/main" id="{9D5672AB-A094-4016-B8E0-92A57CD1EB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5831335"/>
            <a:ext cx="3524250" cy="278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email: mail@mail.ru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21928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сновные слай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единительная линия 2">
            <a:extLst>
              <a:ext uri="{FF2B5EF4-FFF2-40B4-BE49-F238E27FC236}">
                <a16:creationId xmlns="" xmlns:a16="http://schemas.microsoft.com/office/drawing/2014/main" id="{E4BFD050-F92D-4410-96C2-0650839AE49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776615"/>
            <a:ext cx="10709754" cy="0"/>
          </a:xfrm>
          <a:prstGeom prst="line">
            <a:avLst/>
          </a:prstGeom>
          <a:ln w="38100">
            <a:solidFill>
              <a:srgbClr val="4456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="" xmlns:a16="http://schemas.microsoft.com/office/drawing/2014/main" id="{412F797A-B27A-4213-8D4D-3FD3BA69CF13}"/>
              </a:ext>
            </a:extLst>
          </p:cNvPr>
          <p:cNvCxnSpPr>
            <a:cxnSpLocks/>
          </p:cNvCxnSpPr>
          <p:nvPr userDrawn="1"/>
        </p:nvCxnSpPr>
        <p:spPr>
          <a:xfrm>
            <a:off x="0" y="864296"/>
            <a:ext cx="159080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="" xmlns:a16="http://schemas.microsoft.com/office/drawing/2014/main" id="{D012AF07-231B-45D8-ADFE-E2D2F1AF43B4}"/>
              </a:ext>
            </a:extLst>
          </p:cNvPr>
          <p:cNvCxnSpPr/>
          <p:nvPr userDrawn="1"/>
        </p:nvCxnSpPr>
        <p:spPr>
          <a:xfrm>
            <a:off x="8945671" y="864296"/>
            <a:ext cx="159080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871A70B7-2E90-45B9-BC45-EF1C684F5A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57"/>
          <a:stretch/>
        </p:blipFill>
        <p:spPr>
          <a:xfrm>
            <a:off x="11169115" y="2753"/>
            <a:ext cx="1019650" cy="101449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80FA73BE-1C83-44B0-AABC-599ABACD9BBB}"/>
              </a:ext>
            </a:extLst>
          </p:cNvPr>
          <p:cNvSpPr txBox="1"/>
          <p:nvPr userDrawn="1"/>
        </p:nvSpPr>
        <p:spPr>
          <a:xfrm>
            <a:off x="10979297" y="6384802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99CAE8D2-C71E-42CE-BC50-0B7E2A8D8A9F}" type="slidenum">
              <a:rPr lang="ru-RU" sz="1400" smtClean="0">
                <a:solidFill>
                  <a:schemeClr val="bg1">
                    <a:lumMod val="50000"/>
                  </a:schemeClr>
                </a:solidFill>
              </a:rPr>
              <a:t>‹#›</a:t>
            </a:fld>
            <a:endParaRPr lang="ru-RU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="" xmlns:a16="http://schemas.microsoft.com/office/drawing/2014/main" id="{478E3E56-BE62-4607-A5BD-3C151BDB82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995" y="180669"/>
            <a:ext cx="10253759" cy="476248"/>
          </a:xfrm>
          <a:prstGeom prst="rect">
            <a:avLst/>
          </a:prstGeom>
          <a:noFill/>
        </p:spPr>
        <p:txBody>
          <a:bodyPr/>
          <a:lstStyle>
            <a:lvl1pPr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ru-RU" sz="2800" dirty="0">
                <a:solidFill>
                  <a:srgbClr val="445684"/>
                </a:solidFill>
                <a:latin typeface="+mj-lt"/>
              </a:rPr>
              <a:t>Заголовок слайда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="" xmlns:a16="http://schemas.microsoft.com/office/drawing/2014/main" id="{C31B5DB4-F3F6-4705-BF12-B3564C4049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5612" y="1136946"/>
            <a:ext cx="11307763" cy="4767827"/>
          </a:xfrm>
          <a:prstGeom prst="rect">
            <a:avLst/>
          </a:prstGeom>
          <a:noFill/>
        </p:spPr>
        <p:txBody>
          <a:bodyPr/>
          <a:lstStyle>
            <a:lvl1pPr>
              <a:defRPr sz="22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Основное содержание</a:t>
            </a:r>
          </a:p>
        </p:txBody>
      </p:sp>
    </p:spTree>
    <p:extLst>
      <p:ext uri="{BB962C8B-B14F-4D97-AF65-F5344CB8AC3E}">
        <p14:creationId xmlns:p14="http://schemas.microsoft.com/office/powerpoint/2010/main" val="307902237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6994F-4FB3-4196-A6BB-9CFD993ADD17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4BBA8-43CE-4660-B1E7-93E0A673B6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840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76B-96CA-47F0-9F84-DA9635962C02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30.07.2026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811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="" xmlns:a16="http://schemas.microsoft.com/office/drawing/2014/main" id="{1A2B5803-E288-2F4A-DB50-2C4172DB56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0" dirty="0" smtClean="0">
                <a:solidFill>
                  <a:srgbClr val="1F497D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Разработка материалов технического предложения энергоблока на базе реакторной установки с газовым теплоносителем</a:t>
            </a:r>
            <a:endParaRPr lang="ru-RU" dirty="0">
              <a:solidFill>
                <a:srgbClr val="445682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="" xmlns:a16="http://schemas.microsoft.com/office/drawing/2014/main" id="{3B3EB154-4CF1-57F0-F4E1-A3E281D6D6AB}"/>
              </a:ext>
            </a:extLst>
          </p:cNvPr>
          <p:cNvSpPr/>
          <p:nvPr/>
        </p:nvSpPr>
        <p:spPr>
          <a:xfrm>
            <a:off x="4863130" y="5690495"/>
            <a:ext cx="246574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200"/>
            <a:r>
              <a:rPr lang="ru-RU" sz="1500" b="1" dirty="0">
                <a:latin typeface="Geologica Light" pitchFamily="2" charset="0"/>
              </a:rPr>
              <a:t>ФГБОУ ВО «НИУ «МЭИ»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="" xmlns:a16="http://schemas.microsoft.com/office/drawing/2014/main" id="{1FFC7B19-DA23-E323-F7C1-893119A3E907}"/>
              </a:ext>
            </a:extLst>
          </p:cNvPr>
          <p:cNvSpPr/>
          <p:nvPr/>
        </p:nvSpPr>
        <p:spPr>
          <a:xfrm>
            <a:off x="7800975" y="5682428"/>
            <a:ext cx="431482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 defTabSz="457200"/>
            <a:r>
              <a:rPr lang="ru-RU" b="1" dirty="0" smtClean="0">
                <a:solidFill>
                  <a:srgbClr val="445682"/>
                </a:solidFill>
                <a:latin typeface="Geologica Light" pitchFamily="2" charset="0"/>
              </a:rPr>
              <a:t>Докладчики: </a:t>
            </a:r>
          </a:p>
          <a:p>
            <a:pPr algn="ctr" defTabSz="457200"/>
            <a:r>
              <a:rPr lang="ru-RU" b="1" dirty="0" smtClean="0">
                <a:solidFill>
                  <a:srgbClr val="445682"/>
                </a:solidFill>
                <a:latin typeface="Geologica Light" pitchFamily="2" charset="0"/>
              </a:rPr>
              <a:t>Калугина Ксения Фаиковна</a:t>
            </a:r>
          </a:p>
          <a:p>
            <a:pPr algn="ctr" defTabSz="457200"/>
            <a:r>
              <a:rPr lang="ru-RU" b="1" dirty="0" smtClean="0">
                <a:solidFill>
                  <a:srgbClr val="445682"/>
                </a:solidFill>
                <a:latin typeface="Geologica Light" pitchFamily="2" charset="0"/>
              </a:rPr>
              <a:t>Романова Анна Сергеевна</a:t>
            </a:r>
            <a:endParaRPr lang="ru-RU" b="1" dirty="0">
              <a:solidFill>
                <a:srgbClr val="445682"/>
              </a:solidFill>
              <a:latin typeface="Geologica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225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Содержание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8892" y="1225356"/>
            <a:ext cx="107687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 smtClean="0">
                <a:solidFill>
                  <a:srgbClr val="445682"/>
                </a:solidFill>
              </a:rPr>
              <a:t>Актуальность использования СО2</a:t>
            </a: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>
                <a:solidFill>
                  <a:srgbClr val="445682"/>
                </a:solidFill>
              </a:rPr>
              <a:t>Ключевое преимущество СО2 – снижение работы сжатия </a:t>
            </a:r>
            <a:endParaRPr lang="ru-RU" sz="1400" b="1" dirty="0" smtClean="0">
              <a:solidFill>
                <a:srgbClr val="445682"/>
              </a:solidFill>
            </a:endParaRP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>
                <a:solidFill>
                  <a:srgbClr val="445682"/>
                </a:solidFill>
              </a:rPr>
              <a:t>Ключевой недостаток – удорожание </a:t>
            </a:r>
            <a:r>
              <a:rPr lang="ru-RU" sz="1400" b="1" dirty="0" smtClean="0">
                <a:solidFill>
                  <a:srgbClr val="445682"/>
                </a:solidFill>
              </a:rPr>
              <a:t>рекуператоров</a:t>
            </a: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>
                <a:solidFill>
                  <a:srgbClr val="445682"/>
                </a:solidFill>
              </a:rPr>
              <a:t>Материалы и деградация в sCO₂-</a:t>
            </a:r>
            <a:r>
              <a:rPr lang="ru-RU" sz="1400" b="1" dirty="0" smtClean="0">
                <a:solidFill>
                  <a:srgbClr val="445682"/>
                </a:solidFill>
              </a:rPr>
              <a:t>цикле</a:t>
            </a: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>
                <a:solidFill>
                  <a:srgbClr val="445682"/>
                </a:solidFill>
              </a:rPr>
              <a:t>В каких циклах можно использовать СО2?</a:t>
            </a:r>
            <a:endParaRPr lang="ru-RU" sz="1400" b="1" dirty="0" smtClean="0">
              <a:solidFill>
                <a:srgbClr val="445682"/>
              </a:solidFill>
            </a:endParaRP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 smtClean="0">
                <a:solidFill>
                  <a:srgbClr val="445684"/>
                </a:solidFill>
                <a:cs typeface="Calibri Light" panose="020F0302020204030204" pitchFamily="34" charset="0"/>
              </a:rPr>
              <a:t>Выбор оптимального термодинамического цикла</a:t>
            </a: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 smtClean="0">
                <a:solidFill>
                  <a:srgbClr val="445684"/>
                </a:solidFill>
              </a:rPr>
              <a:t>Влияние начальных и оптимизационных параметров</a:t>
            </a: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 smtClean="0">
                <a:solidFill>
                  <a:srgbClr val="445684"/>
                </a:solidFill>
              </a:rPr>
              <a:t>Постановка задачи моделирования</a:t>
            </a: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>
                <a:solidFill>
                  <a:srgbClr val="445684"/>
                </a:solidFill>
              </a:rPr>
              <a:t>Методика моделирования СО2 цикла</a:t>
            </a:r>
            <a:endParaRPr lang="ru-RU" sz="1400" b="1" dirty="0" smtClean="0">
              <a:solidFill>
                <a:srgbClr val="445684"/>
              </a:solidFill>
            </a:endParaRPr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/>
            </a:pPr>
            <a:r>
              <a:rPr lang="ru-RU" sz="1400" b="1" dirty="0" smtClean="0">
                <a:solidFill>
                  <a:srgbClr val="445684"/>
                </a:solidFill>
                <a:cs typeface="Calibri Light" panose="020F0302020204030204" pitchFamily="34" charset="0"/>
              </a:rPr>
              <a:t>Выводы</a:t>
            </a:r>
            <a:endParaRPr lang="ru-RU" sz="1400" b="1" dirty="0">
              <a:solidFill>
                <a:srgbClr val="445684"/>
              </a:solidFill>
              <a:cs typeface="Calibri Light" panose="020F03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33713" y="1225356"/>
            <a:ext cx="46659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>
                <a:solidFill>
                  <a:srgbClr val="445682"/>
                </a:solidFill>
                <a:cs typeface="Calibri Light" panose="020F0302020204030204" pitchFamily="34" charset="0"/>
              </a:rPr>
              <a:t>3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4</a:t>
            </a:r>
            <a:endParaRPr lang="ru-RU" sz="1400" b="1" dirty="0">
              <a:solidFill>
                <a:srgbClr val="445682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5</a:t>
            </a:r>
            <a:endParaRPr lang="ru-RU" sz="1400" b="1" dirty="0">
              <a:solidFill>
                <a:srgbClr val="445682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6</a:t>
            </a:r>
            <a:endParaRPr lang="ru-RU" sz="1400" b="1" dirty="0">
              <a:solidFill>
                <a:srgbClr val="445682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altLang="en-US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7</a:t>
            </a:r>
            <a:endParaRPr lang="en-US" sz="1400" b="1" dirty="0">
              <a:solidFill>
                <a:srgbClr val="445682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8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>
                <a:solidFill>
                  <a:srgbClr val="445682"/>
                </a:solidFill>
                <a:cs typeface="Calibri Light" panose="020F0302020204030204" pitchFamily="34" charset="0"/>
              </a:rPr>
              <a:t>9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10</a:t>
            </a:r>
            <a:endParaRPr lang="ru-RU" sz="1400" b="1" dirty="0">
              <a:solidFill>
                <a:srgbClr val="445682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11</a:t>
            </a:r>
          </a:p>
          <a:p>
            <a:pPr>
              <a:lnSpc>
                <a:spcPct val="150000"/>
              </a:lnSpc>
              <a:spcAft>
                <a:spcPts val="400"/>
              </a:spcAft>
              <a:defRPr/>
            </a:pPr>
            <a:r>
              <a:rPr lang="ru-RU" sz="1400" b="1" dirty="0" smtClean="0">
                <a:solidFill>
                  <a:srgbClr val="445682"/>
                </a:solidFill>
                <a:cs typeface="Calibri Light" panose="020F0302020204030204" pitchFamily="34" charset="0"/>
              </a:rPr>
              <a:t>12</a:t>
            </a:r>
            <a:endParaRPr lang="ru-RU" sz="1400" b="1" dirty="0">
              <a:solidFill>
                <a:srgbClr val="445682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532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Актуальность применения </a:t>
            </a:r>
            <a:r>
              <a:rPr lang="en-US" dirty="0" smtClean="0">
                <a:latin typeface="+mn-lt"/>
              </a:rPr>
              <a:t>CO</a:t>
            </a:r>
            <a:r>
              <a:rPr lang="en-US" baseline="-25000" dirty="0" smtClean="0">
                <a:latin typeface="+mn-lt"/>
              </a:rPr>
              <a:t>2</a:t>
            </a:r>
            <a:endParaRPr lang="ru-RU" baseline="-25000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 rotWithShape="1">
          <a:blip r:embed="rId3"/>
          <a:srcRect l="159" t="3452" r="983" b="10051"/>
          <a:stretch/>
        </p:blipFill>
        <p:spPr>
          <a:xfrm>
            <a:off x="538191" y="2346182"/>
            <a:ext cx="4500956" cy="2530388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396361" y="4876570"/>
            <a:ext cx="477932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i="0" u="sng" dirty="0" smtClean="0">
                <a:solidFill>
                  <a:srgbClr val="445684"/>
                </a:solidFill>
                <a:effectLst/>
                <a:latin typeface="Arial AMU Regular"/>
              </a:rPr>
              <a:t>Основные сценарии применения sCO₂-циклов</a:t>
            </a:r>
            <a:r>
              <a:rPr lang="en-US" sz="1400" b="1" i="0" u="sng" dirty="0" smtClean="0">
                <a:solidFill>
                  <a:srgbClr val="445684"/>
                </a:solidFill>
                <a:effectLst/>
                <a:latin typeface="Arial AMU Regular"/>
              </a:rPr>
              <a:t> [4]</a:t>
            </a:r>
            <a:endParaRPr lang="ru-RU" sz="1400" b="1" u="sng" dirty="0">
              <a:solidFill>
                <a:srgbClr val="445684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62934" y="881139"/>
            <a:ext cx="1164591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>
                <a:solidFill>
                  <a:srgbClr val="445684"/>
                </a:solidFill>
              </a:rPr>
              <a:t>sCO₂ привлекает все отрасли энергетики благодаря универсальности (от ядерных реакторов до геотермальных источников), высокому </a:t>
            </a:r>
            <a:r>
              <a:rPr lang="ru-RU" i="1" dirty="0" smtClean="0">
                <a:solidFill>
                  <a:srgbClr val="445684"/>
                </a:solidFill>
              </a:rPr>
              <a:t>КПД, компактности и </a:t>
            </a:r>
            <a:r>
              <a:rPr lang="ru-RU" i="1" dirty="0" err="1" smtClean="0">
                <a:solidFill>
                  <a:srgbClr val="445684"/>
                </a:solidFill>
              </a:rPr>
              <a:t>экологичности</a:t>
            </a:r>
            <a:r>
              <a:rPr lang="ru-RU" i="1" dirty="0" smtClean="0">
                <a:solidFill>
                  <a:srgbClr val="445684"/>
                </a:solidFill>
              </a:rPr>
              <a:t>. Однако широкое промышленное внедрение сдерживается необходимостью прорывных решений </a:t>
            </a:r>
            <a:r>
              <a:rPr lang="ru-RU" i="1" dirty="0">
                <a:solidFill>
                  <a:srgbClr val="445684"/>
                </a:solidFill>
              </a:rPr>
              <a:t>в материаловедении и компонентах </a:t>
            </a:r>
            <a:r>
              <a:rPr lang="ru-RU" i="1" dirty="0" smtClean="0">
                <a:solidFill>
                  <a:srgbClr val="445684"/>
                </a:solidFill>
              </a:rPr>
              <a:t>- </a:t>
            </a:r>
            <a:r>
              <a:rPr lang="ru-RU" i="1" dirty="0">
                <a:solidFill>
                  <a:srgbClr val="445684"/>
                </a:solidFill>
              </a:rPr>
              <a:t>именно поэтому крупнейший на сегодняшний день проект STEP только в 2024 году достиг 4 МВт, а полная мощность 10 МВт ожидается после перехода на </a:t>
            </a:r>
            <a:r>
              <a:rPr lang="ru-RU" i="1" dirty="0" err="1">
                <a:solidFill>
                  <a:srgbClr val="445684"/>
                </a:solidFill>
              </a:rPr>
              <a:t>рекомпрессионную</a:t>
            </a:r>
            <a:r>
              <a:rPr lang="ru-RU" i="1" dirty="0">
                <a:solidFill>
                  <a:srgbClr val="445684"/>
                </a:solidFill>
              </a:rPr>
              <a:t> конфигурацию.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5314402" y="2445135"/>
            <a:ext cx="6705600" cy="2585323"/>
          </a:xfrm>
          <a:prstGeom prst="rect">
            <a:avLst/>
          </a:prstGeom>
          <a:ln w="38100">
            <a:solidFill>
              <a:srgbClr val="445684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ru-RU" u="sng" dirty="0">
                <a:solidFill>
                  <a:srgbClr val="445684"/>
                </a:solidFill>
              </a:rPr>
              <a:t>Использование sCO₂ может решить</a:t>
            </a:r>
            <a:r>
              <a:rPr lang="ru-RU" u="sng" dirty="0" smtClean="0">
                <a:solidFill>
                  <a:srgbClr val="445684"/>
                </a:solidFill>
              </a:rPr>
              <a:t>:</a:t>
            </a:r>
            <a:endParaRPr lang="ru-RU" u="sng" dirty="0">
              <a:solidFill>
                <a:srgbClr val="445684"/>
              </a:solidFill>
            </a:endParaRPr>
          </a:p>
          <a:p>
            <a:pPr marL="32400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445684"/>
                </a:solidFill>
              </a:rPr>
              <a:t>В ядерной энергетике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>
                <a:solidFill>
                  <a:srgbClr val="445684"/>
                </a:solidFill>
              </a:rPr>
              <a:t>проблему </a:t>
            </a:r>
            <a:r>
              <a:rPr lang="ru-RU" dirty="0" smtClean="0">
                <a:solidFill>
                  <a:srgbClr val="445684"/>
                </a:solidFill>
              </a:rPr>
              <a:t>безопасности, компактности, доступности.</a:t>
            </a:r>
            <a:endParaRPr lang="ru-RU" dirty="0">
              <a:solidFill>
                <a:srgbClr val="445684"/>
              </a:solidFill>
            </a:endParaRPr>
          </a:p>
          <a:p>
            <a:pPr marL="32400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445684"/>
                </a:solidFill>
              </a:rPr>
              <a:t>В солнечной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>
                <a:solidFill>
                  <a:srgbClr val="445684"/>
                </a:solidFill>
              </a:rPr>
              <a:t>поднять температуру и КПД, снизить водопотребление</a:t>
            </a:r>
            <a:r>
              <a:rPr lang="ru-RU" dirty="0" smtClean="0">
                <a:solidFill>
                  <a:srgbClr val="445684"/>
                </a:solidFill>
              </a:rPr>
              <a:t>.</a:t>
            </a:r>
            <a:endParaRPr lang="ru-RU" dirty="0">
              <a:solidFill>
                <a:srgbClr val="445684"/>
              </a:solidFill>
            </a:endParaRPr>
          </a:p>
          <a:p>
            <a:pPr marL="32400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445684"/>
                </a:solidFill>
              </a:rPr>
              <a:t>В геотермальной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>
                <a:solidFill>
                  <a:srgbClr val="445684"/>
                </a:solidFill>
              </a:rPr>
              <a:t>сделать рентабельной работу при низких температурах</a:t>
            </a:r>
            <a:r>
              <a:rPr lang="ru-RU" dirty="0" smtClean="0">
                <a:solidFill>
                  <a:srgbClr val="445684"/>
                </a:solidFill>
              </a:rPr>
              <a:t>.</a:t>
            </a:r>
            <a:endParaRPr lang="ru-RU" dirty="0">
              <a:solidFill>
                <a:srgbClr val="445684"/>
              </a:solidFill>
            </a:endParaRPr>
          </a:p>
          <a:p>
            <a:pPr marL="32400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445684"/>
                </a:solidFill>
              </a:rPr>
              <a:t>В угольной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>
                <a:solidFill>
                  <a:srgbClr val="445684"/>
                </a:solidFill>
              </a:rPr>
              <a:t>повысить КПД, снизить расход топлива и выбросы</a:t>
            </a:r>
            <a:r>
              <a:rPr lang="ru-RU" dirty="0" smtClean="0">
                <a:solidFill>
                  <a:srgbClr val="445684"/>
                </a:solidFill>
              </a:rPr>
              <a:t>.</a:t>
            </a:r>
            <a:endParaRPr lang="ru-RU" dirty="0">
              <a:solidFill>
                <a:srgbClr val="445684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401434" y="5210507"/>
            <a:ext cx="11368919" cy="923330"/>
          </a:xfrm>
          <a:prstGeom prst="rect">
            <a:avLst/>
          </a:prstGeom>
          <a:ln w="28575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sCO₂-циклы обладают высоким термодинамическим потенциалом и </a:t>
            </a:r>
            <a:r>
              <a:rPr lang="ru-RU" dirty="0" smtClean="0">
                <a:solidFill>
                  <a:srgbClr val="445684"/>
                </a:solidFill>
              </a:rPr>
              <a:t>широкой </a:t>
            </a:r>
            <a:r>
              <a:rPr lang="ru-RU" dirty="0">
                <a:solidFill>
                  <a:srgbClr val="445684"/>
                </a:solidFill>
              </a:rPr>
              <a:t>применимостью, однако их промышленное внедрение сдерживается нерешёнными материаловедческими и компонентными проблемами, а также отсутствием эксплуатационного опыта. </a:t>
            </a:r>
          </a:p>
        </p:txBody>
      </p:sp>
    </p:spTree>
    <p:extLst>
      <p:ext uri="{BB962C8B-B14F-4D97-AF65-F5344CB8AC3E}">
        <p14:creationId xmlns:p14="http://schemas.microsoft.com/office/powerpoint/2010/main" val="3624759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Актуальность применения </a:t>
            </a:r>
            <a:r>
              <a:rPr lang="en-US" dirty="0" smtClean="0">
                <a:latin typeface="+mn-lt"/>
              </a:rPr>
              <a:t>He-</a:t>
            </a:r>
            <a:r>
              <a:rPr lang="en-US" dirty="0" err="1" smtClean="0">
                <a:latin typeface="+mn-lt"/>
              </a:rPr>
              <a:t>Xe</a:t>
            </a:r>
            <a:endParaRPr lang="ru-RU" baseline="-25000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6973946" y="5746873"/>
            <a:ext cx="477932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i="0" u="sng" dirty="0" smtClean="0">
                <a:solidFill>
                  <a:srgbClr val="445684"/>
                </a:solidFill>
                <a:effectLst/>
                <a:latin typeface="Arial AMU Regular"/>
              </a:rPr>
              <a:t>Ядерная </a:t>
            </a:r>
            <a:r>
              <a:rPr lang="ru-RU" sz="1400" b="1" i="0" u="sng" dirty="0" err="1" smtClean="0">
                <a:solidFill>
                  <a:srgbClr val="445684"/>
                </a:solidFill>
                <a:effectLst/>
                <a:latin typeface="Arial AMU Regular"/>
              </a:rPr>
              <a:t>энергодвигательная</a:t>
            </a:r>
            <a:r>
              <a:rPr lang="ru-RU" sz="1400" b="1" i="0" u="sng" dirty="0" smtClean="0">
                <a:solidFill>
                  <a:srgbClr val="445684"/>
                </a:solidFill>
                <a:effectLst/>
                <a:latin typeface="Arial AMU Regular"/>
              </a:rPr>
              <a:t> установка</a:t>
            </a:r>
            <a:endParaRPr lang="ru-RU" sz="1400" b="1" u="sng" dirty="0">
              <a:solidFill>
                <a:srgbClr val="445684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62934" y="881139"/>
            <a:ext cx="1164591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i="1" dirty="0" smtClean="0">
                <a:solidFill>
                  <a:srgbClr val="445684"/>
                </a:solidFill>
              </a:rPr>
              <a:t>Смесь </a:t>
            </a:r>
            <a:r>
              <a:rPr lang="en-US" i="1" dirty="0" smtClean="0">
                <a:solidFill>
                  <a:srgbClr val="445684"/>
                </a:solidFill>
              </a:rPr>
              <a:t>He-</a:t>
            </a:r>
            <a:r>
              <a:rPr lang="en-US" i="1" dirty="0" err="1" smtClean="0">
                <a:solidFill>
                  <a:srgbClr val="445684"/>
                </a:solidFill>
              </a:rPr>
              <a:t>Xe</a:t>
            </a:r>
            <a:r>
              <a:rPr lang="en-US" i="1" dirty="0" smtClean="0">
                <a:solidFill>
                  <a:srgbClr val="445684"/>
                </a:solidFill>
              </a:rPr>
              <a:t> </a:t>
            </a:r>
            <a:r>
              <a:rPr lang="ru-RU" i="1" dirty="0" smtClean="0">
                <a:solidFill>
                  <a:srgbClr val="445684"/>
                </a:solidFill>
              </a:rPr>
              <a:t>перспективна в качестве теплоносителя при разработке мобильных и космических энергоустановок благодаря химической инертности, высокой теплопроводности и возможности работы при температурах свыше 1000 °</a:t>
            </a:r>
            <a:r>
              <a:rPr lang="en-US" i="1" dirty="0" smtClean="0">
                <a:solidFill>
                  <a:srgbClr val="445684"/>
                </a:solidFill>
              </a:rPr>
              <a:t>C</a:t>
            </a:r>
            <a:r>
              <a:rPr lang="ru-RU" i="1" dirty="0" smtClean="0">
                <a:solidFill>
                  <a:srgbClr val="445684"/>
                </a:solidFill>
              </a:rPr>
              <a:t> без фазовых переходов. Помимо этого смесь «прозрачна» для нейтронов быстрого спектра. Промышленное применение ограничивается высокими требованиями к герметичности контура, стоимостью компрессора, узкой нишей применения и конкуренцией в иных с более дешёвыми решениями, например </a:t>
            </a:r>
            <a:r>
              <a:rPr lang="en-US" i="1" dirty="0" smtClean="0">
                <a:solidFill>
                  <a:srgbClr val="445684"/>
                </a:solidFill>
              </a:rPr>
              <a:t>sCO2</a:t>
            </a:r>
            <a:r>
              <a:rPr lang="ru-RU" i="1" dirty="0" smtClean="0">
                <a:solidFill>
                  <a:srgbClr val="445684"/>
                </a:solidFill>
              </a:rPr>
              <a:t>. Установки на </a:t>
            </a:r>
            <a:r>
              <a:rPr lang="en-US" i="1" dirty="0" smtClean="0">
                <a:solidFill>
                  <a:srgbClr val="445684"/>
                </a:solidFill>
              </a:rPr>
              <a:t>He-</a:t>
            </a:r>
            <a:r>
              <a:rPr lang="en-US" i="1" dirty="0" err="1" smtClean="0">
                <a:solidFill>
                  <a:srgbClr val="445684"/>
                </a:solidFill>
              </a:rPr>
              <a:t>Xe</a:t>
            </a:r>
            <a:r>
              <a:rPr lang="ru-RU" i="1" dirty="0" smtClean="0">
                <a:solidFill>
                  <a:srgbClr val="445684"/>
                </a:solidFill>
              </a:rPr>
              <a:t> пока не вышли за рамки проектных исследований и не имеют действующих прототипов.</a:t>
            </a:r>
            <a:endParaRPr lang="ru-RU" i="1" dirty="0">
              <a:solidFill>
                <a:srgbClr val="445684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401433" y="3091204"/>
            <a:ext cx="6289652" cy="1200329"/>
          </a:xfrm>
          <a:prstGeom prst="rect">
            <a:avLst/>
          </a:prstGeom>
          <a:ln w="38100">
            <a:solidFill>
              <a:srgbClr val="445684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ru-RU" u="sng" dirty="0">
                <a:solidFill>
                  <a:srgbClr val="445684"/>
                </a:solidFill>
              </a:rPr>
              <a:t>Использование </a:t>
            </a:r>
            <a:r>
              <a:rPr lang="en-US" u="sng" dirty="0" smtClean="0">
                <a:solidFill>
                  <a:srgbClr val="445684"/>
                </a:solidFill>
              </a:rPr>
              <a:t>He-</a:t>
            </a:r>
            <a:r>
              <a:rPr lang="en-US" u="sng" dirty="0" err="1" smtClean="0">
                <a:solidFill>
                  <a:srgbClr val="445684"/>
                </a:solidFill>
              </a:rPr>
              <a:t>Xe</a:t>
            </a:r>
            <a:r>
              <a:rPr lang="ru-RU" u="sng" dirty="0" smtClean="0">
                <a:solidFill>
                  <a:srgbClr val="445684"/>
                </a:solidFill>
              </a:rPr>
              <a:t>:</a:t>
            </a:r>
            <a:endParaRPr lang="ru-RU" u="sng" dirty="0">
              <a:solidFill>
                <a:srgbClr val="445684"/>
              </a:solidFill>
            </a:endParaRPr>
          </a:p>
          <a:p>
            <a:pPr marL="32400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445684"/>
                </a:solidFill>
              </a:rPr>
              <a:t>В </a:t>
            </a:r>
            <a:r>
              <a:rPr lang="ru-RU" dirty="0" smtClean="0">
                <a:solidFill>
                  <a:srgbClr val="445684"/>
                </a:solidFill>
              </a:rPr>
              <a:t>космических станциях</a:t>
            </a:r>
          </a:p>
          <a:p>
            <a:pPr marL="32400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rgbClr val="445684"/>
                </a:solidFill>
              </a:rPr>
              <a:t>Подводных беспилотных аппаратах</a:t>
            </a:r>
          </a:p>
          <a:p>
            <a:pPr marL="32400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rgbClr val="445684"/>
                </a:solidFill>
              </a:rPr>
              <a:t>Автономных установках в отдалённых населённых пунктах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401434" y="4470273"/>
            <a:ext cx="6289651" cy="1477328"/>
          </a:xfrm>
          <a:prstGeom prst="rect">
            <a:avLst/>
          </a:prstGeom>
          <a:ln w="28575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solidFill>
                  <a:srgbClr val="445684"/>
                </a:solidFill>
              </a:rPr>
              <a:t>Циклы на смеси </a:t>
            </a:r>
            <a:r>
              <a:rPr lang="en-US" dirty="0" smtClean="0">
                <a:solidFill>
                  <a:srgbClr val="445684"/>
                </a:solidFill>
              </a:rPr>
              <a:t>He-</a:t>
            </a:r>
            <a:r>
              <a:rPr lang="en-US" dirty="0" err="1" smtClean="0">
                <a:solidFill>
                  <a:srgbClr val="445684"/>
                </a:solidFill>
              </a:rPr>
              <a:t>Xe</a:t>
            </a:r>
            <a:r>
              <a:rPr lang="ru-RU" dirty="0">
                <a:solidFill>
                  <a:srgbClr val="445684"/>
                </a:solidFill>
              </a:rPr>
              <a:t> </a:t>
            </a:r>
            <a:r>
              <a:rPr lang="ru-RU" dirty="0" smtClean="0">
                <a:solidFill>
                  <a:srgbClr val="445684"/>
                </a:solidFill>
              </a:rPr>
              <a:t>предполагается применять там, где неприемлемо увеличение веса оборудования, а также невозможно регулярное обслуживание. Промышленное применение осложнено высокой стоимостью компонент, а также отсутствием действующих прототипов.</a:t>
            </a:r>
            <a:endParaRPr lang="ru-RU" dirty="0">
              <a:solidFill>
                <a:srgbClr val="445684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735" y="3091204"/>
            <a:ext cx="4425750" cy="265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624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Ключевое преимущество СО2 – снижение работы сжатия 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406415" y="788180"/>
            <a:ext cx="837194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Вблизи критической точки фактор сжимаемости CO₂ резко падает (Z </a:t>
            </a:r>
            <a:r>
              <a:rPr lang="ru-RU" dirty="0" smtClean="0">
                <a:solidFill>
                  <a:srgbClr val="445684"/>
                </a:solidFill>
              </a:rPr>
              <a:t>= 0.2-0.3</a:t>
            </a:r>
            <a:r>
              <a:rPr lang="ru-RU" dirty="0">
                <a:solidFill>
                  <a:srgbClr val="445684"/>
                </a:solidFill>
              </a:rPr>
              <a:t>), что приводит к значительному снижению работы </a:t>
            </a:r>
            <a:r>
              <a:rPr lang="ru-RU" dirty="0" smtClean="0">
                <a:solidFill>
                  <a:srgbClr val="445684"/>
                </a:solidFill>
              </a:rPr>
              <a:t>сжатия (до 30% от мощности турбины). </a:t>
            </a:r>
            <a:endParaRPr lang="ru-RU" dirty="0">
              <a:solidFill>
                <a:srgbClr val="445684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 t="2600"/>
          <a:stretch/>
        </p:blipFill>
        <p:spPr>
          <a:xfrm>
            <a:off x="226145" y="933286"/>
            <a:ext cx="3150050" cy="2388565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66" y="3304899"/>
            <a:ext cx="3033744" cy="234300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1227" y="5565039"/>
            <a:ext cx="343988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u="sng" dirty="0" smtClean="0">
                <a:solidFill>
                  <a:srgbClr val="445684"/>
                </a:solidFill>
              </a:rPr>
              <a:t>Изменение плотности и фактора сжимаемости от температуры вблизи критической точки</a:t>
            </a:r>
            <a:endParaRPr lang="ru-RU" sz="14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5529617" y="1563654"/>
                <a:ext cx="3035284" cy="9347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445684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1" dirty="0" smtClean="0">
                          <a:solidFill>
                            <a:srgbClr val="44568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44568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solidFill>
                                <a:srgbClr val="445684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 dirty="0" smtClean="0">
                              <a:solidFill>
                                <a:srgbClr val="4456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 dirty="0" smtClean="0">
                              <a:solidFill>
                                <a:srgbClr val="445684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rgbClr val="4456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i="1" dirty="0" smtClean="0">
                              <a:solidFill>
                                <a:srgbClr val="4456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 dirty="0" smtClean="0">
                              <a:solidFill>
                                <a:srgbClr val="445684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i="1" dirty="0" smtClean="0">
                              <a:solidFill>
                                <a:srgbClr val="44568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 dirty="0" smtClean="0">
                              <a:solidFill>
                                <a:srgbClr val="445684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b="0" dirty="0" smtClean="0">
                  <a:solidFill>
                    <a:srgbClr val="445684"/>
                  </a:solidFill>
                </a:endParaRPr>
              </a:p>
              <a:p>
                <a:endParaRPr lang="en-US" dirty="0" smtClean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617" y="1563654"/>
                <a:ext cx="3035284" cy="9347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Прямоугольник 8"/>
          <p:cNvSpPr/>
          <p:nvPr/>
        </p:nvSpPr>
        <p:spPr>
          <a:xfrm>
            <a:off x="3398704" y="2280970"/>
            <a:ext cx="85939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445684"/>
                </a:solidFill>
              </a:rPr>
              <a:t>Компактность турбомашин определяется</a:t>
            </a:r>
            <a:r>
              <a:rPr lang="en-US" dirty="0" smtClean="0">
                <a:solidFill>
                  <a:srgbClr val="445684"/>
                </a:solidFill>
              </a:rPr>
              <a:t> </a:t>
            </a:r>
            <a:r>
              <a:rPr lang="ru-RU" dirty="0" smtClean="0">
                <a:solidFill>
                  <a:srgbClr val="445684"/>
                </a:solidFill>
              </a:rPr>
              <a:t>объемным расходом на входе. По сравнению с паром (3.3-75*</a:t>
            </a:r>
            <a:r>
              <a:rPr lang="ru-RU" dirty="0">
                <a:solidFill>
                  <a:srgbClr val="445684"/>
                </a:solidFill>
              </a:rPr>
              <a:t> кг/м</a:t>
            </a:r>
            <a:r>
              <a:rPr lang="ru-RU" baseline="30000" dirty="0">
                <a:solidFill>
                  <a:srgbClr val="445684"/>
                </a:solidFill>
              </a:rPr>
              <a:t>3</a:t>
            </a:r>
            <a:r>
              <a:rPr lang="ru-RU" dirty="0" smtClean="0">
                <a:solidFill>
                  <a:srgbClr val="445684"/>
                </a:solidFill>
              </a:rPr>
              <a:t>) и гелием (1.3-1.6 кг/м</a:t>
            </a:r>
            <a:r>
              <a:rPr lang="ru-RU" baseline="30000" dirty="0" smtClean="0">
                <a:solidFill>
                  <a:srgbClr val="445684"/>
                </a:solidFill>
              </a:rPr>
              <a:t>3</a:t>
            </a:r>
            <a:r>
              <a:rPr lang="ru-RU" dirty="0" smtClean="0">
                <a:solidFill>
                  <a:srgbClr val="445684"/>
                </a:solidFill>
              </a:rPr>
              <a:t>), </a:t>
            </a:r>
            <a:r>
              <a:rPr lang="en-US" dirty="0" smtClean="0">
                <a:solidFill>
                  <a:srgbClr val="445684"/>
                </a:solidFill>
              </a:rPr>
              <a:t>s-</a:t>
            </a:r>
            <a:r>
              <a:rPr lang="ru-RU" dirty="0" smtClean="0">
                <a:solidFill>
                  <a:srgbClr val="445684"/>
                </a:solidFill>
              </a:rPr>
              <a:t>СО</a:t>
            </a:r>
            <a:r>
              <a:rPr lang="ru-RU" baseline="-25000" dirty="0" smtClean="0">
                <a:solidFill>
                  <a:srgbClr val="445684"/>
                </a:solidFill>
              </a:rPr>
              <a:t>2</a:t>
            </a:r>
            <a:r>
              <a:rPr lang="ru-RU" dirty="0" smtClean="0">
                <a:solidFill>
                  <a:srgbClr val="445684"/>
                </a:solidFill>
              </a:rPr>
              <a:t> имеет плотность на входе в турбину </a:t>
            </a:r>
            <a:r>
              <a:rPr lang="en-US" dirty="0" smtClean="0">
                <a:solidFill>
                  <a:srgbClr val="445684"/>
                </a:solidFill>
              </a:rPr>
              <a:t>~ 80-100 </a:t>
            </a:r>
            <a:r>
              <a:rPr lang="ru-RU" dirty="0" smtClean="0">
                <a:solidFill>
                  <a:srgbClr val="445684"/>
                </a:solidFill>
              </a:rPr>
              <a:t>кг/м</a:t>
            </a:r>
            <a:r>
              <a:rPr lang="ru-RU" baseline="30000" dirty="0" smtClean="0">
                <a:solidFill>
                  <a:srgbClr val="445684"/>
                </a:solidFill>
              </a:rPr>
              <a:t>3</a:t>
            </a:r>
            <a:r>
              <a:rPr lang="en-US" baseline="30000" dirty="0" smtClean="0">
                <a:solidFill>
                  <a:srgbClr val="445684"/>
                </a:solidFill>
              </a:rPr>
              <a:t> </a:t>
            </a:r>
            <a:r>
              <a:rPr lang="en-US" dirty="0" smtClean="0">
                <a:solidFill>
                  <a:srgbClr val="445684"/>
                </a:solidFill>
              </a:rPr>
              <a:t> (</a:t>
            </a:r>
            <a:r>
              <a:rPr lang="ru-RU" dirty="0">
                <a:solidFill>
                  <a:srgbClr val="445684"/>
                </a:solidFill>
              </a:rPr>
              <a:t>при </a:t>
            </a:r>
            <a:r>
              <a:rPr lang="ru-RU" dirty="0" smtClean="0">
                <a:solidFill>
                  <a:srgbClr val="445684"/>
                </a:solidFill>
              </a:rPr>
              <a:t>давлении </a:t>
            </a:r>
            <a:r>
              <a:rPr lang="ru-RU" dirty="0">
                <a:solidFill>
                  <a:srgbClr val="445684"/>
                </a:solidFill>
              </a:rPr>
              <a:t>~20 МПа, </a:t>
            </a:r>
            <a:r>
              <a:rPr lang="ru-RU" dirty="0" smtClean="0">
                <a:solidFill>
                  <a:srgbClr val="445684"/>
                </a:solidFill>
              </a:rPr>
              <a:t>температуре </a:t>
            </a:r>
            <a:r>
              <a:rPr lang="ru-RU" dirty="0">
                <a:solidFill>
                  <a:srgbClr val="445684"/>
                </a:solidFill>
              </a:rPr>
              <a:t>~550°C</a:t>
            </a:r>
            <a:r>
              <a:rPr lang="en-US" dirty="0" smtClean="0">
                <a:solidFill>
                  <a:srgbClr val="445684"/>
                </a:solidFill>
              </a:rPr>
              <a:t>)</a:t>
            </a:r>
            <a:r>
              <a:rPr lang="en-US" baseline="30000" dirty="0" smtClean="0">
                <a:solidFill>
                  <a:srgbClr val="445684"/>
                </a:solidFill>
              </a:rPr>
              <a:t>   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3406415" y="3190288"/>
            <a:ext cx="85720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Температура на входе в компрессор должна поддерживаться немного выше критической, чтобы избежать двухфазного течения. Работа ниже критической точки приводит к образованию капель жидкости, что </a:t>
            </a:r>
            <a:r>
              <a:rPr lang="ru-RU" dirty="0" smtClean="0">
                <a:solidFill>
                  <a:srgbClr val="445684"/>
                </a:solidFill>
              </a:rPr>
              <a:t>вызывает </a:t>
            </a:r>
            <a:r>
              <a:rPr lang="ru-RU" dirty="0">
                <a:solidFill>
                  <a:srgbClr val="445684"/>
                </a:solidFill>
              </a:rPr>
              <a:t>эрозию и падение производительности. Оптимум составляет </a:t>
            </a:r>
            <a:r>
              <a:rPr lang="ru-RU" dirty="0" smtClean="0">
                <a:solidFill>
                  <a:srgbClr val="445684"/>
                </a:solidFill>
              </a:rPr>
              <a:t>2-5°C </a:t>
            </a:r>
            <a:r>
              <a:rPr lang="ru-RU" dirty="0">
                <a:solidFill>
                  <a:srgbClr val="445684"/>
                </a:solidFill>
              </a:rPr>
              <a:t>выше критической точки.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3505872" y="4469997"/>
            <a:ext cx="8379660" cy="1754326"/>
          </a:xfrm>
          <a:prstGeom prst="rect">
            <a:avLst/>
          </a:prstGeom>
          <a:ln w="28575">
            <a:solidFill>
              <a:srgbClr val="70AD47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Основное преимущество sCO₂-цикла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>
                <a:solidFill>
                  <a:srgbClr val="445684"/>
                </a:solidFill>
              </a:rPr>
              <a:t>выигрыш на двух эффектах: малая работа сжатия </a:t>
            </a:r>
            <a:r>
              <a:rPr lang="ru-RU" dirty="0" smtClean="0">
                <a:solidFill>
                  <a:srgbClr val="445684"/>
                </a:solidFill>
              </a:rPr>
              <a:t>и </a:t>
            </a:r>
            <a:r>
              <a:rPr lang="ru-RU" dirty="0">
                <a:solidFill>
                  <a:srgbClr val="445684"/>
                </a:solidFill>
              </a:rPr>
              <a:t>высокая удельная работа на </a:t>
            </a:r>
            <a:r>
              <a:rPr lang="ru-RU" dirty="0" smtClean="0">
                <a:solidFill>
                  <a:srgbClr val="445684"/>
                </a:solidFill>
              </a:rPr>
              <a:t>расширении. Сравнение </a:t>
            </a:r>
            <a:r>
              <a:rPr lang="ru-RU" dirty="0">
                <a:solidFill>
                  <a:srgbClr val="445684"/>
                </a:solidFill>
              </a:rPr>
              <a:t>турбин одинаковой мощности (по данным </a:t>
            </a:r>
            <a:r>
              <a:rPr lang="ru-RU" dirty="0" err="1">
                <a:solidFill>
                  <a:srgbClr val="445684"/>
                </a:solidFill>
              </a:rPr>
              <a:t>Dostal</a:t>
            </a:r>
            <a:r>
              <a:rPr lang="ru-RU" dirty="0">
                <a:solidFill>
                  <a:srgbClr val="445684"/>
                </a:solidFill>
              </a:rPr>
              <a:t>, 2004) </a:t>
            </a:r>
            <a:r>
              <a:rPr lang="ru-RU" dirty="0" smtClean="0">
                <a:solidFill>
                  <a:srgbClr val="445684"/>
                </a:solidFill>
              </a:rPr>
              <a:t>показывает: sCO</a:t>
            </a:r>
            <a:r>
              <a:rPr lang="ru-RU" dirty="0">
                <a:solidFill>
                  <a:srgbClr val="445684"/>
                </a:solidFill>
              </a:rPr>
              <a:t>₂ турбина: 450 МВт </a:t>
            </a:r>
            <a:r>
              <a:rPr lang="ru-RU" dirty="0" smtClean="0">
                <a:solidFill>
                  <a:srgbClr val="445684"/>
                </a:solidFill>
              </a:rPr>
              <a:t>- 4 </a:t>
            </a:r>
            <a:r>
              <a:rPr lang="ru-RU" dirty="0">
                <a:solidFill>
                  <a:srgbClr val="445684"/>
                </a:solidFill>
              </a:rPr>
              <a:t>ступени </a:t>
            </a:r>
            <a:r>
              <a:rPr lang="ru-RU" dirty="0" smtClean="0">
                <a:solidFill>
                  <a:srgbClr val="445684"/>
                </a:solidFill>
              </a:rPr>
              <a:t>. Паровая </a:t>
            </a:r>
            <a:r>
              <a:rPr lang="ru-RU" dirty="0">
                <a:solidFill>
                  <a:srgbClr val="445684"/>
                </a:solidFill>
              </a:rPr>
              <a:t>турбина: 250 МВт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>
                <a:solidFill>
                  <a:srgbClr val="445684"/>
                </a:solidFill>
              </a:rPr>
              <a:t>55 ступеней </a:t>
            </a:r>
            <a:r>
              <a:rPr lang="ru-RU" dirty="0" smtClean="0">
                <a:solidFill>
                  <a:srgbClr val="445684"/>
                </a:solidFill>
              </a:rPr>
              <a:t>.Разница </a:t>
            </a:r>
            <a:r>
              <a:rPr lang="ru-RU" dirty="0">
                <a:solidFill>
                  <a:srgbClr val="445684"/>
                </a:solidFill>
              </a:rPr>
              <a:t>в размерах: sCO₂-турбина может быть в </a:t>
            </a:r>
            <a:r>
              <a:rPr lang="ru-RU" dirty="0" smtClean="0">
                <a:solidFill>
                  <a:srgbClr val="445684"/>
                </a:solidFill>
              </a:rPr>
              <a:t>10-30 </a:t>
            </a:r>
            <a:r>
              <a:rPr lang="ru-RU" dirty="0">
                <a:solidFill>
                  <a:srgbClr val="445684"/>
                </a:solidFill>
              </a:rPr>
              <a:t>раз компактнее паровой, а в ряде проектов </a:t>
            </a:r>
            <a:r>
              <a:rPr lang="ru-RU" dirty="0" smtClean="0">
                <a:solidFill>
                  <a:srgbClr val="445684"/>
                </a:solidFill>
              </a:rPr>
              <a:t>(STEP</a:t>
            </a:r>
            <a:r>
              <a:rPr lang="ru-RU" dirty="0">
                <a:solidFill>
                  <a:srgbClr val="445684"/>
                </a:solidFill>
              </a:rPr>
              <a:t>)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>
                <a:solidFill>
                  <a:srgbClr val="445684"/>
                </a:solidFill>
              </a:rPr>
              <a:t>в 20 раз меньше по </a:t>
            </a:r>
            <a:r>
              <a:rPr lang="ru-RU" dirty="0" smtClean="0">
                <a:solidFill>
                  <a:srgbClr val="445684"/>
                </a:solidFill>
              </a:rPr>
              <a:t>длине.</a:t>
            </a:r>
            <a:endParaRPr lang="ru-RU" dirty="0">
              <a:solidFill>
                <a:srgbClr val="445684"/>
              </a:solidFill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1572750" y="6404679"/>
            <a:ext cx="44645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>
                <a:solidFill>
                  <a:srgbClr val="445684"/>
                </a:solidFill>
              </a:rPr>
              <a:t>* </a:t>
            </a:r>
            <a:r>
              <a:rPr lang="ru-RU" sz="1400" dirty="0" smtClean="0">
                <a:solidFill>
                  <a:srgbClr val="445684"/>
                </a:solidFill>
              </a:rPr>
              <a:t>- Для </a:t>
            </a:r>
            <a:r>
              <a:rPr lang="ru-RU" sz="1400" dirty="0">
                <a:solidFill>
                  <a:srgbClr val="445684"/>
                </a:solidFill>
              </a:rPr>
              <a:t>мощных энергетических турбин: 540°C, 23.5 МПа</a:t>
            </a:r>
            <a:endParaRPr lang="ru-RU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1683935" y="2710876"/>
            <a:ext cx="5829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b="1" dirty="0" smtClean="0">
                <a:solidFill>
                  <a:srgbClr val="C00000"/>
                </a:solidFill>
              </a:rPr>
              <a:t>крит.т</a:t>
            </a:r>
            <a:endParaRPr lang="ru-RU" sz="1200" b="1" dirty="0">
              <a:solidFill>
                <a:srgbClr val="C00000"/>
              </a:solidFill>
            </a:endParaRPr>
          </a:p>
        </p:txBody>
      </p:sp>
      <p:cxnSp>
        <p:nvCxnSpPr>
          <p:cNvPr id="24" name="Прямая со стрелкой 23"/>
          <p:cNvCxnSpPr>
            <a:stCxn id="22" idx="1"/>
          </p:cNvCxnSpPr>
          <p:nvPr/>
        </p:nvCxnSpPr>
        <p:spPr>
          <a:xfrm flipH="1" flipV="1">
            <a:off x="1210491" y="2756672"/>
            <a:ext cx="473444" cy="9270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138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Ключевой недостаток – удорожание рекуператоров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11667" y="948409"/>
            <a:ext cx="11441688" cy="1200329"/>
          </a:xfrm>
          <a:prstGeom prst="rect">
            <a:avLst/>
          </a:prstGeom>
          <a:ln w="28575">
            <a:solidFill>
              <a:srgbClr val="C0000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ru-RU" i="1" dirty="0" smtClean="0">
                <a:solidFill>
                  <a:srgbClr val="445684"/>
                </a:solidFill>
              </a:rPr>
              <a:t>Проблема использования СО</a:t>
            </a:r>
            <a:r>
              <a:rPr lang="ru-RU" i="1" baseline="-25000" dirty="0" smtClean="0">
                <a:solidFill>
                  <a:srgbClr val="445684"/>
                </a:solidFill>
              </a:rPr>
              <a:t>2</a:t>
            </a:r>
            <a:r>
              <a:rPr lang="ru-RU" i="1" dirty="0" smtClean="0">
                <a:solidFill>
                  <a:srgbClr val="445684"/>
                </a:solidFill>
              </a:rPr>
              <a:t>: </a:t>
            </a:r>
            <a:r>
              <a:rPr lang="ru-RU" i="1" dirty="0">
                <a:solidFill>
                  <a:srgbClr val="445684"/>
                </a:solidFill>
              </a:rPr>
              <a:t>Аномальное поведение CO₂ вблизи критической точки </a:t>
            </a:r>
            <a:r>
              <a:rPr lang="ru-RU" i="1" dirty="0" smtClean="0">
                <a:solidFill>
                  <a:srgbClr val="445684"/>
                </a:solidFill>
              </a:rPr>
              <a:t>и существенное различие теплоемкости горячего и холодного потоков вызывает появление «точки </a:t>
            </a:r>
            <a:r>
              <a:rPr lang="ru-RU" i="1" dirty="0" err="1" smtClean="0">
                <a:solidFill>
                  <a:srgbClr val="445684"/>
                </a:solidFill>
              </a:rPr>
              <a:t>пинча</a:t>
            </a:r>
            <a:r>
              <a:rPr lang="ru-RU" i="1" dirty="0" smtClean="0">
                <a:solidFill>
                  <a:srgbClr val="445684"/>
                </a:solidFill>
              </a:rPr>
              <a:t>» внутри аппарата, из-за этого требуемая площадь экспоненциально возрастает. Стоимость теплообменников может превышать более 50% от всей системы.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360801" y="2228065"/>
            <a:ext cx="770708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Для решения данной проблемы используют </a:t>
            </a:r>
            <a:r>
              <a:rPr lang="ru-RU" u="sng" dirty="0">
                <a:solidFill>
                  <a:srgbClr val="445684"/>
                </a:solidFill>
              </a:rPr>
              <a:t>схемы с </a:t>
            </a:r>
            <a:r>
              <a:rPr lang="ru-RU" u="sng" dirty="0" err="1" smtClean="0">
                <a:solidFill>
                  <a:srgbClr val="445684"/>
                </a:solidFill>
              </a:rPr>
              <a:t>рекомпрессией</a:t>
            </a:r>
            <a:r>
              <a:rPr lang="ru-RU" u="sng" dirty="0" smtClean="0">
                <a:solidFill>
                  <a:srgbClr val="445684"/>
                </a:solidFill>
              </a:rPr>
              <a:t> </a:t>
            </a:r>
            <a:r>
              <a:rPr lang="ru-RU" dirty="0" smtClean="0">
                <a:solidFill>
                  <a:srgbClr val="445684"/>
                </a:solidFill>
              </a:rPr>
              <a:t>или промежуточным нагревом </a:t>
            </a:r>
            <a:r>
              <a:rPr lang="ru-RU" dirty="0">
                <a:solidFill>
                  <a:srgbClr val="445684"/>
                </a:solidFill>
              </a:rPr>
              <a:t>для уравнивания теплоемкостей и печатные микроканальные теплообменники для увеличения компактности (от 3 до 8 раз в сравнении с </a:t>
            </a:r>
            <a:r>
              <a:rPr lang="ru-RU" dirty="0" err="1">
                <a:solidFill>
                  <a:srgbClr val="445684"/>
                </a:solidFill>
              </a:rPr>
              <a:t>кожухотрубными</a:t>
            </a:r>
            <a:r>
              <a:rPr lang="ru-RU" dirty="0">
                <a:solidFill>
                  <a:srgbClr val="445684"/>
                </a:solidFill>
              </a:rPr>
              <a:t>).Такие теплообменники способны выдерживать до 65 </a:t>
            </a:r>
            <a:r>
              <a:rPr lang="ru-RU" dirty="0" smtClean="0">
                <a:solidFill>
                  <a:srgbClr val="445684"/>
                </a:solidFill>
              </a:rPr>
              <a:t>МПа. Однако </a:t>
            </a:r>
            <a:r>
              <a:rPr lang="ru-RU" dirty="0">
                <a:solidFill>
                  <a:srgbClr val="445684"/>
                </a:solidFill>
              </a:rPr>
              <a:t>для </a:t>
            </a:r>
            <a:r>
              <a:rPr lang="en-US" dirty="0">
                <a:solidFill>
                  <a:srgbClr val="445684"/>
                </a:solidFill>
              </a:rPr>
              <a:t>PCHE </a:t>
            </a:r>
            <a:r>
              <a:rPr lang="ru-RU" dirty="0">
                <a:solidFill>
                  <a:srgbClr val="445684"/>
                </a:solidFill>
              </a:rPr>
              <a:t>требуется оптимизация каналов, вследствие увеличения гидравлического </a:t>
            </a:r>
            <a:r>
              <a:rPr lang="ru-RU" dirty="0" smtClean="0">
                <a:solidFill>
                  <a:srgbClr val="445684"/>
                </a:solidFill>
              </a:rPr>
              <a:t>сопротивления. </a:t>
            </a:r>
            <a:endParaRPr lang="ru-RU" dirty="0">
              <a:solidFill>
                <a:srgbClr val="445684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"/>
          <a:srcRect t="9842"/>
          <a:stretch/>
        </p:blipFill>
        <p:spPr>
          <a:xfrm>
            <a:off x="407842" y="2252227"/>
            <a:ext cx="3807142" cy="1809491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471638" y="3924097"/>
            <a:ext cx="34398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u="sng" dirty="0" smtClean="0">
                <a:solidFill>
                  <a:srgbClr val="445684"/>
                </a:solidFill>
              </a:rPr>
              <a:t>а) принципиальная схема </a:t>
            </a:r>
            <a:r>
              <a:rPr lang="en-US" sz="1400" b="1" u="sng" dirty="0" smtClean="0">
                <a:solidFill>
                  <a:srgbClr val="445684"/>
                </a:solidFill>
              </a:rPr>
              <a:t>PCHE b</a:t>
            </a:r>
            <a:r>
              <a:rPr lang="ru-RU" sz="1400" b="1" u="sng" dirty="0" smtClean="0">
                <a:solidFill>
                  <a:srgbClr val="445684"/>
                </a:solidFill>
              </a:rPr>
              <a:t>) форма канала </a:t>
            </a:r>
            <a:r>
              <a:rPr lang="en-US" sz="1400" b="1" u="sng" dirty="0" smtClean="0">
                <a:solidFill>
                  <a:srgbClr val="445684"/>
                </a:solidFill>
              </a:rPr>
              <a:t>c</a:t>
            </a:r>
            <a:r>
              <a:rPr lang="ru-RU" sz="1400" b="1" u="sng" dirty="0" smtClean="0">
                <a:solidFill>
                  <a:srgbClr val="445684"/>
                </a:solidFill>
              </a:rPr>
              <a:t>) направление тока</a:t>
            </a:r>
            <a:endParaRPr lang="ru-RU" sz="1400" b="1" u="sng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 rotWithShape="1">
          <a:blip r:embed="rId3"/>
          <a:srcRect l="9959" r="3299"/>
          <a:stretch/>
        </p:blipFill>
        <p:spPr>
          <a:xfrm>
            <a:off x="168175" y="4351888"/>
            <a:ext cx="4046809" cy="1820318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4360801" y="4061718"/>
            <a:ext cx="749255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PCHE также эффективны в качестве утилизаторов тепла для внешнего потребителя и охладителей. Подтверждена работа с водой, жидким натрием, маслами и газами. Например, в конфигурации sCO</a:t>
            </a:r>
            <a:r>
              <a:rPr lang="ru-RU" dirty="0" smtClean="0">
                <a:solidFill>
                  <a:srgbClr val="445684"/>
                </a:solidFill>
              </a:rPr>
              <a:t>₂-H</a:t>
            </a:r>
            <a:r>
              <a:rPr lang="ru-RU" dirty="0">
                <a:solidFill>
                  <a:srgbClr val="445684"/>
                </a:solidFill>
              </a:rPr>
              <a:t>₂O </a:t>
            </a:r>
            <a:r>
              <a:rPr lang="ru-RU" dirty="0" smtClean="0">
                <a:solidFill>
                  <a:srgbClr val="445684"/>
                </a:solidFill>
              </a:rPr>
              <a:t>рассматриваются проекты мощностью </a:t>
            </a:r>
            <a:r>
              <a:rPr lang="ru-RU" dirty="0">
                <a:solidFill>
                  <a:srgbClr val="445684"/>
                </a:solidFill>
              </a:rPr>
              <a:t>до </a:t>
            </a:r>
            <a:r>
              <a:rPr lang="ru-RU" dirty="0" smtClean="0">
                <a:solidFill>
                  <a:srgbClr val="445684"/>
                </a:solidFill>
              </a:rPr>
              <a:t>510 кВт, а экспериментально подтверждены прототипы на </a:t>
            </a:r>
            <a:r>
              <a:rPr lang="en-US" dirty="0" smtClean="0">
                <a:solidFill>
                  <a:srgbClr val="445684"/>
                </a:solidFill>
              </a:rPr>
              <a:t>~54-200</a:t>
            </a:r>
            <a:r>
              <a:rPr lang="ru-RU" dirty="0" smtClean="0">
                <a:solidFill>
                  <a:srgbClr val="445684"/>
                </a:solidFill>
              </a:rPr>
              <a:t> кВт.</a:t>
            </a:r>
            <a:endParaRPr lang="ru-RU" dirty="0">
              <a:solidFill>
                <a:srgbClr val="445684"/>
              </a:solidFill>
            </a:endParaRPr>
          </a:p>
        </p:txBody>
      </p:sp>
      <p:sp>
        <p:nvSpPr>
          <p:cNvPr id="15" name="Стрелка вправо 14"/>
          <p:cNvSpPr/>
          <p:nvPr/>
        </p:nvSpPr>
        <p:spPr>
          <a:xfrm rot="9981596">
            <a:off x="2891679" y="4835249"/>
            <a:ext cx="1538636" cy="3744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38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1638" y="100453"/>
            <a:ext cx="10641530" cy="480131"/>
          </a:xfrm>
        </p:spPr>
        <p:txBody>
          <a:bodyPr/>
          <a:lstStyle/>
          <a:p>
            <a:r>
              <a:rPr lang="ru-RU" dirty="0">
                <a:latin typeface="+mn-lt"/>
              </a:rPr>
              <a:t> Материалы и деградация в sCO₂-</a:t>
            </a:r>
            <a:r>
              <a:rPr lang="ru-RU" dirty="0" smtClean="0">
                <a:latin typeface="+mn-lt"/>
              </a:rPr>
              <a:t>цикле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83" y="3273038"/>
            <a:ext cx="4194602" cy="243243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010" y="3404786"/>
            <a:ext cx="2645834" cy="2143125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4711266" y="5611469"/>
            <a:ext cx="23925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u="sng" dirty="0" smtClean="0">
                <a:solidFill>
                  <a:srgbClr val="445684"/>
                </a:solidFill>
              </a:rPr>
              <a:t>Компонент из сплава</a:t>
            </a:r>
            <a:r>
              <a:rPr lang="en-US" sz="1400" b="1" u="sng" dirty="0" smtClean="0">
                <a:solidFill>
                  <a:srgbClr val="445684"/>
                </a:solidFill>
              </a:rPr>
              <a:t> Hayne</a:t>
            </a:r>
            <a:r>
              <a:rPr lang="ru-RU" sz="1400" b="1" u="sng" dirty="0" smtClean="0">
                <a:solidFill>
                  <a:srgbClr val="445684"/>
                </a:solidFill>
              </a:rPr>
              <a:t> </a:t>
            </a:r>
            <a:endParaRPr lang="ru-RU" sz="1400" b="1" u="sng" dirty="0">
              <a:solidFill>
                <a:srgbClr val="445684"/>
              </a:solidFill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379240" y="926519"/>
            <a:ext cx="1147171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>
                <a:solidFill>
                  <a:srgbClr val="445684"/>
                </a:solidFill>
              </a:rPr>
              <a:t>Ресурс и надёжность энергетической установки на основе </a:t>
            </a:r>
            <a:r>
              <a:rPr lang="ru-RU" i="1" dirty="0" smtClean="0">
                <a:solidFill>
                  <a:srgbClr val="445684"/>
                </a:solidFill>
              </a:rPr>
              <a:t>sCO₂ </a:t>
            </a:r>
            <a:r>
              <a:rPr lang="ru-RU" i="1" dirty="0">
                <a:solidFill>
                  <a:srgbClr val="445684"/>
                </a:solidFill>
              </a:rPr>
              <a:t>определяются стойкостью конструкционных материалов к комплексу </a:t>
            </a:r>
            <a:r>
              <a:rPr lang="ru-RU" i="1" dirty="0" err="1">
                <a:solidFill>
                  <a:srgbClr val="445684"/>
                </a:solidFill>
              </a:rPr>
              <a:t>деградационных</a:t>
            </a:r>
            <a:r>
              <a:rPr lang="ru-RU" i="1" dirty="0">
                <a:solidFill>
                  <a:srgbClr val="445684"/>
                </a:solidFill>
              </a:rPr>
              <a:t> процессов, развивающихся в условиях высоких температур (до </a:t>
            </a:r>
            <a:r>
              <a:rPr lang="ru-RU" i="1" dirty="0" smtClean="0">
                <a:solidFill>
                  <a:srgbClr val="445684"/>
                </a:solidFill>
              </a:rPr>
              <a:t>800°C</a:t>
            </a:r>
            <a:r>
              <a:rPr lang="ru-RU" i="1" dirty="0">
                <a:solidFill>
                  <a:srgbClr val="445684"/>
                </a:solidFill>
              </a:rPr>
              <a:t>) и давлений (до 30 МПа). В среде sCO₂ реализуются взаимосвязанные механизмы разрушения: высокотемпературное окисление, </a:t>
            </a:r>
            <a:r>
              <a:rPr lang="ru-RU" i="1" dirty="0" err="1">
                <a:solidFill>
                  <a:srgbClr val="445684"/>
                </a:solidFill>
              </a:rPr>
              <a:t>карбюризация</a:t>
            </a:r>
            <a:r>
              <a:rPr lang="ru-RU" i="1" dirty="0">
                <a:solidFill>
                  <a:srgbClr val="445684"/>
                </a:solidFill>
              </a:rPr>
              <a:t>, эрозия, термическая усталость и ползучесть. Ключевым фактором, лимитирующим ресурс, является </a:t>
            </a:r>
            <a:r>
              <a:rPr lang="ru-RU" i="1" dirty="0" err="1">
                <a:solidFill>
                  <a:srgbClr val="445684"/>
                </a:solidFill>
              </a:rPr>
              <a:t>карбюризация</a:t>
            </a:r>
            <a:r>
              <a:rPr lang="ru-RU" i="1" dirty="0">
                <a:solidFill>
                  <a:srgbClr val="445684"/>
                </a:solidFill>
              </a:rPr>
              <a:t> </a:t>
            </a:r>
            <a:r>
              <a:rPr lang="ru-RU" i="1" dirty="0" smtClean="0">
                <a:solidFill>
                  <a:srgbClr val="445684"/>
                </a:solidFill>
              </a:rPr>
              <a:t>- </a:t>
            </a:r>
            <a:r>
              <a:rPr lang="ru-RU" i="1" dirty="0">
                <a:solidFill>
                  <a:srgbClr val="445684"/>
                </a:solidFill>
              </a:rPr>
              <a:t>диффузия углерода из рабочего тела в металл с образованием карбидных фаз по границам зёрен, приводящая к </a:t>
            </a:r>
            <a:r>
              <a:rPr lang="ru-RU" i="1" dirty="0" err="1">
                <a:solidFill>
                  <a:srgbClr val="445684"/>
                </a:solidFill>
              </a:rPr>
              <a:t>охрупчиванию</a:t>
            </a:r>
            <a:r>
              <a:rPr lang="ru-RU" i="1" dirty="0">
                <a:solidFill>
                  <a:srgbClr val="445684"/>
                </a:solidFill>
              </a:rPr>
              <a:t> и снижению пластичности.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428624" y="2698485"/>
            <a:ext cx="114397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Основным конструкционным решением для горячего тракта (T &gt; 650°C) является применение γ'-упрочнённых никелевых </a:t>
            </a:r>
            <a:r>
              <a:rPr lang="ru-RU" dirty="0" err="1">
                <a:solidFill>
                  <a:srgbClr val="445684"/>
                </a:solidFill>
              </a:rPr>
              <a:t>суперсплавов</a:t>
            </a:r>
            <a:r>
              <a:rPr lang="ru-RU" dirty="0">
                <a:solidFill>
                  <a:srgbClr val="445684"/>
                </a:solidFill>
              </a:rPr>
              <a:t>. 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7248744" y="3467438"/>
            <a:ext cx="4619623" cy="1754326"/>
          </a:xfrm>
          <a:prstGeom prst="rect">
            <a:avLst/>
          </a:prstGeom>
          <a:ln w="28575">
            <a:solidFill>
              <a:srgbClr val="70AD47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Для турбины рекомендованы сплавы </a:t>
            </a:r>
            <a:r>
              <a:rPr lang="ru-RU" dirty="0" err="1">
                <a:solidFill>
                  <a:srgbClr val="445684"/>
                </a:solidFill>
              </a:rPr>
              <a:t>Haynes</a:t>
            </a:r>
            <a:r>
              <a:rPr lang="ru-RU" dirty="0">
                <a:solidFill>
                  <a:srgbClr val="445684"/>
                </a:solidFill>
              </a:rPr>
              <a:t> 282 и </a:t>
            </a:r>
            <a:r>
              <a:rPr lang="ru-RU" dirty="0" err="1">
                <a:solidFill>
                  <a:srgbClr val="445684"/>
                </a:solidFill>
              </a:rPr>
              <a:t>Inconel</a:t>
            </a:r>
            <a:r>
              <a:rPr lang="ru-RU" dirty="0">
                <a:solidFill>
                  <a:srgbClr val="445684"/>
                </a:solidFill>
              </a:rPr>
              <a:t> 740H; для </a:t>
            </a:r>
            <a:r>
              <a:rPr lang="ru-RU" dirty="0" smtClean="0">
                <a:solidFill>
                  <a:srgbClr val="445684"/>
                </a:solidFill>
              </a:rPr>
              <a:t>ВТО - </a:t>
            </a:r>
            <a:r>
              <a:rPr lang="ru-RU" dirty="0" err="1">
                <a:solidFill>
                  <a:srgbClr val="445684"/>
                </a:solidFill>
              </a:rPr>
              <a:t>Haynes</a:t>
            </a:r>
            <a:r>
              <a:rPr lang="ru-RU" dirty="0">
                <a:solidFill>
                  <a:srgbClr val="445684"/>
                </a:solidFill>
              </a:rPr>
              <a:t> </a:t>
            </a:r>
            <a:r>
              <a:rPr lang="ru-RU" dirty="0" smtClean="0">
                <a:solidFill>
                  <a:srgbClr val="445684"/>
                </a:solidFill>
              </a:rPr>
              <a:t>230, </a:t>
            </a:r>
            <a:r>
              <a:rPr lang="ru-RU" dirty="0" err="1" smtClean="0">
                <a:solidFill>
                  <a:srgbClr val="445684"/>
                </a:solidFill>
              </a:rPr>
              <a:t>Inconel</a:t>
            </a:r>
            <a:r>
              <a:rPr lang="ru-RU" dirty="0" smtClean="0">
                <a:solidFill>
                  <a:srgbClr val="445684"/>
                </a:solidFill>
              </a:rPr>
              <a:t> </a:t>
            </a:r>
            <a:r>
              <a:rPr lang="ru-RU" dirty="0">
                <a:solidFill>
                  <a:srgbClr val="445684"/>
                </a:solidFill>
              </a:rPr>
              <a:t>617 (выбор определяется тепловым </a:t>
            </a:r>
            <a:r>
              <a:rPr lang="ru-RU" dirty="0" smtClean="0">
                <a:solidFill>
                  <a:srgbClr val="445684"/>
                </a:solidFill>
              </a:rPr>
              <a:t>потоком</a:t>
            </a:r>
            <a:r>
              <a:rPr lang="ru-RU" dirty="0">
                <a:solidFill>
                  <a:srgbClr val="445684"/>
                </a:solidFill>
              </a:rPr>
              <a:t>)</a:t>
            </a:r>
            <a:r>
              <a:rPr lang="ru-RU" dirty="0" smtClean="0">
                <a:solidFill>
                  <a:srgbClr val="445684"/>
                </a:solidFill>
              </a:rPr>
              <a:t>. </a:t>
            </a:r>
            <a:r>
              <a:rPr lang="ru-RU" dirty="0">
                <a:solidFill>
                  <a:srgbClr val="445684"/>
                </a:solidFill>
              </a:rPr>
              <a:t>Для низкотемпературных зон (≤650°C) допускается применение </a:t>
            </a:r>
            <a:r>
              <a:rPr lang="ru-RU" dirty="0" err="1">
                <a:solidFill>
                  <a:srgbClr val="445684"/>
                </a:solidFill>
              </a:rPr>
              <a:t>аустенитных</a:t>
            </a:r>
            <a:r>
              <a:rPr lang="ru-RU" dirty="0">
                <a:solidFill>
                  <a:srgbClr val="445684"/>
                </a:solidFill>
              </a:rPr>
              <a:t> сталей SS 347H и SS 253 MA.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47520" y="5705475"/>
            <a:ext cx="30720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u="sng" dirty="0" smtClean="0">
                <a:solidFill>
                  <a:srgbClr val="445684"/>
                </a:solidFill>
              </a:rPr>
              <a:t>Напряжение, </a:t>
            </a:r>
            <a:r>
              <a:rPr lang="ru-RU" sz="1400" b="1" u="sng" dirty="0">
                <a:solidFill>
                  <a:srgbClr val="445684"/>
                </a:solidFill>
              </a:rPr>
              <a:t>при котором материал разрушается от </a:t>
            </a:r>
            <a:r>
              <a:rPr lang="ru-RU" sz="1400" b="1" u="sng" dirty="0" smtClean="0">
                <a:solidFill>
                  <a:srgbClr val="445684"/>
                </a:solidFill>
              </a:rPr>
              <a:t>ползучести</a:t>
            </a:r>
            <a:endParaRPr lang="ru-RU" sz="1400" b="1" u="sng" dirty="0">
              <a:solidFill>
                <a:srgbClr val="4456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0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1638" y="100453"/>
            <a:ext cx="10641530" cy="480131"/>
          </a:xfrm>
        </p:spPr>
        <p:txBody>
          <a:bodyPr/>
          <a:lstStyle/>
          <a:p>
            <a:r>
              <a:rPr lang="ru-RU" dirty="0" smtClean="0">
                <a:latin typeface="+mn-lt"/>
              </a:rPr>
              <a:t>Ключевые особенности</a:t>
            </a:r>
            <a:r>
              <a:rPr lang="en-US" dirty="0" smtClean="0">
                <a:latin typeface="+mn-lt"/>
              </a:rPr>
              <a:t> He-</a:t>
            </a:r>
            <a:r>
              <a:rPr lang="en-US" dirty="0" err="1" smtClean="0">
                <a:latin typeface="+mn-lt"/>
              </a:rPr>
              <a:t>Xe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428624" y="971279"/>
            <a:ext cx="1143974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solidFill>
                  <a:srgbClr val="445684"/>
                </a:solidFill>
              </a:rPr>
              <a:t>Благородные </a:t>
            </a:r>
            <a:r>
              <a:rPr lang="ru-RU" dirty="0">
                <a:solidFill>
                  <a:srgbClr val="445684"/>
                </a:solidFill>
              </a:rPr>
              <a:t>газы (</a:t>
            </a:r>
            <a:r>
              <a:rPr lang="ru-RU" dirty="0" err="1">
                <a:solidFill>
                  <a:srgbClr val="445684"/>
                </a:solidFill>
              </a:rPr>
              <a:t>He</a:t>
            </a:r>
            <a:r>
              <a:rPr lang="ru-RU" dirty="0">
                <a:solidFill>
                  <a:srgbClr val="445684"/>
                </a:solidFill>
              </a:rPr>
              <a:t>, </a:t>
            </a:r>
            <a:r>
              <a:rPr lang="ru-RU" dirty="0" err="1">
                <a:solidFill>
                  <a:srgbClr val="445684"/>
                </a:solidFill>
              </a:rPr>
              <a:t>Ne</a:t>
            </a:r>
            <a:r>
              <a:rPr lang="ru-RU" dirty="0">
                <a:solidFill>
                  <a:srgbClr val="445684"/>
                </a:solidFill>
              </a:rPr>
              <a:t>, </a:t>
            </a:r>
            <a:r>
              <a:rPr lang="ru-RU" dirty="0" err="1">
                <a:solidFill>
                  <a:srgbClr val="445684"/>
                </a:solidFill>
              </a:rPr>
              <a:t>Ar</a:t>
            </a:r>
            <a:r>
              <a:rPr lang="ru-RU" dirty="0">
                <a:solidFill>
                  <a:srgbClr val="445684"/>
                </a:solidFill>
              </a:rPr>
              <a:t>, </a:t>
            </a:r>
            <a:r>
              <a:rPr lang="ru-RU" dirty="0" err="1">
                <a:solidFill>
                  <a:srgbClr val="445684"/>
                </a:solidFill>
              </a:rPr>
              <a:t>Kr</a:t>
            </a:r>
            <a:r>
              <a:rPr lang="ru-RU" dirty="0">
                <a:solidFill>
                  <a:srgbClr val="445684"/>
                </a:solidFill>
              </a:rPr>
              <a:t>, </a:t>
            </a:r>
            <a:r>
              <a:rPr lang="ru-RU" dirty="0" err="1">
                <a:solidFill>
                  <a:srgbClr val="445684"/>
                </a:solidFill>
              </a:rPr>
              <a:t>Xe</a:t>
            </a:r>
            <a:r>
              <a:rPr lang="ru-RU" dirty="0">
                <a:solidFill>
                  <a:srgbClr val="445684"/>
                </a:solidFill>
              </a:rPr>
              <a:t>) химически инертны, благодаря чему оборудование, вступающее с ним в контакт, может работать в течение длительного срока с минимальным обслуживанием. Среди всех благородных газов гелий обладает наилучшими термодинамическими (ρ</a:t>
            </a:r>
            <a:r>
              <a:rPr lang="ru-RU" dirty="0" smtClean="0">
                <a:solidFill>
                  <a:srgbClr val="445684"/>
                </a:solidFill>
              </a:rPr>
              <a:t>,</a:t>
            </a:r>
            <a:r>
              <a:rPr lang="en-US" dirty="0" smtClean="0">
                <a:solidFill>
                  <a:srgbClr val="445684"/>
                </a:solidFill>
              </a:rPr>
              <a:t> </a:t>
            </a:r>
            <a:r>
              <a:rPr lang="ru-RU" dirty="0" err="1">
                <a:solidFill>
                  <a:srgbClr val="445684"/>
                </a:solidFill>
              </a:rPr>
              <a:t>C</a:t>
            </a:r>
            <a:r>
              <a:rPr lang="ru-RU" baseline="-25000" dirty="0" err="1">
                <a:solidFill>
                  <a:srgbClr val="445684"/>
                </a:solidFill>
              </a:rPr>
              <a:t>p</a:t>
            </a:r>
            <a:r>
              <a:rPr lang="en-US" dirty="0" smtClean="0">
                <a:solidFill>
                  <a:srgbClr val="445684"/>
                </a:solidFill>
              </a:rPr>
              <a:t>) </a:t>
            </a:r>
            <a:r>
              <a:rPr lang="ru-RU" dirty="0">
                <a:solidFill>
                  <a:srgbClr val="445684"/>
                </a:solidFill>
              </a:rPr>
              <a:t>и транспортными (μ, λ) свойствами. Однако он обладает малой молекулярной массой, что увеличивает аэродинамическую нагрузку на лопатки компрессора — это критично для компактных установок. Относительно гелия, самого лёгкого из благородных газов, более тяжёлые обладают худшими свойствами по сравнению с гелием. При смешивании гелия с более тяжёлыми газами свойства таких смесей превосходят свойства чистых газов той же молярной массы, что и у смеси</a:t>
            </a:r>
            <a:r>
              <a:rPr lang="ru-RU" dirty="0" smtClean="0">
                <a:solidFill>
                  <a:srgbClr val="445684"/>
                </a:solidFill>
              </a:rPr>
              <a:t>.</a:t>
            </a:r>
            <a:endParaRPr lang="ru-RU" dirty="0">
              <a:solidFill>
                <a:srgbClr val="445684"/>
              </a:solidFill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5071599" y="4760093"/>
            <a:ext cx="6796767" cy="923330"/>
          </a:xfrm>
          <a:prstGeom prst="rect">
            <a:avLst/>
          </a:prstGeom>
          <a:ln w="28575">
            <a:solidFill>
              <a:srgbClr val="70AD47"/>
            </a:solidFill>
            <a:prstDash val="dash"/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solidFill>
                  <a:srgbClr val="445684"/>
                </a:solidFill>
              </a:rPr>
              <a:t>С </a:t>
            </a:r>
            <a:r>
              <a:rPr lang="ru-RU" dirty="0">
                <a:solidFill>
                  <a:srgbClr val="445684"/>
                </a:solidFill>
              </a:rPr>
              <a:t>ростом молярной массы газа </a:t>
            </a:r>
            <a:r>
              <a:rPr lang="ru-RU" dirty="0" smtClean="0">
                <a:solidFill>
                  <a:srgbClr val="445684"/>
                </a:solidFill>
              </a:rPr>
              <a:t>аэродинамическая нагрузка снижается. При </a:t>
            </a:r>
            <a:r>
              <a:rPr lang="ru-RU" dirty="0">
                <a:solidFill>
                  <a:srgbClr val="445684"/>
                </a:solidFill>
              </a:rPr>
              <a:t>молярной массе 40 г/моль и меньше коэффициент теплоотдачи близок к таковому для гелия</a:t>
            </a:r>
            <a:r>
              <a:rPr lang="ru-RU" dirty="0" smtClean="0">
                <a:solidFill>
                  <a:srgbClr val="445684"/>
                </a:solidFill>
              </a:rPr>
              <a:t>.</a:t>
            </a:r>
            <a:endParaRPr lang="ru-RU" dirty="0">
              <a:solidFill>
                <a:srgbClr val="445684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86488" y="5721350"/>
            <a:ext cx="44608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u="sng" dirty="0" smtClean="0">
                <a:solidFill>
                  <a:srgbClr val="445684"/>
                </a:solidFill>
              </a:rPr>
              <a:t>Нормализованные коэффициент теплоотдачи и аэродинамическая нагрузка от молярной массы смеси</a:t>
            </a:r>
            <a:endParaRPr lang="ru-RU" sz="1400" b="1" u="sng" dirty="0">
              <a:solidFill>
                <a:srgbClr val="445684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38" y="2957751"/>
            <a:ext cx="3890527" cy="2747724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>
          <a:xfrm>
            <a:off x="5071599" y="3046544"/>
            <a:ext cx="59537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solidFill>
                  <a:srgbClr val="445684"/>
                </a:solidFill>
              </a:rPr>
              <a:t>Аэродинамическая </a:t>
            </a:r>
            <a:r>
              <a:rPr lang="ru-RU" dirty="0" err="1" smtClean="0">
                <a:solidFill>
                  <a:srgbClr val="445684"/>
                </a:solidFill>
              </a:rPr>
              <a:t>нагруженность</a:t>
            </a:r>
            <a:r>
              <a:rPr lang="ru-RU" dirty="0" smtClean="0">
                <a:solidFill>
                  <a:srgbClr val="445684"/>
                </a:solidFill>
              </a:rPr>
              <a:t> лопаток компрессора:</a:t>
            </a:r>
            <a:endParaRPr lang="ru-RU" dirty="0">
              <a:solidFill>
                <a:srgbClr val="445684"/>
              </a:solidFill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787" y="3383544"/>
            <a:ext cx="2119927" cy="487103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787" y="3870647"/>
            <a:ext cx="4609952" cy="45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281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В каких циклах можно использовать СО</a:t>
            </a:r>
            <a:r>
              <a:rPr lang="ru-RU" baseline="-25000" dirty="0" smtClean="0">
                <a:latin typeface="+mn-lt"/>
              </a:rPr>
              <a:t>2</a:t>
            </a:r>
            <a:r>
              <a:rPr lang="ru-RU" dirty="0" smtClean="0">
                <a:latin typeface="+mn-lt"/>
              </a:rPr>
              <a:t>?</a:t>
            </a:r>
            <a:endParaRPr lang="ru-RU" dirty="0">
              <a:latin typeface="+mn-lt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9237592"/>
              </p:ext>
            </p:extLst>
          </p:nvPr>
        </p:nvGraphicFramePr>
        <p:xfrm>
          <a:off x="333375" y="1722609"/>
          <a:ext cx="11582400" cy="34464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6474"/>
                <a:gridCol w="845128"/>
                <a:gridCol w="1092020"/>
                <a:gridCol w="3997741"/>
                <a:gridCol w="4451037"/>
              </a:tblGrid>
              <a:tr h="235137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Цикл</a:t>
                      </a:r>
                      <a:endParaRPr lang="ru-RU" sz="1200" b="1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31223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КПД</a:t>
                      </a:r>
                      <a:endParaRPr lang="ru-RU" sz="1200" b="1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Теп. мощность</a:t>
                      </a:r>
                      <a:endParaRPr lang="ru-RU" sz="1200" b="1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Особенности</a:t>
                      </a:r>
                      <a:endParaRPr lang="ru-RU" sz="1200" b="1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Область</a:t>
                      </a:r>
                      <a:r>
                        <a:rPr lang="ru-RU" sz="1200" baseline="0" dirty="0" smtClean="0">
                          <a:effectLst/>
                        </a:rPr>
                        <a:t> применения</a:t>
                      </a:r>
                      <a:endParaRPr lang="ru-RU" sz="1200" b="1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</a:tr>
              <a:tr h="34441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effectLst/>
                        </a:rPr>
                        <a:t>SBR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31223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40-43</a:t>
                      </a:r>
                      <a:r>
                        <a:rPr lang="ru-RU" sz="1200" dirty="0">
                          <a:effectLst/>
                        </a:rPr>
                        <a:t>%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До ~200 </a:t>
                      </a:r>
                      <a:r>
                        <a:rPr lang="ru-RU" sz="1200" dirty="0" smtClean="0">
                          <a:effectLst/>
                        </a:rPr>
                        <a:t>кВт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Низкая эффективность из-за потерь в рекуператоре, точка </a:t>
                      </a:r>
                      <a:r>
                        <a:rPr lang="ru-RU" sz="1200" dirty="0" err="1">
                          <a:effectLst/>
                        </a:rPr>
                        <a:t>пинча</a:t>
                      </a:r>
                      <a:r>
                        <a:rPr lang="ru-RU" sz="1200" dirty="0">
                          <a:effectLst/>
                        </a:rPr>
                        <a:t> 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• Утилизация тепла отходящих газов</a:t>
                      </a:r>
                    </a:p>
                    <a:p>
                      <a:pPr algn="ctr"/>
                      <a:r>
                        <a:rPr lang="ru-RU" sz="1200" dirty="0" smtClean="0">
                          <a:effectLst/>
                        </a:rPr>
                        <a:t>• Солнечная энергетика</a:t>
                      </a:r>
                    </a:p>
                  </a:txBody>
                  <a:tcPr marL="52039" marR="31223" marT="32524" marB="32524" anchor="ctr"/>
                </a:tc>
              </a:tr>
              <a:tr h="34441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effectLst/>
                        </a:rPr>
                        <a:t>RCB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31223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42-50%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0,1-100</a:t>
                      </a:r>
                      <a:r>
                        <a:rPr lang="ru-RU" sz="1200" baseline="0" dirty="0" smtClean="0">
                          <a:effectLst/>
                        </a:rPr>
                        <a:t> МВт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Дополнительный </a:t>
                      </a:r>
                      <a:r>
                        <a:rPr lang="ru-RU" sz="1200" dirty="0">
                          <a:effectLst/>
                        </a:rPr>
                        <a:t>компрессор, металлоёмкие теплообменники 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effectLst/>
                        </a:rPr>
                        <a:t>• АЭС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effectLst/>
                        </a:rPr>
                        <a:t>• Солнечная энергетика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</a:tr>
              <a:tr h="34441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effectLst/>
                        </a:rPr>
                        <a:t>ICB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31223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43-53%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effectLst/>
                        </a:rPr>
                        <a:t>100</a:t>
                      </a:r>
                      <a:r>
                        <a:rPr lang="ru-RU" sz="1200" dirty="0" smtClean="0">
                          <a:effectLst/>
                        </a:rPr>
                        <a:t> МВт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Дополнительные </a:t>
                      </a:r>
                      <a:r>
                        <a:rPr lang="ru-RU" sz="1200" dirty="0">
                          <a:effectLst/>
                        </a:rPr>
                        <a:t>турбинные ступени, высокие </a:t>
                      </a:r>
                      <a:r>
                        <a:rPr lang="ru-RU" sz="1200" dirty="0" smtClean="0">
                          <a:effectLst/>
                        </a:rPr>
                        <a:t>капитальные затраты</a:t>
                      </a:r>
                      <a:r>
                        <a:rPr lang="ru-RU" sz="1200" dirty="0">
                          <a:effectLst/>
                        </a:rPr>
                        <a:t> 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• Угольная ТЭС</a:t>
                      </a:r>
                    </a:p>
                    <a:p>
                      <a:pPr algn="ctr"/>
                      <a:r>
                        <a:rPr lang="ru-RU" sz="1200" dirty="0" smtClean="0">
                          <a:effectLst/>
                        </a:rPr>
                        <a:t>• Солнечная энергетика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</a:tr>
              <a:tr h="34441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effectLst/>
                        </a:rPr>
                        <a:t>IHB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31223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43-52%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До 100 Мвт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Дополнительный компрессор с промежуточным </a:t>
                      </a:r>
                      <a:r>
                        <a:rPr lang="ru-RU" sz="1200" dirty="0" smtClean="0">
                          <a:effectLst/>
                        </a:rPr>
                        <a:t>охлаждением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• Геотермальная энергетика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</a:tr>
              <a:tr h="34441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effectLst/>
                        </a:rPr>
                        <a:t>tCO2(Rankin)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31223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20-28%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1-1000 кВт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Проблема конденсации при низких температурах, сложность управления двухфазным потоком 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ru-RU" sz="1200" dirty="0" smtClean="0">
                          <a:effectLst/>
                        </a:rPr>
                        <a:t>• НТ геотермальная и солнечная энергетика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</a:tr>
              <a:tr h="34441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effectLst/>
                        </a:rPr>
                        <a:t>SOFC </a:t>
                      </a:r>
                      <a:r>
                        <a:rPr lang="en-US" sz="1200" dirty="0">
                          <a:effectLst/>
                        </a:rPr>
                        <a:t>+ sCO</a:t>
                      </a:r>
                      <a:r>
                        <a:rPr lang="en-US" sz="1200" dirty="0" smtClean="0">
                          <a:effectLst/>
                        </a:rPr>
                        <a:t>₂</a:t>
                      </a:r>
                      <a:endParaRPr lang="en-US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31223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Эл</a:t>
                      </a:r>
                      <a:r>
                        <a:rPr lang="en-US" sz="1200" dirty="0" smtClean="0">
                          <a:effectLst/>
                        </a:rPr>
                        <a:t>.</a:t>
                      </a:r>
                      <a:r>
                        <a:rPr lang="ru-RU" sz="1200" dirty="0">
                          <a:effectLst/>
                        </a:rPr>
                        <a:t> до </a:t>
                      </a:r>
                      <a:r>
                        <a:rPr lang="ru-RU" sz="1200" dirty="0" smtClean="0">
                          <a:effectLst/>
                        </a:rPr>
                        <a:t>70</a:t>
                      </a:r>
                      <a:r>
                        <a:rPr lang="en-US" sz="1200" dirty="0" smtClean="0">
                          <a:effectLst/>
                        </a:rPr>
                        <a:t>-</a:t>
                      </a:r>
                      <a:r>
                        <a:rPr lang="ru-RU" sz="1200" dirty="0" smtClean="0">
                          <a:effectLst/>
                        </a:rPr>
                        <a:t>75</a:t>
                      </a:r>
                      <a:r>
                        <a:rPr lang="ru-RU" sz="1200" dirty="0">
                          <a:effectLst/>
                        </a:rPr>
                        <a:t>%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1-10 МВт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Высокая стоимость, сложность интеграции, отсутствие опытных установок 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• Стационарная энергетика (в стадии концептуальных исследований)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</a:tr>
              <a:tr h="4906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effectLst/>
                        </a:rPr>
                        <a:t>CO</a:t>
                      </a:r>
                      <a:r>
                        <a:rPr lang="en-US" sz="1200" dirty="0">
                          <a:effectLst/>
                        </a:rPr>
                        <a:t>₂–</a:t>
                      </a:r>
                      <a:r>
                        <a:rPr lang="en-US" sz="1200" dirty="0" err="1">
                          <a:effectLst/>
                        </a:rPr>
                        <a:t>Xe</a:t>
                      </a:r>
                      <a:r>
                        <a:rPr lang="en-US" sz="1200" dirty="0">
                          <a:effectLst/>
                        </a:rPr>
                        <a:t>, CO₂–</a:t>
                      </a:r>
                      <a:r>
                        <a:rPr lang="en-US" sz="1200" dirty="0" err="1">
                          <a:effectLst/>
                        </a:rPr>
                        <a:t>TiCl</a:t>
                      </a:r>
                      <a:r>
                        <a:rPr lang="en-US" sz="1200" dirty="0" smtClean="0">
                          <a:effectLst/>
                        </a:rPr>
                        <a:t>₄</a:t>
                      </a:r>
                      <a:endParaRPr lang="en-US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31223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-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До 700 кВт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52039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Недостаток экспериментальных данных, проблемы совместимости </a:t>
                      </a:r>
                      <a:r>
                        <a:rPr lang="ru-RU" sz="1200" dirty="0" smtClean="0">
                          <a:effectLst/>
                        </a:rPr>
                        <a:t>материалов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• Солнечные электростанции</a:t>
                      </a:r>
                    </a:p>
                    <a:p>
                      <a:pPr algn="ctr"/>
                      <a:r>
                        <a:rPr lang="ru-RU" sz="1200" dirty="0" smtClean="0">
                          <a:effectLst/>
                        </a:rPr>
                        <a:t>• Подводные и морские АЭС </a:t>
                      </a:r>
                    </a:p>
                    <a:p>
                      <a:pPr algn="ctr"/>
                      <a:r>
                        <a:rPr lang="ru-RU" sz="1200" dirty="0" smtClean="0">
                          <a:effectLst/>
                        </a:rPr>
                        <a:t>• Утилизация  тепла</a:t>
                      </a:r>
                      <a:endParaRPr lang="ru-RU" sz="1200" b="0" dirty="0">
                        <a:solidFill>
                          <a:srgbClr val="445684"/>
                        </a:solidFill>
                        <a:effectLst/>
                        <a:latin typeface="+mn-lt"/>
                      </a:endParaRPr>
                    </a:p>
                  </a:txBody>
                  <a:tcPr marL="52039" marR="31223" marT="32524" marB="32524" anchor="ctr"/>
                </a:tc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71638" y="799279"/>
            <a:ext cx="110536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Энергетические системы на CO₂ делятся на два типа: сверхкритические циклы Брайтона (sCO₂) для высокотемпературных источников и </a:t>
            </a:r>
            <a:r>
              <a:rPr lang="ru-RU" dirty="0" err="1">
                <a:solidFill>
                  <a:srgbClr val="445684"/>
                </a:solidFill>
              </a:rPr>
              <a:t>транскритические</a:t>
            </a:r>
            <a:r>
              <a:rPr lang="ru-RU" dirty="0">
                <a:solidFill>
                  <a:srgbClr val="445684"/>
                </a:solidFill>
              </a:rPr>
              <a:t> циклы </a:t>
            </a:r>
            <a:r>
              <a:rPr lang="ru-RU" dirty="0" err="1">
                <a:solidFill>
                  <a:srgbClr val="445684"/>
                </a:solidFill>
              </a:rPr>
              <a:t>Ренкина</a:t>
            </a:r>
            <a:r>
              <a:rPr lang="ru-RU" dirty="0">
                <a:solidFill>
                  <a:srgbClr val="445684"/>
                </a:solidFill>
              </a:rPr>
              <a:t> (</a:t>
            </a:r>
            <a:r>
              <a:rPr lang="ru-RU" dirty="0" err="1">
                <a:solidFill>
                  <a:srgbClr val="445684"/>
                </a:solidFill>
              </a:rPr>
              <a:t>tCO</a:t>
            </a:r>
            <a:r>
              <a:rPr lang="ru-RU" dirty="0">
                <a:solidFill>
                  <a:srgbClr val="445684"/>
                </a:solidFill>
              </a:rPr>
              <a:t>₂) для низкотемпературных. Выбор конфигурации определяется температурой источника и требуемой мощностью.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471638" y="5291328"/>
            <a:ext cx="11444137" cy="923330"/>
          </a:xfrm>
          <a:prstGeom prst="rect">
            <a:avLst/>
          </a:prstGeom>
          <a:ln w="28575">
            <a:solidFill>
              <a:srgbClr val="70AD47"/>
            </a:solidFill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Базовое решение для высоких температур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 err="1">
                <a:solidFill>
                  <a:srgbClr val="445684"/>
                </a:solidFill>
              </a:rPr>
              <a:t>рекомпрессионный</a:t>
            </a:r>
            <a:r>
              <a:rPr lang="ru-RU" dirty="0">
                <a:solidFill>
                  <a:srgbClr val="445684"/>
                </a:solidFill>
              </a:rPr>
              <a:t> цикл Брайтона как наиболее эффективный. Для низких температур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 err="1">
                <a:solidFill>
                  <a:srgbClr val="445684"/>
                </a:solidFill>
              </a:rPr>
              <a:t>транскритический</a:t>
            </a:r>
            <a:r>
              <a:rPr lang="ru-RU" dirty="0">
                <a:solidFill>
                  <a:srgbClr val="445684"/>
                </a:solidFill>
              </a:rPr>
              <a:t> цикл </a:t>
            </a:r>
            <a:r>
              <a:rPr lang="ru-RU" dirty="0" err="1">
                <a:solidFill>
                  <a:srgbClr val="445684"/>
                </a:solidFill>
              </a:rPr>
              <a:t>Ренкина</a:t>
            </a:r>
            <a:r>
              <a:rPr lang="ru-RU" dirty="0">
                <a:solidFill>
                  <a:srgbClr val="445684"/>
                </a:solidFill>
              </a:rPr>
              <a:t>. Смеси CO₂ позволяют расширить диапазон применения на жаркий климат, а гибридные схемы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>
                <a:solidFill>
                  <a:srgbClr val="445684"/>
                </a:solidFill>
              </a:rPr>
              <a:t>достичь максимальной эффективности </a:t>
            </a:r>
            <a:r>
              <a:rPr lang="ru-RU" dirty="0" smtClean="0">
                <a:solidFill>
                  <a:srgbClr val="445684"/>
                </a:solidFill>
              </a:rPr>
              <a:t>в </a:t>
            </a:r>
            <a:r>
              <a:rPr lang="ru-RU" dirty="0">
                <a:solidFill>
                  <a:srgbClr val="445684"/>
                </a:solidFill>
              </a:rPr>
              <a:t>стационарной энергетике.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1831256" y="6338916"/>
            <a:ext cx="681744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 smtClean="0">
                <a:solidFill>
                  <a:srgbClr val="445684"/>
                </a:solidFill>
              </a:rPr>
              <a:t>Источник: </a:t>
            </a:r>
            <a:r>
              <a:rPr lang="en-US" sz="1200" b="1" dirty="0" smtClean="0">
                <a:solidFill>
                  <a:srgbClr val="445684"/>
                </a:solidFill>
              </a:rPr>
              <a:t>System </a:t>
            </a:r>
            <a:r>
              <a:rPr lang="en-US" sz="1200" b="1" dirty="0">
                <a:solidFill>
                  <a:srgbClr val="445684"/>
                </a:solidFill>
              </a:rPr>
              <a:t>Design and Application of Supercritical and </a:t>
            </a:r>
            <a:r>
              <a:rPr lang="en-US" sz="1200" b="1" dirty="0" err="1">
                <a:solidFill>
                  <a:srgbClr val="445684"/>
                </a:solidFill>
              </a:rPr>
              <a:t>Transcritical</a:t>
            </a:r>
            <a:r>
              <a:rPr lang="en-US" sz="1200" b="1" dirty="0">
                <a:solidFill>
                  <a:srgbClr val="445684"/>
                </a:solidFill>
              </a:rPr>
              <a:t> CO2 Power Cycles: A Review</a:t>
            </a:r>
            <a:endParaRPr lang="ru-RU" sz="1200" b="1" dirty="0">
              <a:solidFill>
                <a:srgbClr val="44568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54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445684"/>
                </a:solidFill>
                <a:latin typeface="+mn-lt"/>
              </a:rPr>
              <a:t>Тепловые схемы АСММ на СО</a:t>
            </a:r>
            <a:r>
              <a:rPr lang="ru-RU" baseline="-25000" dirty="0" smtClean="0">
                <a:solidFill>
                  <a:srgbClr val="445684"/>
                </a:solidFill>
                <a:latin typeface="+mn-lt"/>
              </a:rPr>
              <a:t>2</a:t>
            </a:r>
            <a:endParaRPr lang="ru-RU" dirty="0">
              <a:solidFill>
                <a:srgbClr val="445684"/>
              </a:solidFill>
              <a:latin typeface="+mn-lt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55995" y="997565"/>
            <a:ext cx="5509376" cy="45506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4456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316863" y="973326"/>
            <a:ext cx="5509376" cy="47930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4456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1202697" y="1040433"/>
            <a:ext cx="4103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>
                <a:solidFill>
                  <a:srgbClr val="445684"/>
                </a:solidFill>
              </a:rPr>
              <a:t>Тепловая схема АСММ с рекуперацией</a:t>
            </a:r>
            <a:endParaRPr lang="ru-RU" b="1" dirty="0">
              <a:solidFill>
                <a:srgbClr val="445684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99284" y="1040433"/>
            <a:ext cx="4226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>
                <a:solidFill>
                  <a:srgbClr val="445684"/>
                </a:solidFill>
              </a:rPr>
              <a:t>Тепловая схема АСММ с </a:t>
            </a:r>
            <a:r>
              <a:rPr lang="ru-RU" b="1" dirty="0" err="1" smtClean="0">
                <a:solidFill>
                  <a:srgbClr val="445684"/>
                </a:solidFill>
              </a:rPr>
              <a:t>рекомпрессией</a:t>
            </a:r>
            <a:endParaRPr lang="ru-RU" b="1" dirty="0">
              <a:solidFill>
                <a:srgbClr val="445684"/>
              </a:solidFill>
            </a:endParaRPr>
          </a:p>
        </p:txBody>
      </p:sp>
      <p:grpSp>
        <p:nvGrpSpPr>
          <p:cNvPr id="21" name="Группа 20"/>
          <p:cNvGrpSpPr/>
          <p:nvPr/>
        </p:nvGrpSpPr>
        <p:grpSpPr>
          <a:xfrm>
            <a:off x="312942" y="5325530"/>
            <a:ext cx="5783058" cy="1077193"/>
            <a:chOff x="299241" y="5248598"/>
            <a:chExt cx="5783058" cy="1077193"/>
          </a:xfrm>
        </p:grpSpPr>
        <p:sp>
          <p:nvSpPr>
            <p:cNvPr id="16" name="TextBox 15"/>
            <p:cNvSpPr txBox="1"/>
            <p:nvPr/>
          </p:nvSpPr>
          <p:spPr>
            <a:xfrm>
              <a:off x="299241" y="5325530"/>
              <a:ext cx="578305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 smtClean="0">
                  <a:solidFill>
                    <a:srgbClr val="445684"/>
                  </a:solidFill>
                </a:rPr>
                <a:t>Обе схемы позволяют работать в двух режимах:</a:t>
              </a:r>
            </a:p>
            <a:p>
              <a:pPr marL="342900" indent="-342900">
                <a:buAutoNum type="arabicPeriod"/>
              </a:pPr>
              <a:r>
                <a:rPr lang="ru-RU" dirty="0" smtClean="0">
                  <a:solidFill>
                    <a:srgbClr val="445684"/>
                  </a:solidFill>
                </a:rPr>
                <a:t>Отпуск электрической мощности</a:t>
              </a:r>
              <a:r>
                <a:rPr lang="en-US" dirty="0" smtClean="0">
                  <a:solidFill>
                    <a:srgbClr val="445684"/>
                  </a:solidFill>
                </a:rPr>
                <a:t> </a:t>
              </a:r>
              <a:r>
                <a:rPr lang="en-US" dirty="0" smtClean="0">
                  <a:solidFill>
                    <a:srgbClr val="445684"/>
                  </a:solidFill>
                  <a:latin typeface="Adobe Hebrew" panose="02040503050201020203" pitchFamily="18" charset="-79"/>
                  <a:cs typeface="Adobe Hebrew" panose="02040503050201020203" pitchFamily="18" charset="-79"/>
                </a:rPr>
                <a:t>I+II</a:t>
              </a:r>
              <a:r>
                <a:rPr lang="ru-RU" dirty="0" smtClean="0">
                  <a:solidFill>
                    <a:srgbClr val="445684"/>
                  </a:solidFill>
                </a:rPr>
                <a:t> (без тепловой)</a:t>
              </a:r>
            </a:p>
            <a:p>
              <a:pPr marL="342900" indent="-342900">
                <a:buAutoNum type="arabicPeriod"/>
              </a:pPr>
              <a:r>
                <a:rPr lang="ru-RU" dirty="0" smtClean="0">
                  <a:solidFill>
                    <a:srgbClr val="445684"/>
                  </a:solidFill>
                </a:rPr>
                <a:t>Отпуск тепловой мощности</a:t>
              </a:r>
              <a:r>
                <a:rPr lang="en-US" dirty="0" smtClean="0">
                  <a:solidFill>
                    <a:srgbClr val="445684"/>
                  </a:solidFill>
                </a:rPr>
                <a:t> </a:t>
              </a:r>
              <a:r>
                <a:rPr lang="en-US" dirty="0" smtClean="0">
                  <a:solidFill>
                    <a:srgbClr val="445684"/>
                  </a:solidFill>
                  <a:latin typeface="Adobe Hebrew" panose="02040503050201020203" pitchFamily="18" charset="-79"/>
                  <a:cs typeface="Adobe Hebrew" panose="02040503050201020203" pitchFamily="18" charset="-79"/>
                </a:rPr>
                <a:t>I+III</a:t>
              </a:r>
              <a:r>
                <a:rPr lang="ru-RU" dirty="0" smtClean="0">
                  <a:solidFill>
                    <a:srgbClr val="445684"/>
                  </a:solidFill>
                </a:rPr>
                <a:t> (без электрической)</a:t>
              </a:r>
              <a:endParaRPr lang="ru-RU" dirty="0">
                <a:solidFill>
                  <a:srgbClr val="445684"/>
                </a:solidFill>
              </a:endParaRPr>
            </a:p>
          </p:txBody>
        </p:sp>
        <p:sp>
          <p:nvSpPr>
            <p:cNvPr id="17" name="Скругленный прямоугольник 16"/>
            <p:cNvSpPr/>
            <p:nvPr/>
          </p:nvSpPr>
          <p:spPr>
            <a:xfrm>
              <a:off x="299241" y="5248598"/>
              <a:ext cx="5666130" cy="1077193"/>
            </a:xfrm>
            <a:prstGeom prst="roundRect">
              <a:avLst/>
            </a:prstGeom>
            <a:noFill/>
            <a:ln w="38100">
              <a:solidFill>
                <a:srgbClr val="4456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2" name="Группа 21"/>
          <p:cNvGrpSpPr/>
          <p:nvPr/>
        </p:nvGrpSpPr>
        <p:grpSpPr>
          <a:xfrm>
            <a:off x="6316863" y="5325530"/>
            <a:ext cx="5703471" cy="1077218"/>
            <a:chOff x="6279522" y="5242160"/>
            <a:chExt cx="5703471" cy="1077218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6279522" y="5242185"/>
              <a:ext cx="5666130" cy="1077193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316863" y="5242160"/>
              <a:ext cx="566613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 smtClean="0">
                  <a:solidFill>
                    <a:srgbClr val="445684"/>
                  </a:solidFill>
                </a:rPr>
                <a:t>Отпуск электрической мощности осуществляется за счет цикла Брайтона. В режиме теплофикации после переключения задвижек теплоноситель реактора нагревает промежуточный контур, который направляется в теплообменник-утилизатор</a:t>
              </a:r>
              <a:endParaRPr lang="ru-RU" sz="1600" dirty="0">
                <a:solidFill>
                  <a:srgbClr val="445684"/>
                </a:solidFill>
              </a:endParaRPr>
            </a:p>
          </p:txBody>
        </p:sp>
      </p:grp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461" y="1562623"/>
            <a:ext cx="5400933" cy="3762920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49" y="1495501"/>
            <a:ext cx="5703389" cy="379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643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445684"/>
                </a:solidFill>
                <a:latin typeface="+mn-lt"/>
              </a:rPr>
              <a:t>Тепловые схемы АСММ на </a:t>
            </a:r>
            <a:r>
              <a:rPr lang="en-US" dirty="0" smtClean="0">
                <a:solidFill>
                  <a:srgbClr val="445684"/>
                </a:solidFill>
                <a:latin typeface="+mn-lt"/>
              </a:rPr>
              <a:t>He-</a:t>
            </a:r>
            <a:r>
              <a:rPr lang="en-US" dirty="0" err="1" smtClean="0">
                <a:solidFill>
                  <a:srgbClr val="445684"/>
                </a:solidFill>
                <a:latin typeface="+mn-lt"/>
              </a:rPr>
              <a:t>Xe</a:t>
            </a:r>
            <a:endParaRPr lang="ru-RU" dirty="0">
              <a:solidFill>
                <a:srgbClr val="445684"/>
              </a:solidFill>
              <a:latin typeface="+mn-lt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2828186" y="997565"/>
            <a:ext cx="5509376" cy="45506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4456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3531030" y="1040433"/>
            <a:ext cx="4103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>
                <a:solidFill>
                  <a:srgbClr val="445684"/>
                </a:solidFill>
              </a:rPr>
              <a:t>Тепловая схема АСММ с рекуперацией</a:t>
            </a:r>
            <a:endParaRPr lang="ru-RU" b="1" dirty="0">
              <a:solidFill>
                <a:srgbClr val="445684"/>
              </a:solidFill>
            </a:endParaRPr>
          </a:p>
        </p:txBody>
      </p:sp>
      <p:grpSp>
        <p:nvGrpSpPr>
          <p:cNvPr id="21" name="Группа 20"/>
          <p:cNvGrpSpPr/>
          <p:nvPr/>
        </p:nvGrpSpPr>
        <p:grpSpPr>
          <a:xfrm>
            <a:off x="312942" y="5325530"/>
            <a:ext cx="5783058" cy="1077193"/>
            <a:chOff x="299241" y="5248598"/>
            <a:chExt cx="5783058" cy="1077193"/>
          </a:xfrm>
        </p:grpSpPr>
        <p:sp>
          <p:nvSpPr>
            <p:cNvPr id="16" name="TextBox 15"/>
            <p:cNvSpPr txBox="1"/>
            <p:nvPr/>
          </p:nvSpPr>
          <p:spPr>
            <a:xfrm>
              <a:off x="299241" y="5325530"/>
              <a:ext cx="5783058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 smtClean="0">
                  <a:solidFill>
                    <a:srgbClr val="445684"/>
                  </a:solidFill>
                </a:rPr>
                <a:t>Схема позволяет работать в двух режимах:</a:t>
              </a:r>
            </a:p>
            <a:p>
              <a:pPr marL="342900" indent="-342900">
                <a:buAutoNum type="arabicPeriod"/>
              </a:pPr>
              <a:r>
                <a:rPr lang="ru-RU" dirty="0" smtClean="0">
                  <a:solidFill>
                    <a:srgbClr val="445684"/>
                  </a:solidFill>
                </a:rPr>
                <a:t>Отпуск электрической мощности</a:t>
              </a:r>
              <a:r>
                <a:rPr lang="en-US" dirty="0" smtClean="0">
                  <a:solidFill>
                    <a:srgbClr val="445684"/>
                  </a:solidFill>
                </a:rPr>
                <a:t> </a:t>
              </a:r>
              <a:r>
                <a:rPr lang="en-US" dirty="0" smtClean="0">
                  <a:solidFill>
                    <a:srgbClr val="445684"/>
                  </a:solidFill>
                  <a:latin typeface="Adobe Hebrew" panose="02040503050201020203" pitchFamily="18" charset="-79"/>
                  <a:cs typeface="Adobe Hebrew" panose="02040503050201020203" pitchFamily="18" charset="-79"/>
                </a:rPr>
                <a:t>I+II</a:t>
              </a:r>
              <a:r>
                <a:rPr lang="ru-RU" dirty="0" smtClean="0">
                  <a:solidFill>
                    <a:srgbClr val="445684"/>
                  </a:solidFill>
                </a:rPr>
                <a:t> (без тепловой)</a:t>
              </a:r>
            </a:p>
            <a:p>
              <a:pPr marL="342900" indent="-342900">
                <a:buAutoNum type="arabicPeriod"/>
              </a:pPr>
              <a:r>
                <a:rPr lang="ru-RU" dirty="0" smtClean="0">
                  <a:solidFill>
                    <a:srgbClr val="445684"/>
                  </a:solidFill>
                </a:rPr>
                <a:t>Отпуск тепловой мощности</a:t>
              </a:r>
              <a:r>
                <a:rPr lang="en-US" dirty="0" smtClean="0">
                  <a:solidFill>
                    <a:srgbClr val="445684"/>
                  </a:solidFill>
                </a:rPr>
                <a:t> </a:t>
              </a:r>
              <a:r>
                <a:rPr lang="en-US" dirty="0" smtClean="0">
                  <a:solidFill>
                    <a:srgbClr val="445684"/>
                  </a:solidFill>
                  <a:latin typeface="Adobe Hebrew" panose="02040503050201020203" pitchFamily="18" charset="-79"/>
                  <a:cs typeface="Adobe Hebrew" panose="02040503050201020203" pitchFamily="18" charset="-79"/>
                </a:rPr>
                <a:t>I+III</a:t>
              </a:r>
              <a:r>
                <a:rPr lang="ru-RU" dirty="0" smtClean="0">
                  <a:solidFill>
                    <a:srgbClr val="445684"/>
                  </a:solidFill>
                </a:rPr>
                <a:t> (без электрической)</a:t>
              </a:r>
              <a:endParaRPr lang="ru-RU" dirty="0">
                <a:solidFill>
                  <a:srgbClr val="445684"/>
                </a:solidFill>
              </a:endParaRPr>
            </a:p>
          </p:txBody>
        </p:sp>
        <p:sp>
          <p:nvSpPr>
            <p:cNvPr id="17" name="Скругленный прямоугольник 16"/>
            <p:cNvSpPr/>
            <p:nvPr/>
          </p:nvSpPr>
          <p:spPr>
            <a:xfrm>
              <a:off x="299241" y="5248598"/>
              <a:ext cx="5666130" cy="1077193"/>
            </a:xfrm>
            <a:prstGeom prst="roundRect">
              <a:avLst/>
            </a:prstGeom>
            <a:noFill/>
            <a:ln w="38100">
              <a:solidFill>
                <a:srgbClr val="4456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2" name="Группа 21"/>
          <p:cNvGrpSpPr/>
          <p:nvPr/>
        </p:nvGrpSpPr>
        <p:grpSpPr>
          <a:xfrm>
            <a:off x="6316863" y="5325530"/>
            <a:ext cx="5703471" cy="1077218"/>
            <a:chOff x="6279522" y="5242160"/>
            <a:chExt cx="5703471" cy="1077218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6279522" y="5242185"/>
              <a:ext cx="5666130" cy="1077193"/>
            </a:xfrm>
            <a:prstGeom prst="round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316863" y="5242160"/>
              <a:ext cx="566613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 smtClean="0">
                  <a:solidFill>
                    <a:srgbClr val="445684"/>
                  </a:solidFill>
                </a:rPr>
                <a:t>Отпуск электрической мощности осуществляется за счет цикла Брайтона. В режиме теплофикации после переключения задвижек теплоноситель направляется в теплообменник-утилизатор</a:t>
              </a:r>
              <a:endParaRPr lang="ru-RU" sz="1600" dirty="0">
                <a:solidFill>
                  <a:srgbClr val="445684"/>
                </a:solidFill>
              </a:endParaRPr>
            </a:p>
          </p:txBody>
        </p:sp>
      </p:grp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153" y="1577339"/>
            <a:ext cx="5069442" cy="362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753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1638" y="-93446"/>
            <a:ext cx="10641530" cy="867930"/>
          </a:xfrm>
        </p:spPr>
        <p:txBody>
          <a:bodyPr/>
          <a:lstStyle/>
          <a:p>
            <a:r>
              <a:rPr lang="ru-RU" dirty="0">
                <a:latin typeface="+mn-lt"/>
              </a:rPr>
              <a:t>Влияние начальных и оптимизационных параметров на эффективность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4509352"/>
              </p:ext>
            </p:extLst>
          </p:nvPr>
        </p:nvGraphicFramePr>
        <p:xfrm>
          <a:off x="276810" y="3745803"/>
          <a:ext cx="4610274" cy="2176554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2275756"/>
                <a:gridCol w="2334518"/>
              </a:tblGrid>
              <a:tr h="412589">
                <a:tc>
                  <a:txBody>
                    <a:bodyPr/>
                    <a:lstStyle/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ru-RU" sz="1400" dirty="0">
                          <a:effectLst/>
                        </a:rPr>
                        <a:t>Параметр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ru-RU" sz="1400" dirty="0">
                          <a:effectLst/>
                        </a:rPr>
                        <a:t>Удельная чувствительность (на </a:t>
                      </a:r>
                      <a:r>
                        <a:rPr lang="ru-RU" sz="1400" dirty="0" smtClean="0">
                          <a:effectLst/>
                        </a:rPr>
                        <a:t>1% КПД)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</a:tr>
              <a:tr h="273413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ru-RU" sz="1400" dirty="0" smtClean="0">
                          <a:effectLst/>
                        </a:rPr>
                        <a:t>Температура </a:t>
                      </a:r>
                      <a:r>
                        <a:rPr lang="ru-RU" sz="1400" dirty="0">
                          <a:effectLst/>
                        </a:rPr>
                        <a:t>на входе в </a:t>
                      </a:r>
                      <a:r>
                        <a:rPr lang="ru-RU" sz="1400" dirty="0" smtClean="0">
                          <a:effectLst/>
                        </a:rPr>
                        <a:t>турбину,</a:t>
                      </a:r>
                      <a:r>
                        <a:rPr lang="ru-RU" sz="1400" baseline="0" dirty="0" smtClean="0">
                          <a:effectLst/>
                        </a:rPr>
                        <a:t> К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ru-RU" sz="1400" dirty="0" smtClean="0">
                          <a:effectLst/>
                        </a:rPr>
                        <a:t>33-50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</a:tr>
              <a:tr h="273413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ru-RU" sz="1400" dirty="0" smtClean="0">
                          <a:effectLst/>
                        </a:rPr>
                        <a:t>Температура </a:t>
                      </a:r>
                      <a:r>
                        <a:rPr lang="ru-RU" sz="1400" dirty="0">
                          <a:effectLst/>
                        </a:rPr>
                        <a:t>на входе в </a:t>
                      </a:r>
                      <a:r>
                        <a:rPr lang="ru-RU" sz="1400" dirty="0" smtClean="0">
                          <a:effectLst/>
                        </a:rPr>
                        <a:t>компрессор, К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400" dirty="0" smtClean="0">
                          <a:effectLst/>
                        </a:rPr>
                        <a:t>~4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</a:tr>
              <a:tr h="410238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ru-RU" sz="1400" dirty="0" smtClean="0">
                          <a:effectLst/>
                        </a:rPr>
                        <a:t>Степень</a:t>
                      </a:r>
                      <a:r>
                        <a:rPr lang="ru-RU" sz="1400" baseline="0" dirty="0" smtClean="0">
                          <a:effectLst/>
                        </a:rPr>
                        <a:t> </a:t>
                      </a:r>
                      <a:r>
                        <a:rPr lang="ru-RU" sz="1400" baseline="0" dirty="0" err="1" smtClean="0">
                          <a:effectLst/>
                        </a:rPr>
                        <a:t>рекомпрессии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ru-RU" sz="1400" dirty="0" smtClean="0">
                          <a:effectLst/>
                        </a:rPr>
                        <a:t>0.2-0.4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439891" y="3822705"/>
            <a:ext cx="6549177" cy="2031325"/>
          </a:xfrm>
          <a:prstGeom prst="rect">
            <a:avLst/>
          </a:prstGeom>
          <a:ln w="28575">
            <a:noFill/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Наибольшую удельную чувствительность в пересчете на градус имеет температура на входе в компрессор (T₁), но ее эффект сильно нелинейный и максимален вблизи критической точки. Наиболее стабильный и предсказуемый прирост дает повышение температуры на входе в турбину (T₂</a:t>
            </a:r>
            <a:r>
              <a:rPr lang="ru-RU" dirty="0" smtClean="0">
                <a:solidFill>
                  <a:srgbClr val="445684"/>
                </a:solidFill>
              </a:rPr>
              <a:t>). </a:t>
            </a:r>
            <a:r>
              <a:rPr lang="ru-RU" dirty="0">
                <a:solidFill>
                  <a:srgbClr val="445684"/>
                </a:solidFill>
              </a:rPr>
              <a:t>Оптимизация степени </a:t>
            </a:r>
            <a:r>
              <a:rPr lang="ru-RU" dirty="0" err="1">
                <a:solidFill>
                  <a:srgbClr val="445684"/>
                </a:solidFill>
              </a:rPr>
              <a:t>рекомпрессии</a:t>
            </a:r>
            <a:r>
              <a:rPr lang="ru-RU" dirty="0">
                <a:solidFill>
                  <a:srgbClr val="445684"/>
                </a:solidFill>
              </a:rPr>
              <a:t> позволяет </a:t>
            </a:r>
            <a:r>
              <a:rPr lang="ru-RU" dirty="0" smtClean="0">
                <a:solidFill>
                  <a:srgbClr val="445684"/>
                </a:solidFill>
              </a:rPr>
              <a:t>повысить КПД </a:t>
            </a:r>
            <a:r>
              <a:rPr lang="ru-RU" dirty="0">
                <a:solidFill>
                  <a:srgbClr val="445684"/>
                </a:solidFill>
              </a:rPr>
              <a:t>без изменения температурных параметров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2"/>
          <a:srcRect l="18045" t="48153" r="24812"/>
          <a:stretch/>
        </p:blipFill>
        <p:spPr>
          <a:xfrm>
            <a:off x="871274" y="1399637"/>
            <a:ext cx="2881162" cy="21277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3"/>
          <a:srcRect r="50010" b="10012"/>
          <a:stretch/>
        </p:blipFill>
        <p:spPr>
          <a:xfrm>
            <a:off x="4807778" y="1233995"/>
            <a:ext cx="2599593" cy="2158264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3360" y="1399637"/>
            <a:ext cx="2432155" cy="2031041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42632" y="918202"/>
            <a:ext cx="3338446" cy="523220"/>
          </a:xfrm>
          <a:prstGeom prst="rect">
            <a:avLst/>
          </a:prstGeom>
          <a:ln w="28575">
            <a:solidFill>
              <a:srgbClr val="445684"/>
            </a:solidFill>
          </a:ln>
          <a:effectLst>
            <a:softEdge rad="254000"/>
          </a:effectLst>
        </p:spPr>
        <p:txBody>
          <a:bodyPr wrap="square">
            <a:spAutoFit/>
          </a:bodyPr>
          <a:lstStyle/>
          <a:p>
            <a:pPr algn="ctr"/>
            <a:r>
              <a:rPr lang="ru-RU" sz="1400" b="1" u="sng" dirty="0">
                <a:solidFill>
                  <a:srgbClr val="445684"/>
                </a:solidFill>
              </a:rPr>
              <a:t>Влияние температуры и давления на входе в турбину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4082549" y="803549"/>
            <a:ext cx="38479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u="sng" dirty="0" smtClean="0">
                <a:solidFill>
                  <a:srgbClr val="445684"/>
                </a:solidFill>
              </a:rPr>
              <a:t>Влияние </a:t>
            </a:r>
            <a:r>
              <a:rPr lang="ru-RU" sz="1400" b="1" u="sng" dirty="0">
                <a:solidFill>
                  <a:srgbClr val="445684"/>
                </a:solidFill>
              </a:rPr>
              <a:t>температуры на входе в главный компрессор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7655307" y="803549"/>
            <a:ext cx="36482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u="sng" dirty="0" smtClean="0">
                <a:solidFill>
                  <a:srgbClr val="445684"/>
                </a:solidFill>
              </a:rPr>
              <a:t>Влияние степени </a:t>
            </a:r>
            <a:r>
              <a:rPr lang="ru-RU" sz="1400" b="1" u="sng" dirty="0" err="1" smtClean="0">
                <a:solidFill>
                  <a:srgbClr val="445684"/>
                </a:solidFill>
              </a:rPr>
              <a:t>рекомпрессии</a:t>
            </a:r>
            <a:r>
              <a:rPr lang="ru-RU" sz="1400" b="1" u="sng" dirty="0" smtClean="0">
                <a:solidFill>
                  <a:srgbClr val="445684"/>
                </a:solidFill>
              </a:rPr>
              <a:t> на эффективность ТО</a:t>
            </a:r>
            <a:endParaRPr lang="ru-RU" sz="1400" b="1" u="sng" dirty="0">
              <a:solidFill>
                <a:srgbClr val="445684"/>
              </a:solidFill>
            </a:endParaRPr>
          </a:p>
        </p:txBody>
      </p:sp>
      <p:sp>
        <p:nvSpPr>
          <p:cNvPr id="3" name="Стрелка вправо 2"/>
          <p:cNvSpPr/>
          <p:nvPr/>
        </p:nvSpPr>
        <p:spPr>
          <a:xfrm>
            <a:off x="4917376" y="4672904"/>
            <a:ext cx="522515" cy="33092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5447038" y="3761174"/>
            <a:ext cx="6542030" cy="2092856"/>
          </a:xfrm>
          <a:prstGeom prst="roundRect">
            <a:avLst/>
          </a:prstGeom>
          <a:noFill/>
          <a:ln w="38100">
            <a:solidFill>
              <a:srgbClr val="44568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477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1638" y="100453"/>
            <a:ext cx="10641530" cy="480131"/>
          </a:xfrm>
        </p:spPr>
        <p:txBody>
          <a:bodyPr/>
          <a:lstStyle/>
          <a:p>
            <a:r>
              <a:rPr lang="ru-RU" dirty="0" smtClean="0">
                <a:latin typeface="+mn-lt"/>
              </a:rPr>
              <a:t>Методика определения </a:t>
            </a:r>
            <a:r>
              <a:rPr lang="ru-RU" dirty="0">
                <a:latin typeface="+mn-lt"/>
              </a:rPr>
              <a:t>свойств </a:t>
            </a:r>
            <a:r>
              <a:rPr lang="en-US" dirty="0" smtClean="0">
                <a:latin typeface="+mn-lt"/>
              </a:rPr>
              <a:t>He-</a:t>
            </a:r>
            <a:r>
              <a:rPr lang="en-US" dirty="0" err="1" smtClean="0">
                <a:latin typeface="+mn-lt"/>
              </a:rPr>
              <a:t>Xe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428624" y="971279"/>
            <a:ext cx="1143974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solidFill>
                  <a:srgbClr val="445684"/>
                </a:solidFill>
              </a:rPr>
              <a:t>Поведение реального газа хорошо описывается вириальным уравнением состояния. В отличие от уравнения идеального газа, оно учитывает межмолекулярные столкновения, которые записываются дополнительными членами в разложении</a:t>
            </a:r>
            <a:r>
              <a:rPr lang="ru-RU" dirty="0" smtClean="0">
                <a:solidFill>
                  <a:srgbClr val="445684"/>
                </a:solidFill>
              </a:rPr>
              <a:t>.</a:t>
            </a:r>
            <a:endParaRPr lang="en-US" dirty="0">
              <a:solidFill>
                <a:srgbClr val="445684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428624" y="1900242"/>
            <a:ext cx="114397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solidFill>
                  <a:srgbClr val="445684"/>
                </a:solidFill>
              </a:rPr>
              <a:t>Разложение </a:t>
            </a:r>
            <a:r>
              <a:rPr lang="ru-RU" dirty="0">
                <a:solidFill>
                  <a:srgbClr val="445684"/>
                </a:solidFill>
              </a:rPr>
              <a:t>до двух коэффициентов по сжимаемости Z</a:t>
            </a:r>
            <a:r>
              <a:rPr lang="ru-RU" dirty="0" smtClean="0">
                <a:solidFill>
                  <a:srgbClr val="445684"/>
                </a:solidFill>
              </a:rPr>
              <a:t>:</a:t>
            </a:r>
            <a:endParaRPr lang="ru-RU" dirty="0">
              <a:solidFill>
                <a:srgbClr val="445684"/>
              </a:solidFill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495" y="1908277"/>
            <a:ext cx="1481520" cy="361297"/>
          </a:xfrm>
          <a:prstGeom prst="rect">
            <a:avLst/>
          </a:prstGeom>
        </p:spPr>
      </p:pic>
      <p:sp>
        <p:nvSpPr>
          <p:cNvPr id="21" name="Прямоугольник 20"/>
          <p:cNvSpPr/>
          <p:nvPr/>
        </p:nvSpPr>
        <p:spPr>
          <a:xfrm>
            <a:off x="428623" y="2268607"/>
            <a:ext cx="114397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solidFill>
                  <a:srgbClr val="445684"/>
                </a:solidFill>
              </a:rPr>
              <a:t>Термодинамические свойства смеси рассчитываются по вириальному уравнению состояния, транспортные определяются с помощью эмпирических корреляций, полученных из экспериментальных данных.</a:t>
            </a:r>
            <a:endParaRPr lang="en-US" dirty="0">
              <a:solidFill>
                <a:srgbClr val="445684"/>
              </a:solidFill>
            </a:endParaRPr>
          </a:p>
        </p:txBody>
      </p:sp>
      <p:sp>
        <p:nvSpPr>
          <p:cNvPr id="24" name="Скругленный прямоугольник 23"/>
          <p:cNvSpPr/>
          <p:nvPr/>
        </p:nvSpPr>
        <p:spPr>
          <a:xfrm>
            <a:off x="471638" y="3009900"/>
            <a:ext cx="6373662" cy="3024523"/>
          </a:xfrm>
          <a:prstGeom prst="roundRect">
            <a:avLst/>
          </a:prstGeom>
          <a:noFill/>
          <a:ln w="38100">
            <a:solidFill>
              <a:srgbClr val="4456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2082079" y="3016731"/>
            <a:ext cx="31527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rgbClr val="445684"/>
                </a:solidFill>
              </a:rPr>
              <a:t>Термодинамические свойства</a:t>
            </a:r>
            <a:endParaRPr lang="en-US" dirty="0">
              <a:solidFill>
                <a:srgbClr val="445684"/>
              </a:solidFill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471638" y="3392893"/>
            <a:ext cx="637366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ru-RU" dirty="0" smtClean="0">
                <a:solidFill>
                  <a:srgbClr val="445684"/>
                </a:solidFill>
              </a:rPr>
              <a:t>Плотность </a:t>
            </a:r>
            <a:r>
              <a:rPr lang="el-GR" dirty="0" smtClean="0">
                <a:solidFill>
                  <a:srgbClr val="445684"/>
                </a:solidFill>
              </a:rPr>
              <a:t>ρ</a:t>
            </a:r>
            <a:r>
              <a:rPr lang="ru-RU" dirty="0" smtClean="0">
                <a:solidFill>
                  <a:srgbClr val="445684"/>
                </a:solidFill>
              </a:rPr>
              <a:t>: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ru-RU" dirty="0" smtClean="0">
                <a:solidFill>
                  <a:srgbClr val="445684"/>
                </a:solidFill>
              </a:rPr>
              <a:t>Энтальпия </a:t>
            </a:r>
            <a:r>
              <a:rPr lang="en-US" dirty="0" smtClean="0">
                <a:solidFill>
                  <a:srgbClr val="445684"/>
                </a:solidFill>
              </a:rPr>
              <a:t>H</a:t>
            </a:r>
            <a:r>
              <a:rPr lang="ru-RU" dirty="0" smtClean="0">
                <a:solidFill>
                  <a:srgbClr val="445684"/>
                </a:solidFill>
              </a:rPr>
              <a:t>: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ru-RU" dirty="0" smtClean="0">
                <a:solidFill>
                  <a:srgbClr val="445684"/>
                </a:solidFill>
              </a:rPr>
              <a:t>Энтропия</a:t>
            </a:r>
            <a:r>
              <a:rPr lang="en-US" dirty="0" smtClean="0">
                <a:solidFill>
                  <a:srgbClr val="445684"/>
                </a:solidFill>
              </a:rPr>
              <a:t> S</a:t>
            </a:r>
            <a:r>
              <a:rPr lang="ru-RU" dirty="0" smtClean="0">
                <a:solidFill>
                  <a:srgbClr val="445684"/>
                </a:solidFill>
              </a:rPr>
              <a:t>:</a:t>
            </a:r>
            <a:endParaRPr lang="en-US" dirty="0" smtClean="0">
              <a:solidFill>
                <a:srgbClr val="445684"/>
              </a:solidFill>
            </a:endParaRP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ru-RU" dirty="0" smtClean="0">
                <a:solidFill>
                  <a:srgbClr val="445684"/>
                </a:solidFill>
              </a:rPr>
              <a:t>Теплоёмкость </a:t>
            </a:r>
            <a:r>
              <a:rPr lang="en-US" dirty="0" err="1" smtClean="0">
                <a:solidFill>
                  <a:srgbClr val="445684"/>
                </a:solidFill>
              </a:rPr>
              <a:t>Cp</a:t>
            </a:r>
            <a:r>
              <a:rPr lang="ru-RU" dirty="0" smtClean="0">
                <a:solidFill>
                  <a:srgbClr val="445684"/>
                </a:solidFill>
              </a:rPr>
              <a:t>:</a:t>
            </a:r>
            <a:endParaRPr lang="en-US" dirty="0">
              <a:solidFill>
                <a:srgbClr val="445684"/>
              </a:solidFill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972" y="3580553"/>
            <a:ext cx="1262497" cy="361297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5972" y="4123397"/>
            <a:ext cx="3107708" cy="398764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5972" y="4703708"/>
            <a:ext cx="4343189" cy="398764"/>
          </a:xfrm>
          <a:prstGeom prst="rect">
            <a:avLst/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7342" y="5287334"/>
            <a:ext cx="760167" cy="398764"/>
          </a:xfrm>
          <a:prstGeom prst="rect">
            <a:avLst/>
          </a:prstGeom>
        </p:spPr>
      </p:pic>
      <p:sp>
        <p:nvSpPr>
          <p:cNvPr id="29" name="Скругленный прямоугольник 28"/>
          <p:cNvSpPr/>
          <p:nvPr/>
        </p:nvSpPr>
        <p:spPr>
          <a:xfrm>
            <a:off x="7216794" y="3009899"/>
            <a:ext cx="4651571" cy="3024523"/>
          </a:xfrm>
          <a:prstGeom prst="roundRect">
            <a:avLst/>
          </a:prstGeom>
          <a:noFill/>
          <a:ln w="38100">
            <a:solidFill>
              <a:srgbClr val="4456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/>
          <p:cNvSpPr/>
          <p:nvPr/>
        </p:nvSpPr>
        <p:spPr>
          <a:xfrm>
            <a:off x="7966190" y="3019413"/>
            <a:ext cx="31527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solidFill>
                  <a:srgbClr val="445684"/>
                </a:solidFill>
              </a:rPr>
              <a:t>Транспортные свойства</a:t>
            </a:r>
            <a:endParaRPr lang="en-US" dirty="0">
              <a:solidFill>
                <a:srgbClr val="445684"/>
              </a:solidFill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7216794" y="3384490"/>
            <a:ext cx="46515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ru-RU" dirty="0" smtClean="0">
                <a:solidFill>
                  <a:srgbClr val="445684"/>
                </a:solidFill>
              </a:rPr>
              <a:t>Вязкость </a:t>
            </a:r>
            <a:r>
              <a:rPr lang="el-GR" dirty="0" smtClean="0">
                <a:solidFill>
                  <a:srgbClr val="445684"/>
                </a:solidFill>
              </a:rPr>
              <a:t>μ</a:t>
            </a:r>
            <a:r>
              <a:rPr lang="ru-RU" dirty="0" smtClean="0">
                <a:solidFill>
                  <a:srgbClr val="445684"/>
                </a:solidFill>
              </a:rPr>
              <a:t>: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ru-RU" dirty="0" smtClean="0">
                <a:solidFill>
                  <a:srgbClr val="445684"/>
                </a:solidFill>
              </a:rPr>
              <a:t>Теплопроводность </a:t>
            </a:r>
            <a:r>
              <a:rPr lang="el-GR" dirty="0" smtClean="0">
                <a:solidFill>
                  <a:srgbClr val="445684"/>
                </a:solidFill>
              </a:rPr>
              <a:t>λ</a:t>
            </a:r>
            <a:r>
              <a:rPr lang="ru-RU" dirty="0">
                <a:solidFill>
                  <a:srgbClr val="445684"/>
                </a:solidFill>
              </a:rPr>
              <a:t>:</a:t>
            </a:r>
            <a:endParaRPr lang="el-GR" dirty="0">
              <a:solidFill>
                <a:srgbClr val="445684"/>
              </a:solidFill>
            </a:endParaRPr>
          </a:p>
        </p:txBody>
      </p:sp>
      <p:pic>
        <p:nvPicPr>
          <p:cNvPr id="33" name="Рисунок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4251" y="4123396"/>
            <a:ext cx="1470743" cy="398764"/>
          </a:xfrm>
          <a:prstGeom prst="rect">
            <a:avLst/>
          </a:prstGeom>
        </p:spPr>
      </p:pic>
      <p:pic>
        <p:nvPicPr>
          <p:cNvPr id="35" name="Рисунок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26172" y="3694889"/>
            <a:ext cx="1548793" cy="19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284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+mn-lt"/>
              </a:rPr>
              <a:t>Постановка задачи </a:t>
            </a:r>
            <a:r>
              <a:rPr lang="ru-RU" dirty="0" smtClean="0">
                <a:latin typeface="+mn-lt"/>
              </a:rPr>
              <a:t>моделирования (рекуперация СО2)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17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7382489"/>
              </p:ext>
            </p:extLst>
          </p:nvPr>
        </p:nvGraphicFramePr>
        <p:xfrm>
          <a:off x="6839511" y="1295784"/>
          <a:ext cx="5200088" cy="3291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331"/>
                <a:gridCol w="3165823"/>
                <a:gridCol w="1673934"/>
              </a:tblGrid>
              <a:tr h="178799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№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График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Кол-во точек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99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+mn-lt"/>
                        </a:rPr>
                        <a:t>1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+mn-lt"/>
                        </a:rPr>
                        <a:t>Зависимость КПД цикла от давления на входе в турбину P₁ и давления на выходе из турбины P₇</a:t>
                      </a:r>
                      <a:endParaRPr lang="en-US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+mn-lt"/>
                        </a:rPr>
                        <a:t>144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99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+mn-lt"/>
                        </a:rPr>
                        <a:t>2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effectLst/>
                          <a:latin typeface="+mn-lt"/>
                        </a:rPr>
                        <a:t>Карта чувствительности КПД цикла к изменению ηₜ и ηₖ</a:t>
                      </a:r>
                      <a:endParaRPr lang="en-US" sz="1600" b="0" dirty="0" smtClean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+mn-lt"/>
                        </a:rPr>
                        <a:t>16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08"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effectLst/>
                        </a:rPr>
                        <a:t>3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effectLst/>
                        </a:rPr>
                        <a:t>Температурный профиль в рекуператоре для</a:t>
                      </a:r>
                      <a:r>
                        <a:rPr lang="ru-RU" sz="1600" baseline="0" dirty="0" smtClean="0">
                          <a:effectLst/>
                        </a:rPr>
                        <a:t> оценки </a:t>
                      </a:r>
                      <a:r>
                        <a:rPr lang="ru-RU" sz="1600" baseline="0" dirty="0" err="1" smtClean="0">
                          <a:effectLst/>
                        </a:rPr>
                        <a:t>пинч</a:t>
                      </a:r>
                      <a:r>
                        <a:rPr lang="ru-RU" sz="1600" baseline="0" dirty="0" smtClean="0">
                          <a:effectLst/>
                        </a:rPr>
                        <a:t> точки (</a:t>
                      </a:r>
                      <a:r>
                        <a:rPr lang="en-US" sz="1600" baseline="0" dirty="0" smtClean="0">
                          <a:effectLst/>
                        </a:rPr>
                        <a:t>5, 10, 15°C)</a:t>
                      </a:r>
                      <a:endParaRPr lang="en-US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effectLst/>
                        </a:rPr>
                        <a:t>45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08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+mn-lt"/>
                        </a:rPr>
                        <a:t>4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effectLst/>
                          <a:latin typeface="+mn-lt"/>
                        </a:rPr>
                        <a:t>Зависимость</a:t>
                      </a:r>
                      <a:r>
                        <a:rPr lang="ru-RU" sz="1600" b="0" baseline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600" b="0" dirty="0" smtClean="0">
                          <a:effectLst/>
                          <a:latin typeface="+mn-lt"/>
                        </a:rPr>
                        <a:t>КПД цикла от температуры на входе в реактор,</a:t>
                      </a:r>
                      <a:r>
                        <a:rPr lang="ru-RU" sz="1600" b="0" baseline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en-US" sz="1600" b="0" dirty="0" smtClean="0">
                          <a:effectLst/>
                          <a:latin typeface="+mn-lt"/>
                        </a:rPr>
                        <a:t>TR2</a:t>
                      </a:r>
                      <a:r>
                        <a:rPr lang="en-US" sz="1600" b="0" baseline="0" dirty="0" smtClean="0">
                          <a:effectLst/>
                          <a:latin typeface="+mn-lt"/>
                        </a:rPr>
                        <a:t> </a:t>
                      </a:r>
                      <a:endParaRPr lang="en-US" sz="1600" b="0" dirty="0" smtClean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+mn-lt"/>
                        </a:rPr>
                        <a:t>3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</a:tbl>
          </a:graphicData>
        </a:graphic>
      </p:graphicFrame>
      <p:sp>
        <p:nvSpPr>
          <p:cNvPr id="18" name="Прямоугольник 17"/>
          <p:cNvSpPr/>
          <p:nvPr/>
        </p:nvSpPr>
        <p:spPr>
          <a:xfrm>
            <a:off x="6795144" y="968956"/>
            <a:ext cx="336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u="sng" dirty="0" smtClean="0">
                <a:solidFill>
                  <a:srgbClr val="445684"/>
                </a:solidFill>
              </a:rPr>
              <a:t>Табл.2 – Необходимые графики</a:t>
            </a:r>
            <a:endParaRPr lang="ru-RU" b="1" u="sng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00126" y="978482"/>
            <a:ext cx="3861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u="sng" dirty="0" smtClean="0">
                <a:solidFill>
                  <a:srgbClr val="445684"/>
                </a:solidFill>
              </a:rPr>
              <a:t>Табл.1 – Фиксированные параметры</a:t>
            </a:r>
            <a:endParaRPr lang="ru-RU" b="1" u="sng" dirty="0"/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163348"/>
              </p:ext>
            </p:extLst>
          </p:nvPr>
        </p:nvGraphicFramePr>
        <p:xfrm>
          <a:off x="291909" y="1341400"/>
          <a:ext cx="639071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4203"/>
                <a:gridCol w="2046514"/>
              </a:tblGrid>
              <a:tr h="118605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Параметр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Значение</a:t>
                      </a:r>
                      <a:endParaRPr lang="ru-RU" sz="1600" dirty="0"/>
                    </a:p>
                  </a:txBody>
                  <a:tcPr/>
                </a:tc>
              </a:tr>
              <a:tr h="118605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Тепловая мощность реактора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2,75</a:t>
                      </a:r>
                      <a:r>
                        <a:rPr lang="en-US" sz="1600" dirty="0" smtClean="0"/>
                        <a:t> </a:t>
                      </a:r>
                      <a:r>
                        <a:rPr lang="ru-RU" sz="1600" dirty="0" smtClean="0"/>
                        <a:t>МВт</a:t>
                      </a:r>
                      <a:endParaRPr lang="ru-RU" sz="1600" dirty="0"/>
                    </a:p>
                  </a:txBody>
                  <a:tcPr/>
                </a:tc>
              </a:tr>
              <a:tr h="2307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Температура на выходе из РУ, </a:t>
                      </a:r>
                      <a:r>
                        <a:rPr lang="en-US" sz="1600" dirty="0" smtClean="0"/>
                        <a:t>TR1</a:t>
                      </a:r>
                      <a:endParaRPr lang="en-US" sz="1600" b="0" dirty="0" smtClean="0">
                        <a:effectLst/>
                        <a:latin typeface="quote-cjk-patc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730</a:t>
                      </a:r>
                      <a:r>
                        <a:rPr lang="en-US" sz="1600" dirty="0" smtClean="0"/>
                        <a:t> </a:t>
                      </a:r>
                      <a:r>
                        <a:rPr lang="ru-RU" sz="1600" dirty="0" smtClean="0">
                          <a:effectLst/>
                        </a:rPr>
                        <a:t>°</a:t>
                      </a:r>
                      <a:r>
                        <a:rPr lang="en-US" sz="1600" dirty="0" smtClean="0">
                          <a:effectLst/>
                        </a:rPr>
                        <a:t>C</a:t>
                      </a:r>
                      <a:endParaRPr lang="ru-RU" sz="1600" dirty="0"/>
                    </a:p>
                  </a:txBody>
                  <a:tcPr/>
                </a:tc>
              </a:tr>
              <a:tr h="1186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Температура на входе в турбину, </a:t>
                      </a:r>
                      <a:r>
                        <a:rPr lang="en-US" sz="1600" dirty="0" smtClean="0">
                          <a:effectLst/>
                        </a:rPr>
                        <a:t>T</a:t>
                      </a:r>
                      <a:r>
                        <a:rPr lang="en-US" sz="1600" baseline="-25000" dirty="0" smtClean="0">
                          <a:effectLst/>
                        </a:rPr>
                        <a:t>2</a:t>
                      </a:r>
                      <a:endParaRPr lang="en-US" sz="1600" b="0" baseline="-25000" dirty="0" smtClean="0">
                        <a:effectLst/>
                        <a:latin typeface="quote-cjk-patc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715</a:t>
                      </a:r>
                      <a:r>
                        <a:rPr lang="en-US" sz="1600" dirty="0" smtClean="0"/>
                        <a:t> </a:t>
                      </a:r>
                      <a:r>
                        <a:rPr lang="ru-RU" sz="1600" dirty="0" smtClean="0">
                          <a:effectLst/>
                        </a:rPr>
                        <a:t>°</a:t>
                      </a:r>
                      <a:r>
                        <a:rPr lang="en-US" sz="1600" dirty="0" smtClean="0">
                          <a:effectLst/>
                        </a:rPr>
                        <a:t>C</a:t>
                      </a:r>
                      <a:endParaRPr lang="ru-RU" sz="1600" dirty="0"/>
                    </a:p>
                  </a:txBody>
                  <a:tcPr/>
                </a:tc>
              </a:tr>
              <a:tr h="1976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Тепловые потери в РТО</a:t>
                      </a:r>
                      <a:endParaRPr lang="en-US" sz="16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1%</a:t>
                      </a:r>
                      <a:endParaRPr lang="ru-RU" sz="1600" dirty="0"/>
                    </a:p>
                  </a:txBody>
                  <a:tcPr/>
                </a:tc>
              </a:tr>
              <a:tr h="1976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Температура перед компрессором</a:t>
                      </a:r>
                      <a:endParaRPr lang="en-US" sz="16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35</a:t>
                      </a:r>
                      <a:r>
                        <a:rPr lang="en-US" sz="1600" dirty="0" smtClean="0"/>
                        <a:t> </a:t>
                      </a:r>
                      <a:r>
                        <a:rPr lang="ru-RU" sz="1600" dirty="0" smtClean="0">
                          <a:effectLst/>
                        </a:rPr>
                        <a:t>°</a:t>
                      </a:r>
                      <a:r>
                        <a:rPr lang="en-US" sz="1600" dirty="0" smtClean="0">
                          <a:effectLst/>
                        </a:rPr>
                        <a:t>C</a:t>
                      </a:r>
                      <a:endParaRPr lang="ru-RU" sz="1600" dirty="0"/>
                    </a:p>
                  </a:txBody>
                  <a:tcPr/>
                </a:tc>
              </a:tr>
              <a:tr h="1976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КПД турбины, %</a:t>
                      </a:r>
                      <a:endParaRPr lang="en-US" sz="16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90</a:t>
                      </a:r>
                      <a:endParaRPr lang="ru-RU" sz="1600" dirty="0"/>
                    </a:p>
                  </a:txBody>
                  <a:tcPr/>
                </a:tc>
              </a:tr>
              <a:tr h="1976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КПД компрессора, %</a:t>
                      </a:r>
                      <a:endParaRPr lang="en-US" sz="16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80</a:t>
                      </a:r>
                      <a:endParaRPr lang="ru-RU" sz="1600" dirty="0"/>
                    </a:p>
                  </a:txBody>
                  <a:tcPr/>
                </a:tc>
              </a:tr>
              <a:tr h="1976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aseline="0" dirty="0" err="1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Недогрев</a:t>
                      </a:r>
                      <a:r>
                        <a:rPr lang="ru-RU" sz="16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в ВТО/НТО</a:t>
                      </a:r>
                      <a:endParaRPr lang="en-US" sz="16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5 </a:t>
                      </a:r>
                      <a:r>
                        <a:rPr lang="ru-RU" sz="1600" dirty="0" smtClean="0">
                          <a:effectLst/>
                        </a:rPr>
                        <a:t>°</a:t>
                      </a:r>
                      <a:r>
                        <a:rPr lang="en-US" sz="1600" dirty="0" smtClean="0">
                          <a:effectLst/>
                        </a:rPr>
                        <a:t>C</a:t>
                      </a:r>
                      <a:endParaRPr lang="ru-RU" sz="1600" dirty="0" smtClean="0"/>
                    </a:p>
                  </a:txBody>
                  <a:tcPr/>
                </a:tc>
              </a:tr>
              <a:tr h="1976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Потери давления по холодному потоку</a:t>
                      </a:r>
                      <a:endParaRPr lang="en-US" sz="16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2%</a:t>
                      </a:r>
                    </a:p>
                  </a:txBody>
                  <a:tcPr/>
                </a:tc>
              </a:tr>
              <a:tr h="197675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Потери давления по холодному потоку</a:t>
                      </a:r>
                      <a:endParaRPr lang="en-US" sz="16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3%</a:t>
                      </a:r>
                    </a:p>
                  </a:txBody>
                  <a:tcPr/>
                </a:tc>
              </a:tr>
              <a:tr h="32453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Рабочее тело второго контура</a:t>
                      </a:r>
                      <a:endParaRPr lang="en-US" sz="16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СО</a:t>
                      </a:r>
                      <a:r>
                        <a:rPr lang="ru-RU" sz="1600" baseline="-25000" dirty="0" smtClean="0"/>
                        <a:t>2</a:t>
                      </a:r>
                      <a:endParaRPr lang="ru-RU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6768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150023"/>
              </p:ext>
            </p:extLst>
          </p:nvPr>
        </p:nvGraphicFramePr>
        <p:xfrm>
          <a:off x="348973" y="1310170"/>
          <a:ext cx="11351337" cy="4601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5663"/>
                <a:gridCol w="3027324"/>
                <a:gridCol w="2338761"/>
                <a:gridCol w="2370400"/>
                <a:gridCol w="1199189"/>
              </a:tblGrid>
              <a:tr h="448667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Уровень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Параметр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</a:rPr>
                        <a:t>Диапазон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Шаг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</a:rPr>
                        <a:t>Кол-во точек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</a:tr>
              <a:tr h="448667">
                <a:tc rowSpan="4"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Внешняя сетка (полный перебор)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Давление на входе в турбину </a:t>
                      </a:r>
                      <a:r>
                        <a:rPr lang="ru-RU" sz="1400" dirty="0" smtClean="0">
                          <a:effectLst/>
                        </a:rPr>
                        <a:t>P1​</a:t>
                      </a:r>
                      <a:r>
                        <a:rPr lang="ru-RU" sz="1400" dirty="0">
                          <a:effectLst/>
                        </a:rPr>
                        <a:t>, МПа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20-35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16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/>
                </a:tc>
              </a:tr>
              <a:tr h="448667">
                <a:tc v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Давление на выходе из турбины </a:t>
                      </a:r>
                      <a:r>
                        <a:rPr lang="ru-RU" sz="1400" dirty="0" smtClean="0">
                          <a:effectLst/>
                        </a:rPr>
                        <a:t>P7​</a:t>
                      </a:r>
                      <a:r>
                        <a:rPr lang="ru-RU" sz="1400" dirty="0">
                          <a:effectLst/>
                        </a:rPr>
                        <a:t>, МПа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8-12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0,5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9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/>
                </a:tc>
              </a:tr>
              <a:tr h="448667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 smtClean="0">
                          <a:effectLst/>
                          <a:latin typeface="+mn-lt"/>
                        </a:rPr>
                        <a:t>Температура</a:t>
                      </a:r>
                      <a:r>
                        <a:rPr lang="ru-RU" sz="1400" b="0" baseline="0" dirty="0" smtClean="0">
                          <a:effectLst/>
                          <a:latin typeface="+mn-lt"/>
                        </a:rPr>
                        <a:t> теплоносителя на входе в реактор </a:t>
                      </a:r>
                      <a:r>
                        <a:rPr lang="en-US" sz="1400" b="0" baseline="0" dirty="0" smtClean="0">
                          <a:effectLst/>
                          <a:latin typeface="+mn-lt"/>
                        </a:rPr>
                        <a:t>TR2</a:t>
                      </a:r>
                      <a:r>
                        <a:rPr lang="ru-RU" sz="1400" b="0" baseline="0" dirty="0" smtClean="0">
                          <a:effectLst/>
                          <a:latin typeface="+mn-lt"/>
                        </a:rPr>
                        <a:t>, </a:t>
                      </a:r>
                      <a:r>
                        <a:rPr lang="ru-RU" sz="1400" dirty="0" smtClean="0">
                          <a:effectLst/>
                        </a:rPr>
                        <a:t>°C</a:t>
                      </a:r>
                      <a:endParaRPr lang="ru-RU" sz="14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 smtClean="0">
                          <a:effectLst/>
                          <a:latin typeface="+mn-lt"/>
                        </a:rPr>
                        <a:t>350-550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 smtClean="0">
                          <a:effectLst/>
                          <a:latin typeface="+mn-lt"/>
                        </a:rPr>
                        <a:t>100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 smtClean="0">
                          <a:effectLst/>
                          <a:latin typeface="+mn-lt"/>
                        </a:rPr>
                        <a:t>3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52174" marR="31305" marT="32609" marB="32609" anchor="ctr"/>
                </a:tc>
              </a:tr>
              <a:tr h="258281">
                <a:tc v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Итого внешняя сетка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effectLst/>
                        </a:rPr>
                        <a:t>432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/>
                </a:tc>
              </a:tr>
              <a:tr h="258281">
                <a:tc rowSpan="7"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Внутренняя сетка (для оптимальной точки)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Выбор </a:t>
                      </a:r>
                      <a:r>
                        <a:rPr lang="ru-RU" sz="1400" dirty="0">
                          <a:effectLst/>
                        </a:rPr>
                        <a:t>оптимальной точки (</a:t>
                      </a:r>
                      <a:r>
                        <a:rPr lang="ru-RU" sz="1400" dirty="0" smtClean="0">
                          <a:effectLst/>
                        </a:rPr>
                        <a:t>P1​</a:t>
                      </a:r>
                      <a:r>
                        <a:rPr lang="ru-RU" sz="1400" dirty="0">
                          <a:effectLst/>
                        </a:rPr>
                        <a:t>, </a:t>
                      </a:r>
                      <a:r>
                        <a:rPr lang="ru-RU" sz="1400" dirty="0" smtClean="0">
                          <a:effectLst/>
                        </a:rPr>
                        <a:t>P7​)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58281">
                <a:tc v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КПД турбины </a:t>
                      </a:r>
                      <a:r>
                        <a:rPr lang="el-GR" sz="1400" dirty="0">
                          <a:effectLst/>
                        </a:rPr>
                        <a:t>η</a:t>
                      </a:r>
                      <a:r>
                        <a:rPr lang="en-US" sz="1400" baseline="-25000" dirty="0" smtClean="0">
                          <a:effectLst/>
                        </a:rPr>
                        <a:t>t</a:t>
                      </a:r>
                      <a:r>
                        <a:rPr lang="en-US" sz="1400" dirty="0" smtClean="0">
                          <a:effectLst/>
                        </a:rPr>
                        <a:t>​</a:t>
                      </a:r>
                      <a:r>
                        <a:rPr lang="en-US" sz="1400" dirty="0">
                          <a:effectLst/>
                        </a:rPr>
                        <a:t>, %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75-90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5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4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258281">
                <a:tc v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КПД компрессора </a:t>
                      </a:r>
                      <a:r>
                        <a:rPr lang="el-GR" sz="1400" dirty="0">
                          <a:effectLst/>
                        </a:rPr>
                        <a:t>η</a:t>
                      </a:r>
                      <a:r>
                        <a:rPr lang="en-US" sz="1400" baseline="-25000" dirty="0" smtClean="0">
                          <a:effectLst/>
                        </a:rPr>
                        <a:t>c</a:t>
                      </a:r>
                      <a:r>
                        <a:rPr lang="en-US" sz="1400" dirty="0" smtClean="0">
                          <a:effectLst/>
                        </a:rPr>
                        <a:t>, </a:t>
                      </a:r>
                      <a:r>
                        <a:rPr lang="en-US" sz="1400" dirty="0">
                          <a:effectLst/>
                        </a:rPr>
                        <a:t>%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70-80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5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4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258281">
                <a:tc v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Потери давления </a:t>
                      </a:r>
                      <a:r>
                        <a:rPr lang="ru-RU" sz="1400" dirty="0" smtClean="0">
                          <a:effectLst/>
                        </a:rPr>
                        <a:t>Δ</a:t>
                      </a:r>
                      <a:r>
                        <a:rPr lang="en-US" sz="1400" dirty="0" smtClean="0">
                          <a:effectLst/>
                        </a:rPr>
                        <a:t>p</a:t>
                      </a:r>
                      <a:r>
                        <a:rPr lang="ru-RU" sz="1400" baseline="-25000" dirty="0" smtClean="0">
                          <a:effectLst/>
                        </a:rPr>
                        <a:t>гор</a:t>
                      </a:r>
                      <a:r>
                        <a:rPr lang="ru-RU" sz="1400" dirty="0" smtClean="0">
                          <a:effectLst/>
                        </a:rPr>
                        <a:t>, %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1-3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3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258281">
                <a:tc v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Потери давления </a:t>
                      </a:r>
                      <a:r>
                        <a:rPr lang="ru-RU" sz="1400" dirty="0" smtClean="0">
                          <a:effectLst/>
                        </a:rPr>
                        <a:t>Δ</a:t>
                      </a:r>
                      <a:r>
                        <a:rPr lang="en-US" sz="1400" dirty="0" smtClean="0">
                          <a:effectLst/>
                        </a:rPr>
                        <a:t>p</a:t>
                      </a:r>
                      <a:r>
                        <a:rPr lang="ru-RU" sz="1400" baseline="-25000" dirty="0" err="1" smtClean="0">
                          <a:effectLst/>
                        </a:rPr>
                        <a:t>хол</a:t>
                      </a:r>
                      <a:r>
                        <a:rPr lang="ru-RU" sz="1400" dirty="0" smtClean="0">
                          <a:effectLst/>
                        </a:rPr>
                        <a:t>, %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2-5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4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448667">
                <a:tc v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Минимальный температурный напор </a:t>
                      </a:r>
                      <a:r>
                        <a:rPr lang="ru-RU" sz="1400" dirty="0" smtClean="0">
                          <a:effectLst/>
                        </a:rPr>
                        <a:t>ΔT, </a:t>
                      </a:r>
                      <a:r>
                        <a:rPr lang="ru-RU" sz="1400" dirty="0">
                          <a:effectLst/>
                        </a:rPr>
                        <a:t>°C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5-15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5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3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>
                    <a:solidFill>
                      <a:srgbClr val="00B0F0"/>
                    </a:solidFill>
                  </a:tcPr>
                </a:tc>
              </a:tr>
              <a:tr h="258281">
                <a:tc v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Итого внутренняя сетка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effectLst/>
                        </a:rPr>
                        <a:t>31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/>
                </a:tc>
              </a:tr>
              <a:tr h="258281">
                <a:tc gridSpan="4"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Общее количество расчётных точек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 h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effectLst/>
                        </a:rPr>
                        <a:t>463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/>
                </a:tc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259638" y="926193"/>
            <a:ext cx="60551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u="sng" dirty="0" smtClean="0">
                <a:solidFill>
                  <a:srgbClr val="445684"/>
                </a:solidFill>
              </a:rPr>
              <a:t>Табл.3 – Варьируемые параметры рекуперативного цикла</a:t>
            </a:r>
            <a:endParaRPr lang="ru-RU" b="1" u="sng" dirty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624038" y="252853"/>
            <a:ext cx="10641530" cy="4801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2800" kern="1200" dirty="0">
                <a:solidFill>
                  <a:srgbClr val="44568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smtClean="0">
                <a:latin typeface="+mn-lt"/>
              </a:rPr>
              <a:t>Постановка задачи моделирования (рекуперация СО2)</a:t>
            </a:r>
            <a:endParaRPr lang="ru-RU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2043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7404" y="179283"/>
            <a:ext cx="10641530" cy="480131"/>
          </a:xfrm>
        </p:spPr>
        <p:txBody>
          <a:bodyPr/>
          <a:lstStyle/>
          <a:p>
            <a:r>
              <a:rPr lang="ru-RU" dirty="0">
                <a:latin typeface="+mn-lt"/>
              </a:rPr>
              <a:t>Постановка задачи </a:t>
            </a:r>
            <a:r>
              <a:rPr lang="ru-RU" dirty="0" smtClean="0">
                <a:latin typeface="+mn-lt"/>
              </a:rPr>
              <a:t>моделирования (рекуперация </a:t>
            </a:r>
            <a:r>
              <a:rPr lang="en-US" dirty="0" smtClean="0">
                <a:latin typeface="+mn-lt"/>
              </a:rPr>
              <a:t>He-</a:t>
            </a:r>
            <a:r>
              <a:rPr lang="en-US" dirty="0" err="1" smtClean="0">
                <a:latin typeface="+mn-lt"/>
              </a:rPr>
              <a:t>Xe</a:t>
            </a:r>
            <a:r>
              <a:rPr lang="ru-RU" dirty="0" smtClean="0">
                <a:latin typeface="+mn-lt"/>
              </a:rPr>
              <a:t>)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17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4579081"/>
              </p:ext>
            </p:extLst>
          </p:nvPr>
        </p:nvGraphicFramePr>
        <p:xfrm>
          <a:off x="6839511" y="1295784"/>
          <a:ext cx="5200088" cy="3608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331"/>
                <a:gridCol w="3165823"/>
                <a:gridCol w="1673934"/>
              </a:tblGrid>
              <a:tr h="178799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№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График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Кол-во точек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99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+mn-lt"/>
                        </a:rPr>
                        <a:t>1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+mn-lt"/>
                        </a:rPr>
                        <a:t>Зависимость КПД цикла от давления на входе в турбину и давления на выходе из турбины</a:t>
                      </a:r>
                      <a:endParaRPr lang="en-US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+mn-lt"/>
                        </a:rPr>
                        <a:t>336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99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+mn-lt"/>
                        </a:rPr>
                        <a:t>2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effectLst/>
                          <a:latin typeface="+mn-lt"/>
                        </a:rPr>
                        <a:t>Карта чувствительности КПД цикла к изменению ηₜ и ηₖ</a:t>
                      </a:r>
                      <a:endParaRPr lang="en-US" sz="1600" b="0" dirty="0" smtClean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+mn-lt"/>
                        </a:rPr>
                        <a:t>12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08"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effectLst/>
                        </a:rPr>
                        <a:t>3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effectLst/>
                        </a:rPr>
                        <a:t>Температурный профиль в рекуператоре для</a:t>
                      </a:r>
                      <a:r>
                        <a:rPr lang="ru-RU" sz="1600" baseline="0" dirty="0" smtClean="0">
                          <a:effectLst/>
                        </a:rPr>
                        <a:t> оценки </a:t>
                      </a:r>
                      <a:r>
                        <a:rPr lang="ru-RU" sz="1600" baseline="0" dirty="0" err="1" smtClean="0">
                          <a:effectLst/>
                        </a:rPr>
                        <a:t>пинч</a:t>
                      </a:r>
                      <a:r>
                        <a:rPr lang="ru-RU" sz="1600" baseline="0" dirty="0" smtClean="0">
                          <a:effectLst/>
                        </a:rPr>
                        <a:t> точки (</a:t>
                      </a:r>
                      <a:r>
                        <a:rPr lang="en-US" sz="1600" baseline="0" dirty="0" smtClean="0">
                          <a:effectLst/>
                        </a:rPr>
                        <a:t>5, 10, 15°C)</a:t>
                      </a:r>
                      <a:endParaRPr lang="en-US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effectLst/>
                        </a:rPr>
                        <a:t>45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08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+mn-lt"/>
                        </a:rPr>
                        <a:t>4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effectLst/>
                          <a:latin typeface="+mn-lt"/>
                        </a:rPr>
                        <a:t>Зависимость</a:t>
                      </a:r>
                      <a:r>
                        <a:rPr lang="ru-RU" sz="1600" b="0" baseline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600" b="0" dirty="0" smtClean="0">
                          <a:effectLst/>
                          <a:latin typeface="+mn-lt"/>
                        </a:rPr>
                        <a:t>КПД цикла от температуры на входе в реактор и температуры перед</a:t>
                      </a:r>
                      <a:r>
                        <a:rPr lang="ru-RU" sz="1600" b="0" baseline="0" dirty="0" smtClean="0">
                          <a:effectLst/>
                          <a:latin typeface="+mn-lt"/>
                        </a:rPr>
                        <a:t> компрессором</a:t>
                      </a:r>
                      <a:endParaRPr lang="en-US" sz="1600" b="0" dirty="0" smtClean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+mn-lt"/>
                        </a:rPr>
                        <a:t>12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08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+mn-lt"/>
                        </a:rPr>
                        <a:t>5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effectLst/>
                          <a:latin typeface="+mn-lt"/>
                        </a:rPr>
                        <a:t>Зависимость КПД цикла от</a:t>
                      </a:r>
                      <a:r>
                        <a:rPr lang="ru-RU" sz="1600" b="0" baseline="0" dirty="0" smtClean="0">
                          <a:effectLst/>
                          <a:latin typeface="+mn-lt"/>
                        </a:rPr>
                        <a:t> доли </a:t>
                      </a:r>
                      <a:r>
                        <a:rPr lang="en-US" sz="1600" b="0" baseline="0" dirty="0" err="1" smtClean="0">
                          <a:effectLst/>
                          <a:latin typeface="+mn-lt"/>
                        </a:rPr>
                        <a:t>Xe</a:t>
                      </a:r>
                      <a:endParaRPr lang="en-US" sz="1600" b="0" dirty="0" smtClean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+mn-lt"/>
                        </a:rPr>
                        <a:t>7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</a:tbl>
          </a:graphicData>
        </a:graphic>
      </p:graphicFrame>
      <p:sp>
        <p:nvSpPr>
          <p:cNvPr id="18" name="Прямоугольник 17"/>
          <p:cNvSpPr/>
          <p:nvPr/>
        </p:nvSpPr>
        <p:spPr>
          <a:xfrm>
            <a:off x="6795144" y="968956"/>
            <a:ext cx="336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u="sng" dirty="0" smtClean="0">
                <a:solidFill>
                  <a:srgbClr val="445684"/>
                </a:solidFill>
              </a:rPr>
              <a:t>Табл.2 – Необходимые графики</a:t>
            </a:r>
            <a:endParaRPr lang="ru-RU" b="1" u="sng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00126" y="978482"/>
            <a:ext cx="3861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u="sng" dirty="0" smtClean="0">
                <a:solidFill>
                  <a:srgbClr val="445684"/>
                </a:solidFill>
              </a:rPr>
              <a:t>Табл.1 – Фиксированные параметры</a:t>
            </a:r>
            <a:endParaRPr lang="ru-RU" b="1" u="sng" dirty="0"/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88761"/>
              </p:ext>
            </p:extLst>
          </p:nvPr>
        </p:nvGraphicFramePr>
        <p:xfrm>
          <a:off x="291909" y="1341400"/>
          <a:ext cx="6390717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4203"/>
                <a:gridCol w="2046514"/>
              </a:tblGrid>
              <a:tr h="118605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Параметр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Значение</a:t>
                      </a:r>
                      <a:endParaRPr lang="ru-RU" sz="1600" dirty="0"/>
                    </a:p>
                  </a:txBody>
                  <a:tcPr/>
                </a:tc>
              </a:tr>
              <a:tr h="118605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Тепловая мощность реактора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2.75</a:t>
                      </a:r>
                      <a:r>
                        <a:rPr lang="en-US" sz="1600" dirty="0" smtClean="0"/>
                        <a:t> </a:t>
                      </a:r>
                      <a:r>
                        <a:rPr lang="ru-RU" sz="1600" dirty="0" smtClean="0"/>
                        <a:t>МВт</a:t>
                      </a:r>
                      <a:endParaRPr lang="ru-RU" sz="1600" dirty="0"/>
                    </a:p>
                  </a:txBody>
                  <a:tcPr/>
                </a:tc>
              </a:tr>
              <a:tr h="2307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Температура на выходе из РУ, </a:t>
                      </a:r>
                      <a:r>
                        <a:rPr lang="en-US" sz="1600" dirty="0" smtClean="0"/>
                        <a:t>TR1</a:t>
                      </a:r>
                      <a:endParaRPr lang="en-US" sz="1600" b="0" dirty="0" smtClean="0">
                        <a:effectLst/>
                        <a:latin typeface="quote-cjk-patc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1060 </a:t>
                      </a:r>
                      <a:r>
                        <a:rPr lang="ru-RU" sz="1600" dirty="0" smtClean="0">
                          <a:effectLst/>
                        </a:rPr>
                        <a:t>°</a:t>
                      </a:r>
                      <a:r>
                        <a:rPr lang="en-US" sz="1600" dirty="0" smtClean="0">
                          <a:effectLst/>
                        </a:rPr>
                        <a:t>C</a:t>
                      </a:r>
                      <a:endParaRPr lang="ru-RU" sz="1600" dirty="0"/>
                    </a:p>
                  </a:txBody>
                  <a:tcPr/>
                </a:tc>
              </a:tr>
              <a:tr h="1976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КПД турбины, %</a:t>
                      </a:r>
                      <a:endParaRPr lang="en-US" sz="16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90</a:t>
                      </a:r>
                      <a:endParaRPr lang="ru-RU" sz="1600" dirty="0"/>
                    </a:p>
                  </a:txBody>
                  <a:tcPr/>
                </a:tc>
              </a:tr>
              <a:tr h="1976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КПД компрессора, %</a:t>
                      </a:r>
                      <a:endParaRPr lang="en-US" sz="16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83</a:t>
                      </a:r>
                      <a:endParaRPr lang="ru-RU" sz="1600" dirty="0"/>
                    </a:p>
                  </a:txBody>
                  <a:tcPr/>
                </a:tc>
              </a:tr>
              <a:tr h="1976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aseline="0" dirty="0" err="1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Недогрев</a:t>
                      </a:r>
                      <a:r>
                        <a:rPr lang="ru-RU" sz="16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в ВТО/НТО</a:t>
                      </a:r>
                      <a:endParaRPr lang="en-US" sz="16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5 </a:t>
                      </a:r>
                      <a:r>
                        <a:rPr lang="ru-RU" sz="1600" dirty="0" smtClean="0">
                          <a:effectLst/>
                        </a:rPr>
                        <a:t>°</a:t>
                      </a:r>
                      <a:r>
                        <a:rPr lang="en-US" sz="1600" dirty="0" smtClean="0">
                          <a:effectLst/>
                        </a:rPr>
                        <a:t>C</a:t>
                      </a:r>
                      <a:endParaRPr lang="ru-RU" sz="1600" dirty="0" smtClean="0"/>
                    </a:p>
                  </a:txBody>
                  <a:tcPr/>
                </a:tc>
              </a:tr>
              <a:tr h="1976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Потери давления в рекуператоре</a:t>
                      </a:r>
                      <a:endParaRPr lang="en-US" sz="16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1.5</a:t>
                      </a:r>
                      <a:r>
                        <a:rPr lang="ru-RU" sz="1600" dirty="0" smtClean="0"/>
                        <a:t>%</a:t>
                      </a:r>
                      <a:endParaRPr lang="ru-RU" sz="1600" dirty="0" smtClean="0"/>
                    </a:p>
                  </a:txBody>
                  <a:tcPr/>
                </a:tc>
              </a:tr>
              <a:tr h="32453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Рабочее тело первого контура</a:t>
                      </a:r>
                      <a:endParaRPr lang="en-US" sz="16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He-</a:t>
                      </a:r>
                      <a:r>
                        <a:rPr lang="en-US" sz="1600" dirty="0" err="1" smtClean="0"/>
                        <a:t>Xe</a:t>
                      </a:r>
                      <a:endParaRPr lang="ru-RU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625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697161"/>
              </p:ext>
            </p:extLst>
          </p:nvPr>
        </p:nvGraphicFramePr>
        <p:xfrm>
          <a:off x="348973" y="1310170"/>
          <a:ext cx="11351337" cy="4898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5663"/>
                <a:gridCol w="3027324"/>
                <a:gridCol w="2338761"/>
                <a:gridCol w="2370400"/>
                <a:gridCol w="1199189"/>
              </a:tblGrid>
              <a:tr h="448667"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Уровень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Параметр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</a:rPr>
                        <a:t>Диапазон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Шаг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</a:rPr>
                        <a:t>Кол-во точек</a:t>
                      </a:r>
                      <a:endParaRPr lang="ru-RU" sz="1400" b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</a:tr>
              <a:tr h="448667">
                <a:tc rowSpan="6"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Внешняя сетка (полный перебор)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Давление на входе в </a:t>
                      </a:r>
                      <a:r>
                        <a:rPr lang="ru-RU" sz="1400" dirty="0" smtClean="0">
                          <a:effectLst/>
                        </a:rPr>
                        <a:t>турбину​</a:t>
                      </a:r>
                      <a:r>
                        <a:rPr lang="ru-RU" sz="1400" dirty="0">
                          <a:effectLst/>
                        </a:rPr>
                        <a:t>, МПа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effectLst/>
                          <a:latin typeface="+mn-lt"/>
                        </a:rPr>
                        <a:t>3-5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effectLst/>
                          <a:latin typeface="+mn-lt"/>
                        </a:rPr>
                        <a:t>0.1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effectLst/>
                          <a:latin typeface="+mn-lt"/>
                        </a:rPr>
                        <a:t>21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/>
                </a:tc>
              </a:tr>
              <a:tr h="448667">
                <a:tc v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Давление на выходе из </a:t>
                      </a:r>
                      <a:r>
                        <a:rPr lang="ru-RU" sz="1400" dirty="0" smtClean="0">
                          <a:effectLst/>
                        </a:rPr>
                        <a:t>турбины​</a:t>
                      </a:r>
                      <a:r>
                        <a:rPr lang="ru-RU" sz="1400" dirty="0">
                          <a:effectLst/>
                        </a:rPr>
                        <a:t>, МПа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effectLst/>
                          <a:latin typeface="+mn-lt"/>
                        </a:rPr>
                        <a:t>0.5-2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0</a:t>
                      </a:r>
                      <a:r>
                        <a:rPr lang="en-US" sz="1400" dirty="0" smtClean="0">
                          <a:effectLst/>
                        </a:rPr>
                        <a:t>.1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effectLst/>
                          <a:latin typeface="+mn-lt"/>
                        </a:rPr>
                        <a:t>16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/>
                </a:tc>
              </a:tr>
              <a:tr h="448667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 smtClean="0">
                          <a:effectLst/>
                          <a:latin typeface="+mn-lt"/>
                        </a:rPr>
                        <a:t>Температура</a:t>
                      </a:r>
                      <a:r>
                        <a:rPr lang="ru-RU" sz="1400" b="0" baseline="0" dirty="0" smtClean="0">
                          <a:effectLst/>
                          <a:latin typeface="+mn-lt"/>
                        </a:rPr>
                        <a:t> теплоносителя на входе в реактор, </a:t>
                      </a:r>
                      <a:r>
                        <a:rPr lang="ru-RU" sz="1400" dirty="0" smtClean="0">
                          <a:effectLst/>
                        </a:rPr>
                        <a:t>°C</a:t>
                      </a:r>
                      <a:endParaRPr lang="ru-RU" sz="14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effectLst/>
                          <a:latin typeface="+mn-lt"/>
                        </a:rPr>
                        <a:t>6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50-</a:t>
                      </a:r>
                      <a:r>
                        <a:rPr lang="en-US" sz="1400" b="0" dirty="0" smtClean="0">
                          <a:effectLst/>
                          <a:latin typeface="+mn-lt"/>
                        </a:rPr>
                        <a:t>80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0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effectLst/>
                          <a:latin typeface="+mn-lt"/>
                        </a:rPr>
                        <a:t>5</a:t>
                      </a:r>
                      <a:r>
                        <a:rPr lang="ru-RU" sz="1400" b="0" dirty="0" smtClean="0">
                          <a:effectLst/>
                          <a:latin typeface="+mn-lt"/>
                        </a:rPr>
                        <a:t>0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effectLst/>
                          <a:latin typeface="+mn-lt"/>
                        </a:rPr>
                        <a:t>4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52174" marR="31305" marT="32609" marB="32609" anchor="ctr"/>
                </a:tc>
              </a:tr>
              <a:tr h="448667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 smtClean="0">
                          <a:effectLst/>
                          <a:latin typeface="+mn-lt"/>
                        </a:rPr>
                        <a:t>Температура</a:t>
                      </a:r>
                      <a:r>
                        <a:rPr lang="ru-RU" sz="1400" b="0" baseline="0" dirty="0" smtClean="0">
                          <a:effectLst/>
                          <a:latin typeface="+mn-lt"/>
                        </a:rPr>
                        <a:t> перед компрессором</a:t>
                      </a:r>
                      <a:endParaRPr lang="ru-RU" sz="14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effectLst/>
                          <a:latin typeface="+mn-lt"/>
                        </a:rPr>
                        <a:t>100-150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effectLst/>
                          <a:latin typeface="+mn-lt"/>
                        </a:rPr>
                        <a:t>25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effectLst/>
                          <a:latin typeface="+mn-lt"/>
                        </a:rPr>
                        <a:t>3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52174" marR="31305" marT="32609" marB="32609" anchor="ctr"/>
                </a:tc>
              </a:tr>
              <a:tr h="448667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 smtClean="0">
                          <a:effectLst/>
                          <a:latin typeface="+mn-lt"/>
                        </a:rPr>
                        <a:t>Мольная</a:t>
                      </a:r>
                      <a:r>
                        <a:rPr lang="ru-RU" sz="1400" b="0" baseline="0" dirty="0" smtClean="0">
                          <a:effectLst/>
                          <a:latin typeface="+mn-lt"/>
                        </a:rPr>
                        <a:t> доля </a:t>
                      </a:r>
                      <a:r>
                        <a:rPr lang="en-US" sz="1400" b="0" baseline="0" dirty="0" err="1" smtClean="0">
                          <a:effectLst/>
                          <a:latin typeface="+mn-lt"/>
                        </a:rPr>
                        <a:t>Xe</a:t>
                      </a:r>
                      <a:r>
                        <a:rPr lang="en-US" sz="1400" b="0" baseline="0" dirty="0" smtClean="0">
                          <a:effectLst/>
                          <a:latin typeface="+mn-lt"/>
                        </a:rPr>
                        <a:t>, %</a:t>
                      </a:r>
                      <a:endParaRPr lang="ru-RU" sz="1400" b="0" dirty="0" smtClean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effectLst/>
                          <a:latin typeface="+mn-lt"/>
                        </a:rPr>
                        <a:t>0-30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effectLst/>
                          <a:latin typeface="+mn-lt"/>
                        </a:rPr>
                        <a:t>5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52174" marR="52174" marT="32609" marB="3260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effectLst/>
                          <a:latin typeface="+mn-lt"/>
                        </a:rPr>
                        <a:t>7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52174" marR="31305" marT="32609" marB="32609" anchor="ctr"/>
                </a:tc>
              </a:tr>
              <a:tr h="258281">
                <a:tc v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Итого внешняя сетка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effectLst/>
                          <a:latin typeface="+mn-lt"/>
                        </a:rPr>
                        <a:t>28224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/>
                </a:tc>
              </a:tr>
              <a:tr h="258281">
                <a:tc rowSpan="5"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Внутренняя сетка (для оптимальной точки)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КПД турбины </a:t>
                      </a:r>
                      <a:r>
                        <a:rPr lang="el-GR" sz="1400" dirty="0">
                          <a:effectLst/>
                        </a:rPr>
                        <a:t>η</a:t>
                      </a:r>
                      <a:r>
                        <a:rPr lang="en-US" sz="1400" baseline="-25000" dirty="0" smtClean="0">
                          <a:effectLst/>
                        </a:rPr>
                        <a:t>t</a:t>
                      </a:r>
                      <a:r>
                        <a:rPr lang="en-US" sz="1400" dirty="0" smtClean="0">
                          <a:effectLst/>
                        </a:rPr>
                        <a:t>​</a:t>
                      </a:r>
                      <a:r>
                        <a:rPr lang="en-US" sz="1400" dirty="0">
                          <a:effectLst/>
                        </a:rPr>
                        <a:t>, %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85-95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5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 smtClean="0">
                          <a:effectLst/>
                          <a:latin typeface="+mn-lt"/>
                        </a:rPr>
                        <a:t>3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258281">
                <a:tc v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КПД компрессора </a:t>
                      </a:r>
                      <a:r>
                        <a:rPr lang="el-GR" sz="1400" dirty="0">
                          <a:effectLst/>
                        </a:rPr>
                        <a:t>η</a:t>
                      </a:r>
                      <a:r>
                        <a:rPr lang="en-US" sz="1400" baseline="-25000" dirty="0" smtClean="0">
                          <a:effectLst/>
                        </a:rPr>
                        <a:t>c</a:t>
                      </a:r>
                      <a:r>
                        <a:rPr lang="en-US" sz="1400" dirty="0" smtClean="0">
                          <a:effectLst/>
                        </a:rPr>
                        <a:t>, </a:t>
                      </a:r>
                      <a:r>
                        <a:rPr lang="en-US" sz="1400" dirty="0">
                          <a:effectLst/>
                        </a:rPr>
                        <a:t>%</a:t>
                      </a:r>
                      <a:endParaRPr lang="en-US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75-90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5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4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258281">
                <a:tc v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Потери давления </a:t>
                      </a:r>
                      <a:r>
                        <a:rPr lang="ru-RU" sz="1400" dirty="0" smtClean="0">
                          <a:effectLst/>
                        </a:rPr>
                        <a:t>Δ</a:t>
                      </a:r>
                      <a:r>
                        <a:rPr lang="en-US" sz="1400" dirty="0" smtClean="0">
                          <a:effectLst/>
                        </a:rPr>
                        <a:t>p</a:t>
                      </a:r>
                      <a:r>
                        <a:rPr lang="ru-RU" sz="1400" dirty="0" smtClean="0">
                          <a:effectLst/>
                        </a:rPr>
                        <a:t>, %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1-3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3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448667">
                <a:tc v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Минимальный температурный напор </a:t>
                      </a:r>
                      <a:r>
                        <a:rPr lang="ru-RU" sz="1400" dirty="0" smtClean="0">
                          <a:effectLst/>
                        </a:rPr>
                        <a:t>ΔT, </a:t>
                      </a:r>
                      <a:r>
                        <a:rPr lang="ru-RU" sz="1400" dirty="0">
                          <a:effectLst/>
                        </a:rPr>
                        <a:t>°C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5-15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5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3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>
                    <a:solidFill>
                      <a:srgbClr val="00B0F0"/>
                    </a:solidFill>
                  </a:tcPr>
                </a:tc>
              </a:tr>
              <a:tr h="258281">
                <a:tc v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Итого внутренняя сетка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effectLst/>
                          <a:latin typeface="+mn-lt"/>
                        </a:rPr>
                        <a:t>18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/>
                </a:tc>
              </a:tr>
              <a:tr h="258281">
                <a:tc gridSpan="4"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Общее количество расчётных точек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31305" marR="52174" marT="32609" marB="32609" anchor="ctr"/>
                </a:tc>
                <a:tc h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52174" marR="52174" marT="32609" marB="32609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>
                          <a:effectLst/>
                        </a:rPr>
                        <a:t>28242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52174" marR="31305" marT="32609" marB="32609" anchor="ctr"/>
                </a:tc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259638" y="926193"/>
            <a:ext cx="6177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u="sng" dirty="0" smtClean="0">
                <a:solidFill>
                  <a:srgbClr val="445684"/>
                </a:solidFill>
              </a:rPr>
              <a:t>Табл.3 – Варьируемые параметры рекуперативного цикла</a:t>
            </a:r>
            <a:endParaRPr lang="ru-RU" b="1" u="sng" dirty="0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482144" y="174023"/>
            <a:ext cx="10641530" cy="4801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2800" kern="1200" dirty="0">
                <a:solidFill>
                  <a:srgbClr val="44568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 smtClean="0">
                <a:latin typeface="+mn-lt"/>
              </a:rPr>
              <a:t>Постановка задачи моделирования (рекуперация </a:t>
            </a:r>
            <a:r>
              <a:rPr lang="en-US" dirty="0" smtClean="0">
                <a:latin typeface="+mn-lt"/>
              </a:rPr>
              <a:t>He-</a:t>
            </a:r>
            <a:r>
              <a:rPr lang="en-US" dirty="0" err="1" smtClean="0">
                <a:latin typeface="+mn-lt"/>
              </a:rPr>
              <a:t>Xe</a:t>
            </a:r>
            <a:r>
              <a:rPr lang="ru-RU" dirty="0" smtClean="0">
                <a:latin typeface="+mn-lt"/>
              </a:rPr>
              <a:t>)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54522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1638" y="0"/>
            <a:ext cx="10641530" cy="867930"/>
          </a:xfrm>
        </p:spPr>
        <p:txBody>
          <a:bodyPr/>
          <a:lstStyle/>
          <a:p>
            <a:r>
              <a:rPr lang="ru-RU" dirty="0">
                <a:latin typeface="+mn-lt"/>
              </a:rPr>
              <a:t>Постановка задачи </a:t>
            </a:r>
            <a:r>
              <a:rPr lang="ru-RU" dirty="0" smtClean="0">
                <a:latin typeface="+mn-lt"/>
              </a:rPr>
              <a:t>моделирования первого режима (</a:t>
            </a:r>
            <a:r>
              <a:rPr lang="ru-RU" dirty="0" err="1" smtClean="0">
                <a:latin typeface="+mn-lt"/>
              </a:rPr>
              <a:t>рекомпрессия</a:t>
            </a:r>
            <a:r>
              <a:rPr lang="ru-RU" dirty="0" smtClean="0">
                <a:latin typeface="+mn-lt"/>
              </a:rPr>
              <a:t> СО2)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379283"/>
              </p:ext>
            </p:extLst>
          </p:nvPr>
        </p:nvGraphicFramePr>
        <p:xfrm>
          <a:off x="215709" y="1309370"/>
          <a:ext cx="639071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4203"/>
                <a:gridCol w="2046514"/>
              </a:tblGrid>
              <a:tr h="118605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Параметр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Значение</a:t>
                      </a:r>
                      <a:endParaRPr lang="ru-RU" sz="1600" dirty="0"/>
                    </a:p>
                  </a:txBody>
                  <a:tcPr/>
                </a:tc>
              </a:tr>
              <a:tr h="118605"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Тепловая мощность реактора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2,75</a:t>
                      </a:r>
                      <a:r>
                        <a:rPr lang="en-US" sz="1600" dirty="0" smtClean="0"/>
                        <a:t> </a:t>
                      </a:r>
                      <a:r>
                        <a:rPr lang="ru-RU" sz="1600" dirty="0" smtClean="0"/>
                        <a:t>МВт</a:t>
                      </a:r>
                      <a:endParaRPr lang="ru-RU" sz="1600" dirty="0"/>
                    </a:p>
                  </a:txBody>
                  <a:tcPr/>
                </a:tc>
              </a:tr>
              <a:tr h="2307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Температура на выходе из РУ, </a:t>
                      </a:r>
                      <a:r>
                        <a:rPr lang="en-US" sz="1600" dirty="0" smtClean="0"/>
                        <a:t>TR1</a:t>
                      </a:r>
                      <a:endParaRPr lang="en-US" sz="1600" b="0" dirty="0" smtClean="0">
                        <a:effectLst/>
                        <a:latin typeface="quote-cjk-patc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730</a:t>
                      </a:r>
                      <a:r>
                        <a:rPr lang="en-US" sz="1600" dirty="0" smtClean="0"/>
                        <a:t> </a:t>
                      </a:r>
                      <a:r>
                        <a:rPr lang="ru-RU" sz="1600" dirty="0" smtClean="0">
                          <a:effectLst/>
                        </a:rPr>
                        <a:t>°</a:t>
                      </a:r>
                      <a:r>
                        <a:rPr lang="en-US" sz="1600" dirty="0" smtClean="0">
                          <a:effectLst/>
                        </a:rPr>
                        <a:t>C</a:t>
                      </a:r>
                      <a:endParaRPr lang="ru-RU" sz="1600" dirty="0"/>
                    </a:p>
                  </a:txBody>
                  <a:tcPr/>
                </a:tc>
              </a:tr>
              <a:tr h="1186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Температура на входе в турбину, </a:t>
                      </a:r>
                      <a:r>
                        <a:rPr lang="en-US" sz="1600" dirty="0" smtClean="0">
                          <a:effectLst/>
                        </a:rPr>
                        <a:t>T</a:t>
                      </a:r>
                      <a:r>
                        <a:rPr lang="en-US" sz="1600" baseline="-25000" dirty="0" smtClean="0">
                          <a:effectLst/>
                        </a:rPr>
                        <a:t>2</a:t>
                      </a:r>
                      <a:endParaRPr lang="en-US" sz="1600" b="0" baseline="-25000" dirty="0" smtClean="0">
                        <a:effectLst/>
                        <a:latin typeface="quote-cjk-patc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715</a:t>
                      </a:r>
                      <a:r>
                        <a:rPr lang="en-US" sz="1600" dirty="0" smtClean="0"/>
                        <a:t> </a:t>
                      </a:r>
                      <a:r>
                        <a:rPr lang="ru-RU" sz="1600" dirty="0" smtClean="0">
                          <a:effectLst/>
                        </a:rPr>
                        <a:t>°</a:t>
                      </a:r>
                      <a:r>
                        <a:rPr lang="en-US" sz="1600" dirty="0" smtClean="0">
                          <a:effectLst/>
                        </a:rPr>
                        <a:t>C</a:t>
                      </a:r>
                      <a:endParaRPr lang="ru-RU" sz="1600" dirty="0"/>
                    </a:p>
                  </a:txBody>
                  <a:tcPr/>
                </a:tc>
              </a:tr>
              <a:tr h="1976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Тепловые потери в РТО</a:t>
                      </a:r>
                      <a:endParaRPr lang="en-US" sz="16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1%</a:t>
                      </a:r>
                      <a:endParaRPr lang="ru-RU" sz="1600" dirty="0"/>
                    </a:p>
                  </a:txBody>
                  <a:tcPr/>
                </a:tc>
              </a:tr>
              <a:tr h="1976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Температура перед главным компрессором, </a:t>
                      </a:r>
                      <a:r>
                        <a:rPr lang="en-US" sz="1600" dirty="0" smtClean="0">
                          <a:effectLst/>
                        </a:rPr>
                        <a:t>T</a:t>
                      </a:r>
                      <a:r>
                        <a:rPr lang="en-US" sz="1600" baseline="-25000" dirty="0" smtClean="0">
                          <a:effectLst/>
                        </a:rPr>
                        <a:t>7</a:t>
                      </a:r>
                      <a:endParaRPr lang="en-US" sz="16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35</a:t>
                      </a:r>
                      <a:r>
                        <a:rPr lang="en-US" sz="1600" dirty="0" smtClean="0"/>
                        <a:t> </a:t>
                      </a:r>
                      <a:r>
                        <a:rPr lang="ru-RU" sz="1600" dirty="0" smtClean="0">
                          <a:effectLst/>
                        </a:rPr>
                        <a:t>°</a:t>
                      </a:r>
                      <a:r>
                        <a:rPr lang="en-US" sz="1600" dirty="0" smtClean="0">
                          <a:effectLst/>
                        </a:rPr>
                        <a:t>C</a:t>
                      </a:r>
                      <a:endParaRPr lang="ru-RU" sz="1600" dirty="0"/>
                    </a:p>
                  </a:txBody>
                  <a:tcPr/>
                </a:tc>
              </a:tr>
              <a:tr h="1976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КПД турбины, %</a:t>
                      </a:r>
                      <a:endParaRPr lang="en-US" sz="16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90</a:t>
                      </a:r>
                      <a:endParaRPr lang="ru-RU" sz="1600" dirty="0"/>
                    </a:p>
                  </a:txBody>
                  <a:tcPr/>
                </a:tc>
              </a:tr>
              <a:tr h="1976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КПД компрессора, %</a:t>
                      </a:r>
                      <a:endParaRPr lang="en-US" sz="16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80</a:t>
                      </a:r>
                      <a:endParaRPr lang="ru-RU" sz="1600" dirty="0"/>
                    </a:p>
                  </a:txBody>
                  <a:tcPr/>
                </a:tc>
              </a:tr>
              <a:tr h="1976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aseline="0" dirty="0" err="1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Недогрев</a:t>
                      </a:r>
                      <a:r>
                        <a:rPr lang="ru-RU" sz="16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в ВТО/НТО</a:t>
                      </a:r>
                      <a:endParaRPr lang="en-US" sz="16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5 </a:t>
                      </a:r>
                      <a:r>
                        <a:rPr lang="ru-RU" sz="1600" dirty="0" smtClean="0">
                          <a:effectLst/>
                        </a:rPr>
                        <a:t>°</a:t>
                      </a:r>
                      <a:r>
                        <a:rPr lang="en-US" sz="1600" dirty="0" smtClean="0">
                          <a:effectLst/>
                        </a:rPr>
                        <a:t>C</a:t>
                      </a:r>
                      <a:endParaRPr lang="ru-RU" sz="1600" dirty="0" smtClean="0"/>
                    </a:p>
                  </a:txBody>
                  <a:tcPr/>
                </a:tc>
              </a:tr>
              <a:tr h="19767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Потери давления по холодному потоку</a:t>
                      </a:r>
                      <a:endParaRPr lang="en-US" sz="16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2%</a:t>
                      </a:r>
                    </a:p>
                  </a:txBody>
                  <a:tcPr/>
                </a:tc>
              </a:tr>
              <a:tr h="197675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Потери давления по холодному потоку</a:t>
                      </a:r>
                      <a:endParaRPr lang="en-US" sz="16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3%</a:t>
                      </a:r>
                    </a:p>
                  </a:txBody>
                  <a:tcPr/>
                </a:tc>
              </a:tr>
              <a:tr h="29018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600" baseline="0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Рабочее тело второго контура</a:t>
                      </a:r>
                      <a:endParaRPr lang="en-US" sz="1600" baseline="0" dirty="0" smtClean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СО</a:t>
                      </a:r>
                      <a:r>
                        <a:rPr lang="ru-RU" sz="1600" baseline="-25000" dirty="0" smtClean="0"/>
                        <a:t>2</a:t>
                      </a:r>
                      <a:endParaRPr lang="ru-RU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Прямоугольник 14"/>
          <p:cNvSpPr/>
          <p:nvPr/>
        </p:nvSpPr>
        <p:spPr>
          <a:xfrm>
            <a:off x="205797" y="905289"/>
            <a:ext cx="32319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u="sng" dirty="0" smtClean="0">
                <a:solidFill>
                  <a:srgbClr val="445684"/>
                </a:solidFill>
              </a:rPr>
              <a:t>Табл.1 – Исходные параметры</a:t>
            </a:r>
            <a:endParaRPr lang="ru-RU" b="1" u="sng" dirty="0"/>
          </a:p>
        </p:txBody>
      </p:sp>
      <p:graphicFrame>
        <p:nvGraphicFramePr>
          <p:cNvPr id="17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2299276"/>
              </p:ext>
            </p:extLst>
          </p:nvPr>
        </p:nvGraphicFramePr>
        <p:xfrm>
          <a:off x="6826719" y="1302374"/>
          <a:ext cx="5156276" cy="3608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296"/>
                <a:gridCol w="3299506"/>
                <a:gridCol w="1499474"/>
              </a:tblGrid>
              <a:tr h="16505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№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График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Кол-во точек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43825"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effectLst/>
                        </a:rPr>
                        <a:t>1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effectLst/>
                        </a:rPr>
                        <a:t>Зависимость КПД цикла от степени </a:t>
                      </a:r>
                      <a:r>
                        <a:rPr lang="ru-RU" sz="1600" dirty="0" err="1" smtClean="0">
                          <a:effectLst/>
                        </a:rPr>
                        <a:t>рекомпрессии</a:t>
                      </a:r>
                      <a:endParaRPr lang="en-US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effectLst/>
                        </a:rPr>
                        <a:t>8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309984"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effectLst/>
                        </a:rPr>
                        <a:t>2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+mn-lt"/>
                        </a:rPr>
                        <a:t>Зависимость КПД цикла от давления на входе в турбину P₁ и давления на выходе из турбины P₇</a:t>
                      </a:r>
                      <a:endParaRPr lang="en-US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effectLst/>
                        </a:rPr>
                        <a:t>144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08"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effectLst/>
                        </a:rPr>
                        <a:t>3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effectLst/>
                        </a:rPr>
                        <a:t>Температурный профиль в НТО/ВТО для</a:t>
                      </a:r>
                      <a:r>
                        <a:rPr lang="ru-RU" sz="1600" baseline="0" dirty="0" smtClean="0">
                          <a:effectLst/>
                        </a:rPr>
                        <a:t> оценки </a:t>
                      </a:r>
                      <a:r>
                        <a:rPr lang="ru-RU" sz="1600" baseline="0" dirty="0" err="1" smtClean="0">
                          <a:effectLst/>
                        </a:rPr>
                        <a:t>пинч</a:t>
                      </a:r>
                      <a:r>
                        <a:rPr lang="ru-RU" sz="1600" baseline="0" dirty="0" smtClean="0">
                          <a:effectLst/>
                        </a:rPr>
                        <a:t> точки (</a:t>
                      </a:r>
                      <a:r>
                        <a:rPr lang="en-US" sz="1600" baseline="0" dirty="0" smtClean="0">
                          <a:effectLst/>
                        </a:rPr>
                        <a:t>5, 10, 15°C)</a:t>
                      </a:r>
                      <a:endParaRPr lang="en-US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600" dirty="0" smtClean="0">
                          <a:effectLst/>
                        </a:rPr>
                        <a:t>90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08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+mn-lt"/>
                        </a:rPr>
                        <a:t>4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effectLst/>
                          <a:latin typeface="+mn-lt"/>
                        </a:rPr>
                        <a:t>Карта чувствительности КПД цикла к изменению ηₜ и ηₖ</a:t>
                      </a:r>
                      <a:endParaRPr lang="en-US" sz="1600" b="0" dirty="0" smtClean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+mn-lt"/>
                        </a:rPr>
                        <a:t>16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08">
                <a:tc>
                  <a:txBody>
                    <a:bodyPr/>
                    <a:lstStyle/>
                    <a:p>
                      <a:r>
                        <a:rPr lang="ru-RU" sz="1600" b="0" dirty="0" smtClean="0">
                          <a:effectLst/>
                          <a:latin typeface="+mn-lt"/>
                        </a:rPr>
                        <a:t>5</a:t>
                      </a:r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 smtClean="0">
                          <a:effectLst/>
                          <a:latin typeface="+mn-lt"/>
                        </a:rPr>
                        <a:t>Зависимость</a:t>
                      </a:r>
                      <a:r>
                        <a:rPr lang="ru-RU" sz="1600" b="0" baseline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ru-RU" sz="1600" b="0" dirty="0" smtClean="0">
                          <a:effectLst/>
                          <a:latin typeface="+mn-lt"/>
                        </a:rPr>
                        <a:t>КПД цикла от температуры на входе в реактор,</a:t>
                      </a:r>
                      <a:r>
                        <a:rPr lang="ru-RU" sz="1600" b="0" baseline="0" dirty="0" smtClean="0">
                          <a:effectLst/>
                          <a:latin typeface="+mn-lt"/>
                        </a:rPr>
                        <a:t> </a:t>
                      </a:r>
                      <a:r>
                        <a:rPr lang="en-US" sz="1600" b="0" dirty="0" smtClean="0">
                          <a:effectLst/>
                          <a:latin typeface="+mn-lt"/>
                        </a:rPr>
                        <a:t>TR2</a:t>
                      </a:r>
                      <a:r>
                        <a:rPr lang="en-US" sz="1600" b="0" baseline="0" dirty="0" smtClean="0">
                          <a:effectLst/>
                          <a:latin typeface="+mn-lt"/>
                        </a:rPr>
                        <a:t> </a:t>
                      </a:r>
                      <a:endParaRPr lang="en-US" sz="1600" b="0" dirty="0" smtClean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endParaRPr lang="ru-RU" sz="16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</a:tbl>
          </a:graphicData>
        </a:graphic>
      </p:graphicFrame>
      <p:sp>
        <p:nvSpPr>
          <p:cNvPr id="18" name="Прямоугольник 17"/>
          <p:cNvSpPr/>
          <p:nvPr/>
        </p:nvSpPr>
        <p:spPr>
          <a:xfrm>
            <a:off x="6856854" y="899152"/>
            <a:ext cx="336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u="sng" dirty="0" smtClean="0">
                <a:solidFill>
                  <a:srgbClr val="445684"/>
                </a:solidFill>
              </a:rPr>
              <a:t>Табл.2 – Необходимые графики</a:t>
            </a:r>
            <a:endParaRPr lang="ru-RU" b="1" u="sng" dirty="0"/>
          </a:p>
        </p:txBody>
      </p:sp>
    </p:spTree>
    <p:extLst>
      <p:ext uri="{BB962C8B-B14F-4D97-AF65-F5344CB8AC3E}">
        <p14:creationId xmlns:p14="http://schemas.microsoft.com/office/powerpoint/2010/main" val="2069081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0290109"/>
              </p:ext>
            </p:extLst>
          </p:nvPr>
        </p:nvGraphicFramePr>
        <p:xfrm>
          <a:off x="296090" y="1307966"/>
          <a:ext cx="11404219" cy="4673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6816"/>
                <a:gridCol w="4539689"/>
                <a:gridCol w="850292"/>
                <a:gridCol w="1523522"/>
                <a:gridCol w="2193900"/>
              </a:tblGrid>
              <a:tr h="426997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Уровень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Параметр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Диапазон</a:t>
                      </a:r>
                      <a:endParaRPr lang="ru-RU" sz="1400" b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Шаг</a:t>
                      </a:r>
                      <a:endParaRPr lang="ru-RU" sz="1400" b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Кол-во точек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</a:tr>
              <a:tr h="259890">
                <a:tc rowSpan="5"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Внешняя сетка (полный перебор)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effectLst/>
                        </a:rPr>
                        <a:t>Давление на входе в турбину P₁, МПа</a:t>
                      </a:r>
                      <a:endParaRPr lang="ru-RU" sz="1400" b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20-35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1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16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36562" marT="38085" marB="38085" anchor="ctr"/>
                </a:tc>
              </a:tr>
              <a:tr h="355416">
                <a:tc vMerge="1">
                  <a:txBody>
                    <a:bodyPr/>
                    <a:lstStyle/>
                    <a:p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Давление на выходе из турбины P₇, МПа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8-12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1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5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36562" marT="38085" marB="38085" anchor="ctr"/>
                </a:tc>
              </a:tr>
              <a:tr h="355416">
                <a:tc vMerge="1">
                  <a:txBody>
                    <a:bodyPr/>
                    <a:lstStyle/>
                    <a:p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Степень </a:t>
                      </a:r>
                      <a:r>
                        <a:rPr lang="ru-RU" sz="1400" dirty="0" err="1">
                          <a:effectLst/>
                        </a:rPr>
                        <a:t>рекомпрессии</a:t>
                      </a:r>
                      <a:r>
                        <a:rPr lang="ru-RU" sz="1400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x</a:t>
                      </a:r>
                      <a:endParaRPr lang="en-US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0,4-0,8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0,1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 smtClean="0">
                          <a:effectLst/>
                          <a:latin typeface="+mn-lt"/>
                        </a:rPr>
                        <a:t>5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36562" marT="38085" marB="38085" anchor="ctr"/>
                </a:tc>
              </a:tr>
              <a:tr h="426997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 smtClean="0">
                          <a:effectLst/>
                          <a:latin typeface="+mn-lt"/>
                        </a:rPr>
                        <a:t>Температура</a:t>
                      </a:r>
                      <a:r>
                        <a:rPr lang="ru-RU" sz="1400" b="0" baseline="0" dirty="0" smtClean="0">
                          <a:effectLst/>
                          <a:latin typeface="+mn-lt"/>
                        </a:rPr>
                        <a:t> теплоносителя на входе в реактор </a:t>
                      </a:r>
                      <a:r>
                        <a:rPr lang="en-US" sz="1400" b="0" baseline="0" dirty="0" smtClean="0">
                          <a:effectLst/>
                          <a:latin typeface="+mn-lt"/>
                        </a:rPr>
                        <a:t>TR2</a:t>
                      </a:r>
                      <a:r>
                        <a:rPr lang="ru-RU" sz="1400" b="0" baseline="0" dirty="0" smtClean="0">
                          <a:effectLst/>
                          <a:latin typeface="+mn-lt"/>
                        </a:rPr>
                        <a:t>, </a:t>
                      </a:r>
                      <a:r>
                        <a:rPr lang="ru-RU" sz="1400" dirty="0" smtClean="0">
                          <a:effectLst/>
                        </a:rPr>
                        <a:t>°C</a:t>
                      </a:r>
                      <a:endParaRPr lang="ru-RU" sz="1400" b="0" dirty="0" smtClean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 smtClean="0">
                          <a:effectLst/>
                          <a:latin typeface="+mn-lt"/>
                        </a:rPr>
                        <a:t>350-550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 smtClean="0">
                          <a:effectLst/>
                          <a:latin typeface="+mn-lt"/>
                        </a:rPr>
                        <a:t>100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 smtClean="0">
                          <a:effectLst/>
                          <a:latin typeface="+mn-lt"/>
                        </a:rPr>
                        <a:t>3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36562" marT="38085" marB="38085" anchor="ctr"/>
                </a:tc>
              </a:tr>
              <a:tr h="259890">
                <a:tc vMerge="1">
                  <a:txBody>
                    <a:bodyPr/>
                    <a:lstStyle/>
                    <a:p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Итого внешняя сетка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 smtClean="0">
                          <a:effectLst/>
                          <a:latin typeface="+mn-lt"/>
                        </a:rPr>
                        <a:t>1200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36562" marT="38085" marB="38085" anchor="ctr"/>
                </a:tc>
              </a:tr>
              <a:tr h="259890">
                <a:tc rowSpan="7"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Внутренняя сетка (для оптимальной точки)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Выбор </a:t>
                      </a:r>
                      <a:r>
                        <a:rPr lang="ru-RU" sz="1400" dirty="0">
                          <a:effectLst/>
                        </a:rPr>
                        <a:t>оптимальной точки (P₁, P₇, </a:t>
                      </a:r>
                      <a:r>
                        <a:rPr lang="ru-RU" sz="1400" dirty="0" smtClean="0">
                          <a:effectLst/>
                        </a:rPr>
                        <a:t>x)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59890">
                <a:tc vMerge="1">
                  <a:txBody>
                    <a:bodyPr/>
                    <a:lstStyle/>
                    <a:p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КПД турбины </a:t>
                      </a:r>
                      <a:r>
                        <a:rPr lang="el-GR" sz="1400" dirty="0">
                          <a:effectLst/>
                        </a:rPr>
                        <a:t>ηₜ, %</a:t>
                      </a:r>
                      <a:endParaRPr lang="el-GR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75-90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5</a:t>
                      </a:r>
                      <a:endParaRPr lang="ru-RU" sz="1400" b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4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36562" marT="38085" marB="3808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259890">
                <a:tc vMerge="1">
                  <a:txBody>
                    <a:bodyPr/>
                    <a:lstStyle/>
                    <a:p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КПД компрессора </a:t>
                      </a:r>
                      <a:r>
                        <a:rPr lang="el-GR" sz="1400" dirty="0" smtClean="0">
                          <a:effectLst/>
                        </a:rPr>
                        <a:t>η</a:t>
                      </a:r>
                      <a:r>
                        <a:rPr lang="en-US" sz="1400" baseline="-25000" dirty="0" smtClean="0">
                          <a:effectLst/>
                        </a:rPr>
                        <a:t>c</a:t>
                      </a:r>
                      <a:r>
                        <a:rPr lang="en-US" sz="1400" dirty="0" smtClean="0">
                          <a:effectLst/>
                        </a:rPr>
                        <a:t>, </a:t>
                      </a:r>
                      <a:r>
                        <a:rPr lang="en-US" sz="1400" dirty="0">
                          <a:effectLst/>
                        </a:rPr>
                        <a:t>%</a:t>
                      </a:r>
                      <a:endParaRPr lang="en-US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70-85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>
                          <a:effectLst/>
                        </a:rPr>
                        <a:t>5</a:t>
                      </a:r>
                      <a:endParaRPr lang="ru-RU" sz="1400" b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4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36562" marT="38085" marB="3808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259890">
                <a:tc vMerge="1">
                  <a:txBody>
                    <a:bodyPr/>
                    <a:lstStyle/>
                    <a:p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Потери давления </a:t>
                      </a:r>
                      <a:r>
                        <a:rPr lang="el-GR" sz="1400" dirty="0">
                          <a:effectLst/>
                        </a:rPr>
                        <a:t>Δ</a:t>
                      </a:r>
                      <a:r>
                        <a:rPr lang="en-US" sz="1400" dirty="0" smtClean="0">
                          <a:effectLst/>
                        </a:rPr>
                        <a:t>P</a:t>
                      </a:r>
                      <a:r>
                        <a:rPr lang="ru-RU" sz="1400" baseline="-25000" dirty="0" smtClean="0">
                          <a:effectLst/>
                        </a:rPr>
                        <a:t>гор</a:t>
                      </a:r>
                      <a:r>
                        <a:rPr lang="ru-RU" sz="1400" dirty="0">
                          <a:effectLst/>
                        </a:rPr>
                        <a:t>, %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1-3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3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36562" marT="38085" marB="38085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259890">
                <a:tc vMerge="1">
                  <a:txBody>
                    <a:bodyPr/>
                    <a:lstStyle/>
                    <a:p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Потери давления </a:t>
                      </a:r>
                      <a:r>
                        <a:rPr lang="el-GR" sz="1400" dirty="0">
                          <a:effectLst/>
                        </a:rPr>
                        <a:t>Δ</a:t>
                      </a:r>
                      <a:r>
                        <a:rPr lang="en-US" sz="1400" dirty="0" smtClean="0">
                          <a:effectLst/>
                        </a:rPr>
                        <a:t>P</a:t>
                      </a:r>
                      <a:r>
                        <a:rPr lang="ru-RU" sz="1400" baseline="-25000" dirty="0" err="1" smtClean="0">
                          <a:effectLst/>
                        </a:rPr>
                        <a:t>хол</a:t>
                      </a:r>
                      <a:r>
                        <a:rPr lang="ru-RU" sz="1400" dirty="0">
                          <a:effectLst/>
                        </a:rPr>
                        <a:t>, %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2-5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1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4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36562" marT="38085" marB="38085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426997">
                <a:tc vMerge="1">
                  <a:txBody>
                    <a:bodyPr/>
                    <a:lstStyle/>
                    <a:p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effectLst/>
                        </a:rPr>
                        <a:t>Минимальный температурный напор </a:t>
                      </a:r>
                      <a:r>
                        <a:rPr lang="ru-RU" sz="1400" dirty="0" smtClean="0">
                          <a:effectLst/>
                        </a:rPr>
                        <a:t>ВТО/НТО</a:t>
                      </a:r>
                      <a:r>
                        <a:rPr lang="ru-RU" sz="1400" baseline="0" dirty="0" smtClean="0">
                          <a:effectLst/>
                        </a:rPr>
                        <a:t> </a:t>
                      </a:r>
                      <a:r>
                        <a:rPr lang="ru-RU" sz="1400" dirty="0" smtClean="0">
                          <a:effectLst/>
                        </a:rPr>
                        <a:t>ΔT</a:t>
                      </a:r>
                      <a:r>
                        <a:rPr lang="ru-RU" sz="1400" dirty="0">
                          <a:effectLst/>
                        </a:rPr>
                        <a:t>, °C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5-15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effectLst/>
                        </a:rPr>
                        <a:t>5/5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60936" marR="36562" marT="38085" marB="38085" anchor="ctr">
                    <a:solidFill>
                      <a:srgbClr val="00B0F0"/>
                    </a:solidFill>
                  </a:tcPr>
                </a:tc>
              </a:tr>
              <a:tr h="259890">
                <a:tc vMerge="1">
                  <a:txBody>
                    <a:bodyPr/>
                    <a:lstStyle/>
                    <a:p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Итого внутренняя сетка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 smtClean="0">
                          <a:effectLst/>
                          <a:latin typeface="+mn-lt"/>
                        </a:rPr>
                        <a:t>37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36562" marT="38085" marB="38085" anchor="ctr"/>
                </a:tc>
              </a:tr>
              <a:tr h="259890">
                <a:tc gridSpan="4"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</a:rPr>
                        <a:t>Общее количество расчётных точек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36562" marR="60936" marT="38085" marB="38085" anchor="ctr"/>
                </a:tc>
                <a:tc hMerge="1">
                  <a:txBody>
                    <a:bodyPr/>
                    <a:lstStyle/>
                    <a:p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60936" marR="60936" marT="38085" marB="38085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 smtClean="0">
                          <a:effectLst/>
                          <a:latin typeface="+mn-lt"/>
                        </a:rPr>
                        <a:t>1237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60936" marR="36562" marT="38085" marB="38085" anchor="ctr"/>
                </a:tc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92963" y="926193"/>
            <a:ext cx="63552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u="sng" dirty="0" smtClean="0">
                <a:solidFill>
                  <a:srgbClr val="445684"/>
                </a:solidFill>
              </a:rPr>
              <a:t>Табл.3 – Варьируемые параметры </a:t>
            </a:r>
            <a:r>
              <a:rPr lang="ru-RU" b="1" u="sng" dirty="0" err="1" smtClean="0">
                <a:solidFill>
                  <a:srgbClr val="445684"/>
                </a:solidFill>
              </a:rPr>
              <a:t>рекомпрессионного</a:t>
            </a:r>
            <a:r>
              <a:rPr lang="ru-RU" b="1" u="sng" dirty="0" smtClean="0">
                <a:solidFill>
                  <a:srgbClr val="445684"/>
                </a:solidFill>
              </a:rPr>
              <a:t> цикла</a:t>
            </a:r>
            <a:endParaRPr lang="ru-RU" b="1" u="sng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471638" y="0"/>
            <a:ext cx="10641530" cy="8679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2800" kern="1200" dirty="0">
                <a:solidFill>
                  <a:srgbClr val="44568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 smtClean="0">
                <a:latin typeface="+mn-lt"/>
              </a:rPr>
              <a:t>Постановка задачи моделирования первого режима (</a:t>
            </a:r>
            <a:r>
              <a:rPr lang="ru-RU" dirty="0" err="1" smtClean="0">
                <a:latin typeface="+mn-lt"/>
              </a:rPr>
              <a:t>рекомпрессия</a:t>
            </a:r>
            <a:r>
              <a:rPr lang="ru-RU" dirty="0" smtClean="0">
                <a:latin typeface="+mn-lt"/>
              </a:rPr>
              <a:t> СО2)</a:t>
            </a:r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8755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+mn-lt"/>
              </a:rPr>
              <a:t>Постановка задачи моделирования </a:t>
            </a:r>
            <a:r>
              <a:rPr lang="ru-RU" dirty="0" smtClean="0">
                <a:latin typeface="+mn-lt"/>
              </a:rPr>
              <a:t>(теплофикация)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727742" y="836675"/>
            <a:ext cx="26572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solidFill>
                  <a:srgbClr val="445684"/>
                </a:solidFill>
              </a:rPr>
              <a:t>Табл.3 – </a:t>
            </a:r>
            <a:r>
              <a:rPr lang="ru-RU" sz="1400" b="1" dirty="0">
                <a:solidFill>
                  <a:srgbClr val="445684"/>
                </a:solidFill>
              </a:rPr>
              <a:t>Необходимые графики</a:t>
            </a:r>
            <a:endParaRPr lang="ru-RU" sz="1400" b="1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271501"/>
              </p:ext>
            </p:extLst>
          </p:nvPr>
        </p:nvGraphicFramePr>
        <p:xfrm>
          <a:off x="307503" y="2921001"/>
          <a:ext cx="7437499" cy="2741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1799"/>
                <a:gridCol w="1331943"/>
                <a:gridCol w="673963"/>
                <a:gridCol w="1619794"/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>
                          <a:effectLst/>
                        </a:rPr>
                        <a:t>Параметр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Диапазон</a:t>
                      </a:r>
                      <a:endParaRPr lang="ru-RU" sz="1200" b="1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Шаг</a:t>
                      </a:r>
                      <a:endParaRPr lang="ru-RU" sz="1200" b="1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err="1" smtClean="0">
                          <a:effectLst/>
                        </a:rPr>
                        <a:t>Коливо</a:t>
                      </a:r>
                      <a:r>
                        <a:rPr lang="ru-RU" sz="1200" baseline="0" dirty="0" smtClean="0">
                          <a:effectLst/>
                        </a:rPr>
                        <a:t> точек</a:t>
                      </a:r>
                      <a:endParaRPr lang="ru-RU" sz="1200" b="1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</a:tr>
              <a:tr h="344889"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Температура теплоносителя </a:t>
                      </a:r>
                      <a:r>
                        <a:rPr lang="en-US" sz="1200" dirty="0" smtClean="0">
                          <a:effectLst/>
                        </a:rPr>
                        <a:t>III</a:t>
                      </a:r>
                      <a:r>
                        <a:rPr lang="ru-RU" sz="1200" dirty="0" smtClean="0">
                          <a:effectLst/>
                        </a:rPr>
                        <a:t>–</a:t>
                      </a:r>
                      <a:r>
                        <a:rPr lang="ru-RU" sz="1200" dirty="0" err="1" smtClean="0">
                          <a:effectLst/>
                        </a:rPr>
                        <a:t>го</a:t>
                      </a:r>
                      <a:r>
                        <a:rPr lang="ru-RU" sz="1200" dirty="0" smtClean="0">
                          <a:effectLst/>
                        </a:rPr>
                        <a:t> контура</a:t>
                      </a:r>
                      <a:r>
                        <a:rPr lang="ru-RU" sz="1200" baseline="0" dirty="0" smtClean="0">
                          <a:effectLst/>
                        </a:rPr>
                        <a:t> </a:t>
                      </a:r>
                      <a:r>
                        <a:rPr lang="ru-RU" sz="1200" dirty="0" smtClean="0">
                          <a:effectLst/>
                        </a:rPr>
                        <a:t>на выходе из утилизатора</a:t>
                      </a:r>
                      <a:endParaRPr lang="ru-RU" sz="1200" dirty="0" smtClean="0">
                        <a:effectLst/>
                        <a:latin typeface="+mn-lt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350-550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100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3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</a:tr>
              <a:tr h="344889"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Расход теплоносителя через </a:t>
                      </a:r>
                      <a:r>
                        <a:rPr lang="en-US" sz="1200" dirty="0" smtClean="0">
                          <a:effectLst/>
                        </a:rPr>
                        <a:t>III-</a:t>
                      </a:r>
                      <a:r>
                        <a:rPr lang="ru-RU" sz="1200" dirty="0" smtClean="0">
                          <a:effectLst/>
                        </a:rPr>
                        <a:t>й контур, кг/с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(оценочный расчет)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-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</a:tr>
              <a:tr h="344889"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Расход сетевой воды, кг/с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effectLst/>
                        </a:rPr>
                        <a:t>(оценочный расчет)</a:t>
                      </a: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-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</a:tr>
              <a:tr h="247808"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Потери давления в утилизаторе в </a:t>
                      </a:r>
                      <a:r>
                        <a:rPr lang="en-US" sz="1200" dirty="0" smtClean="0">
                          <a:effectLst/>
                        </a:rPr>
                        <a:t>III</a:t>
                      </a:r>
                      <a:r>
                        <a:rPr lang="ru-RU" sz="1200" baseline="0" dirty="0" smtClean="0">
                          <a:effectLst/>
                        </a:rPr>
                        <a:t> контуре</a:t>
                      </a:r>
                      <a:r>
                        <a:rPr lang="ru-RU" sz="1200" dirty="0" smtClean="0">
                          <a:effectLst/>
                        </a:rPr>
                        <a:t>, %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5-8 %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1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4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</a:tr>
              <a:tr h="3448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effectLst/>
                        </a:rPr>
                        <a:t>Температурный напор в теплообменнике утилизаторе, °C</a:t>
                      </a: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5-15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5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3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</a:tr>
              <a:tr h="247808">
                <a:tc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Общее количество</a:t>
                      </a:r>
                      <a:r>
                        <a:rPr lang="ru-RU" sz="1200" baseline="0" dirty="0" smtClean="0">
                          <a:effectLst/>
                        </a:rPr>
                        <a:t> точек</a:t>
                      </a:r>
                      <a:endParaRPr lang="ru-RU" sz="1200" b="1" dirty="0">
                        <a:effectLst/>
                        <a:latin typeface="+mn-lt"/>
                      </a:endParaRPr>
                    </a:p>
                  </a:txBody>
                  <a:tcPr marR="152400" marT="95250" marB="95250" anchor="ctr"/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70000"/>
                        </a:lnSpc>
                      </a:pPr>
                      <a:r>
                        <a:rPr lang="ru-RU" sz="1200" dirty="0" smtClean="0">
                          <a:effectLst/>
                        </a:rPr>
                        <a:t>1500</a:t>
                      </a:r>
                      <a:endParaRPr lang="ru-RU" sz="1200" b="1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ru-RU" sz="1100" b="0" dirty="0">
                        <a:effectLst/>
                        <a:latin typeface="+mn-lt"/>
                      </a:endParaRPr>
                    </a:p>
                  </a:txBody>
                  <a:tcPr marL="152400" marR="152400" marT="95250" marB="95250" anchor="ctr"/>
                </a:tc>
              </a:tr>
            </a:tbl>
          </a:graphicData>
        </a:graphic>
      </p:graphicFrame>
      <p:graphicFrame>
        <p:nvGraphicFramePr>
          <p:cNvPr id="8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7256838"/>
              </p:ext>
            </p:extLst>
          </p:nvPr>
        </p:nvGraphicFramePr>
        <p:xfrm>
          <a:off x="6727742" y="1222829"/>
          <a:ext cx="4467153" cy="12236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136"/>
                <a:gridCol w="2185508"/>
                <a:gridCol w="1837509"/>
              </a:tblGrid>
              <a:tr h="165052"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№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График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effectLst/>
                        </a:rPr>
                        <a:t>Кол-во точек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99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1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КПД = </a:t>
                      </a:r>
                      <a:r>
                        <a:rPr lang="en-US" sz="1200" dirty="0" smtClean="0">
                          <a:effectLst/>
                        </a:rPr>
                        <a:t>f(G)</a:t>
                      </a:r>
                      <a:endParaRPr lang="en-US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10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43825"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КПД = </a:t>
                      </a:r>
                      <a:r>
                        <a:rPr lang="en-US" sz="1200" dirty="0" smtClean="0">
                          <a:effectLst/>
                        </a:rPr>
                        <a:t>f(</a:t>
                      </a:r>
                      <a:r>
                        <a:rPr lang="en-US" sz="1200" dirty="0" err="1" smtClean="0">
                          <a:effectLst/>
                        </a:rPr>
                        <a:t>dT</a:t>
                      </a:r>
                      <a:r>
                        <a:rPr lang="en-US" sz="1200" dirty="0" smtClean="0">
                          <a:effectLst/>
                        </a:rPr>
                        <a:t>)</a:t>
                      </a:r>
                      <a:endParaRPr lang="en-US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10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08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effectLst/>
                        </a:rPr>
                        <a:t>3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351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Температурный профиль в рекуператоре (T-x диаграмма)</a:t>
                      </a:r>
                      <a:endParaRPr lang="en-US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В оптимальной</a:t>
                      </a:r>
                      <a:r>
                        <a:rPr lang="ru-RU" sz="1200" baseline="0" dirty="0" smtClean="0">
                          <a:effectLst/>
                        </a:rPr>
                        <a:t> точке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</a:tbl>
          </a:graphicData>
        </a:graphic>
      </p:graphicFrame>
      <p:graphicFrame>
        <p:nvGraphicFramePr>
          <p:cNvPr id="12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0143670"/>
              </p:ext>
            </p:extLst>
          </p:nvPr>
        </p:nvGraphicFramePr>
        <p:xfrm>
          <a:off x="307503" y="1195451"/>
          <a:ext cx="5965372" cy="13302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9818"/>
                <a:gridCol w="1985554"/>
              </a:tblGrid>
              <a:tr h="165052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effectLst/>
                        </a:rPr>
                        <a:t>Параметр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effectLst/>
                        </a:rPr>
                        <a:t>Значение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99"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Тепловая мощность реактора, МВт</a:t>
                      </a:r>
                      <a:endParaRPr lang="en-US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2,75 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438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effectLst/>
                        </a:rPr>
                        <a:t>Температура теплоносителя</a:t>
                      </a:r>
                      <a:r>
                        <a:rPr lang="ru-RU" sz="1200" baseline="0" dirty="0" smtClean="0">
                          <a:effectLst/>
                        </a:rPr>
                        <a:t> на выходе из реактора, </a:t>
                      </a:r>
                      <a:r>
                        <a:rPr lang="ru-RU" sz="1200" dirty="0" smtClean="0">
                          <a:effectLst/>
                        </a:rPr>
                        <a:t>°C</a:t>
                      </a: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b="0" dirty="0" smtClean="0">
                          <a:effectLst/>
                          <a:latin typeface="+mn-lt"/>
                        </a:rPr>
                        <a:t>730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 smtClean="0">
                          <a:effectLst/>
                          <a:latin typeface="+mn-lt"/>
                        </a:rPr>
                        <a:t>Температура</a:t>
                      </a:r>
                      <a:r>
                        <a:rPr lang="ru-RU" sz="1200" b="0" baseline="0" dirty="0" smtClean="0">
                          <a:effectLst/>
                          <a:latin typeface="+mn-lt"/>
                        </a:rPr>
                        <a:t> сетевой воды на выходе из утилизатора, </a:t>
                      </a:r>
                      <a:r>
                        <a:rPr lang="ru-RU" sz="1200" dirty="0" smtClean="0">
                          <a:effectLst/>
                        </a:rPr>
                        <a:t>°C</a:t>
                      </a: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dirty="0" smtClean="0">
                          <a:effectLst/>
                        </a:rPr>
                        <a:t>70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  <a:tr h="2727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 smtClean="0">
                          <a:effectLst/>
                          <a:latin typeface="+mn-lt"/>
                        </a:rPr>
                        <a:t>Температура сетевой</a:t>
                      </a:r>
                      <a:r>
                        <a:rPr lang="ru-RU" sz="1200" b="0" baseline="0" dirty="0" smtClean="0">
                          <a:effectLst/>
                          <a:latin typeface="+mn-lt"/>
                        </a:rPr>
                        <a:t> воды на входе в утилизатор, </a:t>
                      </a:r>
                      <a:r>
                        <a:rPr lang="ru-RU" sz="1200" dirty="0" smtClean="0">
                          <a:effectLst/>
                        </a:rPr>
                        <a:t>°C</a:t>
                      </a:r>
                      <a:endParaRPr lang="ru-RU" sz="1200" b="0" dirty="0" smtClean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  <a:tc>
                  <a:txBody>
                    <a:bodyPr/>
                    <a:lstStyle/>
                    <a:p>
                      <a:r>
                        <a:rPr lang="ru-RU" sz="1200" b="0" dirty="0" smtClean="0">
                          <a:effectLst/>
                          <a:latin typeface="+mn-lt"/>
                        </a:rPr>
                        <a:t>40</a:t>
                      </a:r>
                      <a:endParaRPr lang="ru-RU" sz="1200" b="0" dirty="0">
                        <a:effectLst/>
                        <a:latin typeface="+mn-lt"/>
                      </a:endParaRPr>
                    </a:p>
                  </a:txBody>
                  <a:tcPr marL="58500" marR="58500" marT="36563" marB="36563" anchor="ctr"/>
                </a:tc>
              </a:tr>
            </a:tbl>
          </a:graphicData>
        </a:graphic>
      </p:graphicFrame>
      <p:sp>
        <p:nvSpPr>
          <p:cNvPr id="13" name="Прямоугольник 12"/>
          <p:cNvSpPr/>
          <p:nvPr/>
        </p:nvSpPr>
        <p:spPr>
          <a:xfrm>
            <a:off x="307503" y="836675"/>
            <a:ext cx="31359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solidFill>
                  <a:srgbClr val="445684"/>
                </a:solidFill>
              </a:rPr>
              <a:t>Табл.1 – Фиксированные параметры</a:t>
            </a:r>
            <a:endParaRPr lang="ru-RU" sz="1400" b="1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307503" y="2613224"/>
            <a:ext cx="28528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solidFill>
                  <a:srgbClr val="445684"/>
                </a:solidFill>
              </a:rPr>
              <a:t>Табл.2 – Варьируемые параметры</a:t>
            </a:r>
            <a:endParaRPr lang="ru-RU" sz="1400" b="1" dirty="0"/>
          </a:p>
        </p:txBody>
      </p:sp>
    </p:spTree>
    <p:extLst>
      <p:ext uri="{BB962C8B-B14F-4D97-AF65-F5344CB8AC3E}">
        <p14:creationId xmlns:p14="http://schemas.microsoft.com/office/powerpoint/2010/main" val="2537691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Методика моделирования СО2 цикла</a:t>
            </a:r>
            <a:endParaRPr lang="ru-RU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Объект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3576942"/>
                  </p:ext>
                </p:extLst>
              </p:nvPr>
            </p:nvGraphicFramePr>
            <p:xfrm>
              <a:off x="252264" y="2370926"/>
              <a:ext cx="6470753" cy="35769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4947"/>
                    <a:gridCol w="1558835"/>
                    <a:gridCol w="3526971"/>
                  </a:tblGrid>
                  <a:tr h="333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Компонент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Метод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Ключевая особенность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</a:tr>
                  <a:tr h="462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 smtClean="0">
                              <a:effectLst/>
                            </a:rPr>
                            <a:t>Компрессоры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Изоэнтропийный КПД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pt-BR" sz="100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ru-RU" sz="1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t-BR" sz="100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pt-BR" sz="1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ru-RU" sz="1000" i="1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ru-RU" sz="1000" i="1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ru-RU" sz="1000" i="1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e>
                                      <m:sub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𝑜𝑖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ru-RU" sz="1000" dirty="0" smtClean="0">
                            <a:effectLst/>
                            <a:latin typeface="+mn-lt"/>
                          </a:endParaRPr>
                        </a:p>
                      </a:txBody>
                      <a:tcPr marL="81436" marR="48862" marT="50898" marB="50898" anchor="ctr"/>
                    </a:tc>
                  </a:tr>
                  <a:tr h="4567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>
                              <a:effectLst/>
                            </a:rPr>
                            <a:t>Турбина</a:t>
                          </a:r>
                          <a:endParaRPr lang="ru-RU" sz="1000" b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Изоэнтропийный КПД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pt-BR" sz="100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ru-RU" sz="1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t-BR" sz="100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pt-BR" sz="1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1000" i="1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ru-RU" sz="1000" i="1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pt-BR" sz="1000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pt-BR" sz="100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ru-RU" sz="1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  <m:sub>
                                    <m:r>
                                      <a:rPr lang="pt-BR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000" b="0" dirty="0" smtClean="0">
                            <a:effectLst/>
                            <a:latin typeface="+mn-lt"/>
                          </a:endParaRPr>
                        </a:p>
                      </a:txBody>
                      <a:tcPr marL="81436" marR="48862" marT="50898" marB="50898" anchor="ctr"/>
                    </a:tc>
                  </a:tr>
                  <a:tr h="4567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>
                              <a:effectLst/>
                            </a:rPr>
                            <a:t>Теплообменник</a:t>
                          </a:r>
                          <a:endParaRPr lang="ru-RU" sz="1000" b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 smtClean="0">
                              <a:effectLst/>
                            </a:rPr>
                            <a:t>Численное интегрирование по длине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 smtClean="0">
                              <a:effectLst/>
                            </a:rPr>
                            <a:t>Разбиение на 20 узлов; пересчёт </a:t>
                          </a:r>
                          <a:r>
                            <a:rPr lang="en-US" sz="1000" dirty="0" smtClean="0">
                              <a:effectLst/>
                            </a:rPr>
                            <a:t>H→T</a:t>
                          </a:r>
                          <a:r>
                            <a:rPr lang="ru-RU" sz="1000" dirty="0" smtClean="0">
                              <a:effectLst/>
                            </a:rPr>
                            <a:t>,</a:t>
                          </a:r>
                          <a:r>
                            <a:rPr lang="en-US" sz="1000" dirty="0" smtClean="0">
                              <a:effectLst/>
                            </a:rPr>
                            <a:t> </a:t>
                          </a:r>
                          <a:r>
                            <a:rPr lang="ru-RU" sz="1000" dirty="0" smtClean="0">
                              <a:effectLst/>
                            </a:rPr>
                            <a:t>расчёт </a:t>
                          </a:r>
                          <a:r>
                            <a:rPr lang="en-US" sz="1000" dirty="0" err="1" smtClean="0">
                              <a:effectLst/>
                            </a:rPr>
                            <a:t>dT</a:t>
                          </a:r>
                          <a:r>
                            <a:rPr lang="en-US" sz="1000" baseline="-25000" dirty="0" err="1" smtClean="0">
                              <a:effectLst/>
                            </a:rPr>
                            <a:t>min</a:t>
                          </a:r>
                          <a:endParaRPr lang="en-US" sz="1000" dirty="0" smtClean="0">
                            <a:effectLst/>
                          </a:endParaRPr>
                        </a:p>
                      </a:txBody>
                      <a:tcPr marL="81436" marR="48862" marT="50898" marB="50898" anchor="ctr"/>
                    </a:tc>
                  </a:tr>
                  <a:tr h="35159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Смеситель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Адиабатическое смешение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00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0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00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  <m:sSub>
                                      <m:sSubPr>
                                        <m:ctrlPr>
                                          <a:rPr lang="ru-RU" sz="1000" i="1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dirty="0" err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sz="1000" dirty="0" err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000" dirty="0" err="1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sSub>
                                      <m:sSubPr>
                                        <m:ctrlPr>
                                          <a:rPr lang="ru-RU" sz="1000" i="1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dirty="0" err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US" sz="1000" dirty="0" err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000" dirty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∑</m:t>
                                    </m:r>
                                    <m:sSub>
                                      <m:sSubPr>
                                        <m:ctrlPr>
                                          <a:rPr lang="ru-RU" sz="1000" i="1" dirty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dirty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US" sz="1000" dirty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ru-RU" sz="1000" dirty="0" smtClean="0">
                            <a:effectLst/>
                            <a:latin typeface="+mn-lt"/>
                          </a:endParaRPr>
                        </a:p>
                      </a:txBody>
                      <a:tcPr marL="81436" marR="48862" marT="50898" marB="50898" anchor="ctr"/>
                    </a:tc>
                  </a:tr>
                  <a:tr h="4567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>
                              <a:effectLst/>
                            </a:rPr>
                            <a:t>Разделитель</a:t>
                          </a:r>
                          <a:endParaRPr lang="ru-RU" sz="1000" b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Деление потока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Состояние сохраняется, расход делится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48862" marT="50898" marB="50898" anchor="ctr"/>
                    </a:tc>
                  </a:tr>
                  <a:tr h="333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Источник тепла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Подвод тепла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Задание Q, T или x на выходе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48862" marT="50898" marB="50898" anchor="ctr"/>
                    </a:tc>
                  </a:tr>
                  <a:tr h="333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b="0" dirty="0" smtClean="0">
                              <a:effectLst/>
                              <a:latin typeface="+mn-lt"/>
                            </a:rPr>
                            <a:t>Алгоритм 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b="0" dirty="0" err="1" smtClean="0">
                              <a:effectLst/>
                              <a:latin typeface="+mn-lt"/>
                            </a:rPr>
                            <a:t>Нелдера-Мида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b="0" dirty="0" smtClean="0">
                              <a:effectLst/>
                              <a:latin typeface="+mn-lt"/>
                            </a:rPr>
                            <a:t>Метод деформируемого многогранника, прямой метод безусловной оптимизации (не требует вычисления градиентов)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48862" marT="50898" marB="50898"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Объект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3576942"/>
                  </p:ext>
                </p:extLst>
              </p:nvPr>
            </p:nvGraphicFramePr>
            <p:xfrm>
              <a:off x="252264" y="2370926"/>
              <a:ext cx="6470753" cy="35769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4947"/>
                    <a:gridCol w="1558835"/>
                    <a:gridCol w="3526971"/>
                  </a:tblGrid>
                  <a:tr h="333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Компонент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Метод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Ключевая особенность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</a:tr>
                  <a:tr h="462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 smtClean="0">
                              <a:effectLst/>
                            </a:rPr>
                            <a:t>Компрессоры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Изоэнтропийный КПД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1436" marR="48862" marT="50898" marB="50898" anchor="ctr">
                        <a:blipFill rotWithShape="0">
                          <a:blip r:embed="rId2"/>
                          <a:stretch>
                            <a:fillRect l="-83592" t="-73684" r="-864" b="-607895"/>
                          </a:stretch>
                        </a:blipFill>
                      </a:tcPr>
                    </a:tc>
                  </a:tr>
                  <a:tr h="4567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>
                              <a:effectLst/>
                            </a:rPr>
                            <a:t>Турбина</a:t>
                          </a:r>
                          <a:endParaRPr lang="ru-RU" sz="1000" b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Изоэнтропийный КПД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1436" marR="48862" marT="50898" marB="50898" anchor="ctr">
                        <a:blipFill rotWithShape="0">
                          <a:blip r:embed="rId2"/>
                          <a:stretch>
                            <a:fillRect l="-83592" t="-176000" r="-864" b="-516000"/>
                          </a:stretch>
                        </a:blipFill>
                      </a:tcPr>
                    </a:tc>
                  </a:tr>
                  <a:tr h="5589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>
                              <a:effectLst/>
                            </a:rPr>
                            <a:t>Теплообменник</a:t>
                          </a:r>
                          <a:endParaRPr lang="ru-RU" sz="1000" b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 smtClean="0">
                              <a:effectLst/>
                            </a:rPr>
                            <a:t>Численное интегрирование по длине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 smtClean="0">
                              <a:effectLst/>
                            </a:rPr>
                            <a:t>Разбиение на 20 узлов; пересчёт </a:t>
                          </a:r>
                          <a:r>
                            <a:rPr lang="en-US" sz="1000" dirty="0" smtClean="0">
                              <a:effectLst/>
                            </a:rPr>
                            <a:t>H→T</a:t>
                          </a:r>
                          <a:r>
                            <a:rPr lang="ru-RU" sz="1000" dirty="0" smtClean="0">
                              <a:effectLst/>
                            </a:rPr>
                            <a:t>,</a:t>
                          </a:r>
                          <a:r>
                            <a:rPr lang="en-US" sz="1000" dirty="0" smtClean="0">
                              <a:effectLst/>
                            </a:rPr>
                            <a:t> </a:t>
                          </a:r>
                          <a:r>
                            <a:rPr lang="ru-RU" sz="1000" dirty="0" smtClean="0">
                              <a:effectLst/>
                            </a:rPr>
                            <a:t>расчёт </a:t>
                          </a:r>
                          <a:r>
                            <a:rPr lang="en-US" sz="1000" dirty="0" err="1" smtClean="0">
                              <a:effectLst/>
                            </a:rPr>
                            <a:t>dT</a:t>
                          </a:r>
                          <a:r>
                            <a:rPr lang="en-US" sz="1000" baseline="-25000" dirty="0" err="1" smtClean="0">
                              <a:effectLst/>
                            </a:rPr>
                            <a:t>min</a:t>
                          </a:r>
                          <a:endParaRPr lang="en-US" sz="1000" dirty="0" smtClean="0">
                            <a:effectLst/>
                          </a:endParaRPr>
                        </a:p>
                      </a:txBody>
                      <a:tcPr marL="81436" marR="48862" marT="50898" marB="50898" anchor="ctr"/>
                    </a:tc>
                  </a:tr>
                  <a:tr h="4169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Смеситель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Адиабатическое смешение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81436" marR="48862" marT="50898" marB="50898" anchor="ctr">
                        <a:blipFill rotWithShape="0">
                          <a:blip r:embed="rId2"/>
                          <a:stretch>
                            <a:fillRect l="-83592" t="-439706" r="-864" b="-333824"/>
                          </a:stretch>
                        </a:blipFill>
                      </a:tcPr>
                    </a:tc>
                  </a:tr>
                  <a:tr h="4567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>
                              <a:effectLst/>
                            </a:rPr>
                            <a:t>Разделитель</a:t>
                          </a:r>
                          <a:endParaRPr lang="ru-RU" sz="1000" b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Деление потока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Состояние сохраняется, расход делится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48862" marT="50898" marB="50898" anchor="ctr"/>
                    </a:tc>
                  </a:tr>
                  <a:tr h="3331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Источник тепла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Подвод тепла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dirty="0">
                              <a:effectLst/>
                            </a:rPr>
                            <a:t>Задание Q, T или x на выходе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48862" marT="50898" marB="50898" anchor="ctr"/>
                    </a:tc>
                  </a:tr>
                  <a:tr h="5589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b="0" dirty="0" smtClean="0">
                              <a:effectLst/>
                              <a:latin typeface="+mn-lt"/>
                            </a:rPr>
                            <a:t>Алгоритм 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48862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b="0" dirty="0" err="1" smtClean="0">
                              <a:effectLst/>
                              <a:latin typeface="+mn-lt"/>
                            </a:rPr>
                            <a:t>Нелдера-Мида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81436" marT="50898" marB="50898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000" b="0" dirty="0" smtClean="0">
                              <a:effectLst/>
                              <a:latin typeface="+mn-lt"/>
                            </a:rPr>
                            <a:t>Метод деформируемого многогранника, прямой метод безусловной оптимизации (не требует вычисления градиентов)</a:t>
                          </a:r>
                          <a:endParaRPr lang="ru-RU" sz="1000" b="0" dirty="0">
                            <a:effectLst/>
                            <a:latin typeface="+mn-lt"/>
                          </a:endParaRPr>
                        </a:p>
                      </a:txBody>
                      <a:tcPr marL="81436" marR="48862" marT="50898" marB="50898"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93849" y="2081655"/>
            <a:ext cx="40056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solidFill>
                  <a:srgbClr val="445684"/>
                </a:solidFill>
              </a:rPr>
              <a:t>Методы моделирования основных компонентов</a:t>
            </a:r>
            <a:endParaRPr lang="ru-RU" sz="1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274368" y="940345"/>
            <a:ext cx="1143443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Моделирование компонентов цикла выполнено на основе уравнений сохранения энергии с использованием уравнения состояния реального газа </a:t>
            </a:r>
            <a:r>
              <a:rPr lang="ru-RU" dirty="0" err="1">
                <a:solidFill>
                  <a:srgbClr val="445684"/>
                </a:solidFill>
              </a:rPr>
              <a:t>CoolProp</a:t>
            </a:r>
            <a:r>
              <a:rPr lang="ru-RU" dirty="0">
                <a:solidFill>
                  <a:srgbClr val="445684"/>
                </a:solidFill>
              </a:rPr>
              <a:t>. Для турбомашин применён метод изоэнтропийного КПД, для рекуператоров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>
                <a:solidFill>
                  <a:srgbClr val="445684"/>
                </a:solidFill>
              </a:rPr>
              <a:t>численная дискретизация по длине с контролем минимального температурного напора.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896" y="2389431"/>
            <a:ext cx="5267138" cy="3651451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6759896" y="2081654"/>
            <a:ext cx="22238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solidFill>
                  <a:srgbClr val="445684"/>
                </a:solidFill>
              </a:rPr>
              <a:t>Блок-схема расчета цикла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23982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Выводы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71638" y="1021852"/>
            <a:ext cx="1096165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dirty="0" smtClean="0">
                <a:solidFill>
                  <a:srgbClr val="445684"/>
                </a:solidFill>
              </a:rPr>
              <a:t>sCO</a:t>
            </a:r>
            <a:r>
              <a:rPr lang="ru-RU" dirty="0">
                <a:solidFill>
                  <a:srgbClr val="445684"/>
                </a:solidFill>
              </a:rPr>
              <a:t>₂-циклы обеспечивают высокую эффективность и </a:t>
            </a:r>
            <a:r>
              <a:rPr lang="ru-RU" dirty="0" smtClean="0">
                <a:solidFill>
                  <a:srgbClr val="445684"/>
                </a:solidFill>
              </a:rPr>
              <a:t>компактность (турбина </a:t>
            </a:r>
            <a:r>
              <a:rPr lang="ru-RU" dirty="0">
                <a:solidFill>
                  <a:srgbClr val="445684"/>
                </a:solidFill>
              </a:rPr>
              <a:t>в </a:t>
            </a:r>
            <a:r>
              <a:rPr lang="ru-RU" dirty="0" smtClean="0">
                <a:solidFill>
                  <a:srgbClr val="445684"/>
                </a:solidFill>
              </a:rPr>
              <a:t>10-30 </a:t>
            </a:r>
            <a:r>
              <a:rPr lang="ru-RU" dirty="0">
                <a:solidFill>
                  <a:srgbClr val="445684"/>
                </a:solidFill>
              </a:rPr>
              <a:t>раз меньше паровой) за счёт уникальных свойств CO</a:t>
            </a:r>
            <a:r>
              <a:rPr lang="ru-RU" dirty="0" smtClean="0">
                <a:solidFill>
                  <a:srgbClr val="445684"/>
                </a:solidFill>
              </a:rPr>
              <a:t>₂ вблизи </a:t>
            </a:r>
            <a:r>
              <a:rPr lang="ru-RU" dirty="0">
                <a:solidFill>
                  <a:srgbClr val="445684"/>
                </a:solidFill>
              </a:rPr>
              <a:t>критической точки (31°C / 7,38 МПа</a:t>
            </a:r>
            <a:r>
              <a:rPr lang="ru-RU" dirty="0" smtClean="0">
                <a:solidFill>
                  <a:srgbClr val="445684"/>
                </a:solidFill>
              </a:rPr>
              <a:t>).</a:t>
            </a:r>
            <a:endParaRPr lang="ru-RU" dirty="0">
              <a:solidFill>
                <a:srgbClr val="445684"/>
              </a:solidFill>
            </a:endParaRPr>
          </a:p>
          <a:p>
            <a:r>
              <a:rPr lang="ru-RU" dirty="0">
                <a:solidFill>
                  <a:srgbClr val="445684"/>
                </a:solidFill>
              </a:rPr>
              <a:t>2. </a:t>
            </a:r>
            <a:r>
              <a:rPr lang="ru-RU" dirty="0" smtClean="0">
                <a:solidFill>
                  <a:srgbClr val="445684"/>
                </a:solidFill>
              </a:rPr>
              <a:t> </a:t>
            </a:r>
            <a:r>
              <a:rPr lang="ru-RU" dirty="0" err="1" smtClean="0">
                <a:solidFill>
                  <a:srgbClr val="445684"/>
                </a:solidFill>
              </a:rPr>
              <a:t>Рекомпрессионный</a:t>
            </a:r>
            <a:r>
              <a:rPr lang="ru-RU" dirty="0" smtClean="0">
                <a:solidFill>
                  <a:srgbClr val="445684"/>
                </a:solidFill>
              </a:rPr>
              <a:t> </a:t>
            </a:r>
            <a:r>
              <a:rPr lang="ru-RU" dirty="0">
                <a:solidFill>
                  <a:srgbClr val="445684"/>
                </a:solidFill>
              </a:rPr>
              <a:t>цикл Брайтона является оптимальной </a:t>
            </a:r>
            <a:r>
              <a:rPr lang="ru-RU" dirty="0" smtClean="0">
                <a:solidFill>
                  <a:srgbClr val="445684"/>
                </a:solidFill>
              </a:rPr>
              <a:t>конфигурацией для </a:t>
            </a:r>
            <a:r>
              <a:rPr lang="ru-RU" dirty="0">
                <a:solidFill>
                  <a:srgbClr val="445684"/>
                </a:solidFill>
              </a:rPr>
              <a:t>АСММ с параметрами </a:t>
            </a:r>
            <a:r>
              <a:rPr lang="ru-RU" dirty="0" smtClean="0">
                <a:solidFill>
                  <a:srgbClr val="445684"/>
                </a:solidFill>
              </a:rPr>
              <a:t>715°C/30 </a:t>
            </a:r>
            <a:r>
              <a:rPr lang="ru-RU" dirty="0">
                <a:solidFill>
                  <a:srgbClr val="445684"/>
                </a:solidFill>
              </a:rPr>
              <a:t>МПа: КПД до 29,2% для «Шельф-М</a:t>
            </a:r>
            <a:r>
              <a:rPr lang="ru-RU" dirty="0" smtClean="0">
                <a:solidFill>
                  <a:srgbClr val="445684"/>
                </a:solidFill>
              </a:rPr>
              <a:t>», что </a:t>
            </a:r>
            <a:r>
              <a:rPr lang="ru-RU" dirty="0">
                <a:solidFill>
                  <a:srgbClr val="445684"/>
                </a:solidFill>
              </a:rPr>
              <a:t>на 0,8 </a:t>
            </a:r>
            <a:r>
              <a:rPr lang="ru-RU" dirty="0" err="1">
                <a:solidFill>
                  <a:srgbClr val="445684"/>
                </a:solidFill>
              </a:rPr>
              <a:t>п.п</a:t>
            </a:r>
            <a:r>
              <a:rPr lang="ru-RU" dirty="0">
                <a:solidFill>
                  <a:srgbClr val="445684"/>
                </a:solidFill>
              </a:rPr>
              <a:t>. выше парового </a:t>
            </a:r>
            <a:r>
              <a:rPr lang="ru-RU" dirty="0" smtClean="0">
                <a:solidFill>
                  <a:srgbClr val="445684"/>
                </a:solidFill>
              </a:rPr>
              <a:t>цикла.</a:t>
            </a:r>
          </a:p>
          <a:p>
            <a:r>
              <a:rPr lang="ru-RU" dirty="0" smtClean="0">
                <a:solidFill>
                  <a:srgbClr val="445684"/>
                </a:solidFill>
              </a:rPr>
              <a:t>3</a:t>
            </a:r>
            <a:r>
              <a:rPr lang="ru-RU" dirty="0">
                <a:solidFill>
                  <a:srgbClr val="445684"/>
                </a:solidFill>
              </a:rPr>
              <a:t>. </a:t>
            </a:r>
            <a:r>
              <a:rPr lang="ru-RU" dirty="0" smtClean="0">
                <a:solidFill>
                  <a:srgbClr val="445684"/>
                </a:solidFill>
              </a:rPr>
              <a:t> Ключевые </a:t>
            </a:r>
            <a:r>
              <a:rPr lang="ru-RU" dirty="0">
                <a:solidFill>
                  <a:srgbClr val="445684"/>
                </a:solidFill>
              </a:rPr>
              <a:t>параметры: T₂ (0,02–0,03 </a:t>
            </a:r>
            <a:r>
              <a:rPr lang="ru-RU" dirty="0" err="1">
                <a:solidFill>
                  <a:srgbClr val="445684"/>
                </a:solidFill>
              </a:rPr>
              <a:t>п.п</a:t>
            </a:r>
            <a:r>
              <a:rPr lang="ru-RU" dirty="0" smtClean="0">
                <a:solidFill>
                  <a:srgbClr val="445684"/>
                </a:solidFill>
              </a:rPr>
              <a:t>./°К), </a:t>
            </a:r>
            <a:r>
              <a:rPr lang="ru-RU" dirty="0">
                <a:solidFill>
                  <a:srgbClr val="445684"/>
                </a:solidFill>
              </a:rPr>
              <a:t>T₁ (</a:t>
            </a:r>
            <a:r>
              <a:rPr lang="ru-RU" dirty="0" smtClean="0">
                <a:solidFill>
                  <a:srgbClr val="445684"/>
                </a:solidFill>
              </a:rPr>
              <a:t>наибольшая чувствительность</a:t>
            </a:r>
            <a:r>
              <a:rPr lang="ru-RU" dirty="0">
                <a:solidFill>
                  <a:srgbClr val="445684"/>
                </a:solidFill>
              </a:rPr>
              <a:t>, ~4°C → 1 </a:t>
            </a:r>
            <a:r>
              <a:rPr lang="ru-RU" dirty="0" err="1">
                <a:solidFill>
                  <a:srgbClr val="445684"/>
                </a:solidFill>
              </a:rPr>
              <a:t>п.п</a:t>
            </a:r>
            <a:r>
              <a:rPr lang="ru-RU" dirty="0">
                <a:solidFill>
                  <a:srgbClr val="445684"/>
                </a:solidFill>
              </a:rPr>
              <a:t>.), x (</a:t>
            </a:r>
            <a:r>
              <a:rPr lang="ru-RU" dirty="0" smtClean="0">
                <a:solidFill>
                  <a:srgbClr val="445684"/>
                </a:solidFill>
              </a:rPr>
              <a:t>оптимизация </a:t>
            </a:r>
            <a:r>
              <a:rPr lang="ru-RU" dirty="0">
                <a:solidFill>
                  <a:srgbClr val="445684"/>
                </a:solidFill>
              </a:rPr>
              <a:t>+</a:t>
            </a:r>
            <a:r>
              <a:rPr lang="ru-RU" dirty="0" smtClean="0">
                <a:solidFill>
                  <a:srgbClr val="445684"/>
                </a:solidFill>
              </a:rPr>
              <a:t>2-5 </a:t>
            </a:r>
            <a:r>
              <a:rPr lang="ru-RU" dirty="0" err="1">
                <a:solidFill>
                  <a:srgbClr val="445684"/>
                </a:solidFill>
              </a:rPr>
              <a:t>п.п</a:t>
            </a:r>
            <a:r>
              <a:rPr lang="ru-RU" dirty="0" smtClean="0">
                <a:solidFill>
                  <a:srgbClr val="445684"/>
                </a:solidFill>
              </a:rPr>
              <a:t>.).</a:t>
            </a:r>
          </a:p>
          <a:p>
            <a:r>
              <a:rPr lang="ru-RU" dirty="0" smtClean="0">
                <a:solidFill>
                  <a:srgbClr val="445684"/>
                </a:solidFill>
              </a:rPr>
              <a:t>4</a:t>
            </a:r>
            <a:r>
              <a:rPr lang="ru-RU" dirty="0">
                <a:solidFill>
                  <a:srgbClr val="445684"/>
                </a:solidFill>
              </a:rPr>
              <a:t>. </a:t>
            </a:r>
            <a:r>
              <a:rPr lang="ru-RU" dirty="0" smtClean="0">
                <a:solidFill>
                  <a:srgbClr val="445684"/>
                </a:solidFill>
              </a:rPr>
              <a:t> Основной </a:t>
            </a:r>
            <a:r>
              <a:rPr lang="ru-RU" dirty="0">
                <a:solidFill>
                  <a:srgbClr val="445684"/>
                </a:solidFill>
              </a:rPr>
              <a:t>вызов </a:t>
            </a:r>
            <a:r>
              <a:rPr lang="ru-RU" dirty="0" smtClean="0">
                <a:solidFill>
                  <a:srgbClr val="445684"/>
                </a:solidFill>
              </a:rPr>
              <a:t>- </a:t>
            </a:r>
            <a:r>
              <a:rPr lang="ru-RU" dirty="0">
                <a:solidFill>
                  <a:srgbClr val="445684"/>
                </a:solidFill>
              </a:rPr>
              <a:t>стойкость материалов к </a:t>
            </a:r>
            <a:r>
              <a:rPr lang="ru-RU" dirty="0" err="1">
                <a:solidFill>
                  <a:srgbClr val="445684"/>
                </a:solidFill>
              </a:rPr>
              <a:t>карбюризации</a:t>
            </a:r>
            <a:r>
              <a:rPr lang="ru-RU" dirty="0">
                <a:solidFill>
                  <a:srgbClr val="445684"/>
                </a:solidFill>
              </a:rPr>
              <a:t>; для T &gt; 650°C</a:t>
            </a:r>
          </a:p>
          <a:p>
            <a:r>
              <a:rPr lang="ru-RU" dirty="0" smtClean="0">
                <a:solidFill>
                  <a:srgbClr val="445684"/>
                </a:solidFill>
              </a:rPr>
              <a:t>требуются </a:t>
            </a:r>
            <a:r>
              <a:rPr lang="ru-RU" dirty="0">
                <a:solidFill>
                  <a:srgbClr val="445684"/>
                </a:solidFill>
              </a:rPr>
              <a:t>никелевые </a:t>
            </a:r>
            <a:r>
              <a:rPr lang="ru-RU" dirty="0" err="1">
                <a:solidFill>
                  <a:srgbClr val="445684"/>
                </a:solidFill>
              </a:rPr>
              <a:t>суперсплавы</a:t>
            </a:r>
            <a:r>
              <a:rPr lang="ru-RU" dirty="0">
                <a:solidFill>
                  <a:srgbClr val="445684"/>
                </a:solidFill>
              </a:rPr>
              <a:t> (</a:t>
            </a:r>
            <a:r>
              <a:rPr lang="ru-RU" dirty="0" err="1">
                <a:solidFill>
                  <a:srgbClr val="445684"/>
                </a:solidFill>
              </a:rPr>
              <a:t>Haynes</a:t>
            </a:r>
            <a:r>
              <a:rPr lang="ru-RU" dirty="0">
                <a:solidFill>
                  <a:srgbClr val="445684"/>
                </a:solidFill>
              </a:rPr>
              <a:t> 282, </a:t>
            </a:r>
            <a:r>
              <a:rPr lang="ru-RU" dirty="0" err="1">
                <a:solidFill>
                  <a:srgbClr val="445684"/>
                </a:solidFill>
              </a:rPr>
              <a:t>Inconel</a:t>
            </a:r>
            <a:r>
              <a:rPr lang="ru-RU" dirty="0">
                <a:solidFill>
                  <a:srgbClr val="445684"/>
                </a:solidFill>
              </a:rPr>
              <a:t> 740H, </a:t>
            </a:r>
            <a:r>
              <a:rPr lang="ru-RU" dirty="0" err="1">
                <a:solidFill>
                  <a:srgbClr val="445684"/>
                </a:solidFill>
              </a:rPr>
              <a:t>Haynes</a:t>
            </a:r>
            <a:r>
              <a:rPr lang="ru-RU" dirty="0">
                <a:solidFill>
                  <a:srgbClr val="445684"/>
                </a:solidFill>
              </a:rPr>
              <a:t> 230</a:t>
            </a:r>
            <a:r>
              <a:rPr lang="ru-RU" dirty="0" smtClean="0">
                <a:solidFill>
                  <a:srgbClr val="445684"/>
                </a:solidFill>
              </a:rPr>
              <a:t>). Отсутствие </a:t>
            </a:r>
            <a:r>
              <a:rPr lang="ru-RU" dirty="0">
                <a:solidFill>
                  <a:srgbClr val="445684"/>
                </a:solidFill>
              </a:rPr>
              <a:t>эксплуатационного опыта и высокая стоимость </a:t>
            </a:r>
            <a:r>
              <a:rPr lang="ru-RU" dirty="0" smtClean="0">
                <a:solidFill>
                  <a:srgbClr val="445684"/>
                </a:solidFill>
              </a:rPr>
              <a:t>компонентов сдерживают </a:t>
            </a:r>
            <a:r>
              <a:rPr lang="ru-RU" dirty="0">
                <a:solidFill>
                  <a:srgbClr val="445684"/>
                </a:solidFill>
              </a:rPr>
              <a:t>промышленное внедрение.</a:t>
            </a:r>
          </a:p>
        </p:txBody>
      </p:sp>
    </p:spTree>
    <p:extLst>
      <p:ext uri="{BB962C8B-B14F-4D97-AF65-F5344CB8AC3E}">
        <p14:creationId xmlns:p14="http://schemas.microsoft.com/office/powerpoint/2010/main" val="2003142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solidFill>
                  <a:srgbClr val="445684"/>
                </a:solidFill>
              </a:rPr>
              <a:t>Спасибо за внимание!</a:t>
            </a:r>
            <a:endParaRPr lang="ru-RU" dirty="0">
              <a:solidFill>
                <a:srgbClr val="445684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10000"/>
          </a:bodyPr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10000"/>
          </a:bodyPr>
          <a:lstStyle/>
          <a:p>
            <a:endParaRPr lang="ru-RU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2999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Выбор оптимального термодинамического цикла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562100" y="6347021"/>
            <a:ext cx="7315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 smtClean="0">
                <a:solidFill>
                  <a:srgbClr val="445684"/>
                </a:solidFill>
              </a:rPr>
              <a:t>Источник: АНАЛИЗ </a:t>
            </a:r>
            <a:r>
              <a:rPr lang="ru-RU" sz="1200" b="1" dirty="0">
                <a:solidFill>
                  <a:srgbClr val="445684"/>
                </a:solidFill>
              </a:rPr>
              <a:t>ЭФФЕКТИВНОСТИ S-CO2 ЦИКЛОВ ДЛЯ </a:t>
            </a:r>
            <a:r>
              <a:rPr lang="ru-RU" sz="1200" b="1" dirty="0" smtClean="0">
                <a:solidFill>
                  <a:srgbClr val="445684"/>
                </a:solidFill>
              </a:rPr>
              <a:t>АСММ «ШЕЛЬФ-М</a:t>
            </a:r>
            <a:r>
              <a:rPr lang="ru-RU" sz="1200" b="1" dirty="0">
                <a:solidFill>
                  <a:srgbClr val="445684"/>
                </a:solidFill>
              </a:rPr>
              <a:t>» Д.В. </a:t>
            </a:r>
            <a:r>
              <a:rPr lang="ru-RU" sz="1200" b="1" dirty="0" err="1">
                <a:solidFill>
                  <a:srgbClr val="445684"/>
                </a:solidFill>
              </a:rPr>
              <a:t>Паторкин</a:t>
            </a:r>
            <a:r>
              <a:rPr lang="ru-RU" sz="1200" b="1" dirty="0">
                <a:solidFill>
                  <a:srgbClr val="445684"/>
                </a:solidFill>
              </a:rPr>
              <a:t>, И.А. Максимов, В. Р. Жихарева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71637" y="2443641"/>
            <a:ext cx="61387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>
              <a:solidFill>
                <a:srgbClr val="445684"/>
              </a:solidFill>
            </a:endParaRPr>
          </a:p>
          <a:p>
            <a:r>
              <a:rPr lang="ru-RU" dirty="0">
                <a:solidFill>
                  <a:srgbClr val="445684"/>
                </a:solidFill>
              </a:rPr>
              <a:t>Для таких параметров </a:t>
            </a:r>
            <a:r>
              <a:rPr lang="ru-RU" dirty="0" smtClean="0">
                <a:solidFill>
                  <a:srgbClr val="445684"/>
                </a:solidFill>
              </a:rPr>
              <a:t>перспективным </a:t>
            </a:r>
            <a:r>
              <a:rPr lang="ru-RU" dirty="0">
                <a:solidFill>
                  <a:srgbClr val="445684"/>
                </a:solidFill>
              </a:rPr>
              <a:t>решением является </a:t>
            </a:r>
            <a:r>
              <a:rPr lang="ru-RU" dirty="0" err="1">
                <a:solidFill>
                  <a:srgbClr val="445684"/>
                </a:solidFill>
              </a:rPr>
              <a:t>рекомпрессионный</a:t>
            </a:r>
            <a:r>
              <a:rPr lang="ru-RU" dirty="0">
                <a:solidFill>
                  <a:srgbClr val="445684"/>
                </a:solidFill>
              </a:rPr>
              <a:t> цикл Брайтона на сверхкритическом CO</a:t>
            </a:r>
            <a:r>
              <a:rPr lang="ru-RU" dirty="0" smtClean="0">
                <a:solidFill>
                  <a:srgbClr val="445684"/>
                </a:solidFill>
              </a:rPr>
              <a:t>₂. </a:t>
            </a:r>
            <a:r>
              <a:rPr lang="ru-RU" dirty="0">
                <a:solidFill>
                  <a:srgbClr val="445684"/>
                </a:solidFill>
              </a:rPr>
              <a:t>Это подтверждается рядом исследований: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471637" y="963052"/>
            <a:ext cx="113774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>
                <a:solidFill>
                  <a:srgbClr val="445684"/>
                </a:solidFill>
              </a:rPr>
              <a:t>На основе полученных данных сформулирована задача: обосновать выбор рациональной схемы преобразования тепловой энергии реактора </a:t>
            </a:r>
            <a:r>
              <a:rPr lang="ru-RU" i="1" dirty="0" smtClean="0">
                <a:solidFill>
                  <a:srgbClr val="445684"/>
                </a:solidFill>
              </a:rPr>
              <a:t>мощностью </a:t>
            </a:r>
            <a:r>
              <a:rPr lang="ru-RU" i="1" dirty="0">
                <a:solidFill>
                  <a:srgbClr val="445684"/>
                </a:solidFill>
              </a:rPr>
              <a:t>500 кВт для надёжного энергоснабжения удалённых и изолированных районов.</a:t>
            </a: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636102"/>
              </p:ext>
            </p:extLst>
          </p:nvPr>
        </p:nvGraphicFramePr>
        <p:xfrm>
          <a:off x="6386662" y="2759820"/>
          <a:ext cx="5395763" cy="3146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7588"/>
                <a:gridCol w="885825"/>
                <a:gridCol w="781050"/>
                <a:gridCol w="857250"/>
                <a:gridCol w="1924050"/>
              </a:tblGrid>
              <a:tr h="19858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effectLst/>
                        </a:rPr>
                        <a:t>T</a:t>
                      </a:r>
                      <a:r>
                        <a:rPr lang="en-US" sz="1200" baseline="-25000" dirty="0" err="1">
                          <a:effectLst/>
                        </a:rPr>
                        <a:t>max</a:t>
                      </a:r>
                      <a:r>
                        <a:rPr lang="en-US" sz="1200" dirty="0">
                          <a:effectLst/>
                        </a:rPr>
                        <a:t> (°C)</a:t>
                      </a:r>
                      <a:endParaRPr lang="en-US" sz="1200" b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p</a:t>
                      </a:r>
                      <a:r>
                        <a:rPr lang="en-US" sz="1200" baseline="-25000">
                          <a:effectLst/>
                        </a:rPr>
                        <a:t>max</a:t>
                      </a:r>
                      <a:r>
                        <a:rPr lang="en-US" sz="1200">
                          <a:effectLst/>
                        </a:rPr>
                        <a:t> (MPa)</a:t>
                      </a:r>
                      <a:endParaRPr lang="en-US" sz="1200" b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200" dirty="0" smtClean="0">
                          <a:effectLst/>
                        </a:rPr>
                        <a:t>η</a:t>
                      </a:r>
                      <a:r>
                        <a:rPr lang="en-US" sz="1200" baseline="-25000" dirty="0" err="1" smtClean="0">
                          <a:effectLst/>
                        </a:rPr>
                        <a:t>th</a:t>
                      </a:r>
                      <a:r>
                        <a:rPr lang="en-US" sz="1200" dirty="0" smtClean="0">
                          <a:effectLst/>
                        </a:rPr>
                        <a:t> (%)</a:t>
                      </a:r>
                      <a:endParaRPr lang="en-US" sz="1200" b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P</a:t>
                      </a:r>
                      <a:r>
                        <a:rPr lang="en-US" sz="1200" baseline="-25000" dirty="0">
                          <a:effectLst/>
                        </a:rPr>
                        <a:t>net</a:t>
                      </a:r>
                      <a:r>
                        <a:rPr lang="en-US" sz="1200" dirty="0">
                          <a:effectLst/>
                        </a:rPr>
                        <a:t> (MW)</a:t>
                      </a:r>
                      <a:endParaRPr lang="en-US" sz="1200" b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effectLst/>
                        </a:rPr>
                        <a:t>Источник</a:t>
                      </a:r>
                      <a:endParaRPr lang="en-US" sz="1200" b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</a:tr>
              <a:tr h="345294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811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19.98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50.87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80.92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dirty="0">
                          <a:effectLst/>
                        </a:rPr>
                        <a:t>Al-</a:t>
                      </a:r>
                      <a:r>
                        <a:rPr lang="en-US" sz="1200" dirty="0" err="1">
                          <a:effectLst/>
                        </a:rPr>
                        <a:t>Sulaiman</a:t>
                      </a:r>
                      <a:r>
                        <a:rPr lang="en-US" sz="1200" dirty="0">
                          <a:effectLst/>
                        </a:rPr>
                        <a:t> and </a:t>
                      </a:r>
                      <a:r>
                        <a:rPr lang="en-US" sz="1200" dirty="0" err="1">
                          <a:effectLst/>
                        </a:rPr>
                        <a:t>Atif</a:t>
                      </a:r>
                      <a:r>
                        <a:rPr lang="en-US" sz="1200" dirty="0">
                          <a:effectLst/>
                        </a:rPr>
                        <a:t> (2015)</a:t>
                      </a:r>
                      <a:endParaRPr lang="en-US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</a:tr>
              <a:tr h="198586"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</a:rPr>
                        <a:t>700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20.00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53.14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293.00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Dostal et al. (2004)</a:t>
                      </a:r>
                      <a:endParaRPr lang="en-US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</a:tr>
              <a:tr h="345294"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</a:rPr>
                        <a:t>650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20.00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51.50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25.00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da-DK" sz="1200">
                          <a:effectLst/>
                        </a:rPr>
                        <a:t>Monjurul Ehsan et al. (2020)</a:t>
                      </a:r>
                      <a:endParaRPr lang="da-DK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</a:tr>
              <a:tr h="345294"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</a:rPr>
                        <a:t>600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25.00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42.90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21.42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Mohammadi et al. (2020)</a:t>
                      </a:r>
                      <a:endParaRPr lang="en-US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</a:tr>
              <a:tr h="280209"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</a:rPr>
                        <a:t>673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20.00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42.44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2184.00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dirty="0" err="1">
                          <a:effectLst/>
                        </a:rPr>
                        <a:t>Halimi</a:t>
                      </a:r>
                      <a:r>
                        <a:rPr lang="en-US" sz="1200" dirty="0">
                          <a:effectLst/>
                        </a:rPr>
                        <a:t> and </a:t>
                      </a:r>
                      <a:r>
                        <a:rPr lang="en-US" sz="1200" dirty="0" err="1">
                          <a:effectLst/>
                        </a:rPr>
                        <a:t>Suh</a:t>
                      </a:r>
                      <a:r>
                        <a:rPr lang="en-US" sz="1200" dirty="0">
                          <a:effectLst/>
                        </a:rPr>
                        <a:t> (2012)</a:t>
                      </a:r>
                      <a:endParaRPr lang="en-US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</a:tr>
              <a:tr h="19858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550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20.70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41.48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249.00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Wang and Dai (2016)</a:t>
                      </a:r>
                      <a:endParaRPr lang="en-US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</a:tr>
              <a:tr h="198586"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</a:rPr>
                        <a:t>570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27.58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48.46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74.20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Cho et al. (2015)</a:t>
                      </a:r>
                      <a:endParaRPr lang="en-US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</a:tr>
              <a:tr h="198586"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</a:rPr>
                        <a:t>601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25.46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46.09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7.54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Hou et al. (2018)</a:t>
                      </a:r>
                      <a:endParaRPr lang="en-US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</a:tr>
              <a:tr h="198586">
                <a:tc>
                  <a:txBody>
                    <a:bodyPr/>
                    <a:lstStyle/>
                    <a:p>
                      <a:pPr algn="ctr"/>
                      <a:r>
                        <a:rPr lang="ru-RU" sz="1200">
                          <a:effectLst/>
                        </a:rPr>
                        <a:t>577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20.00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40.00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2.00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>
                          <a:effectLst/>
                        </a:rPr>
                        <a:t>Zhang et al. (2020a)</a:t>
                      </a:r>
                      <a:endParaRPr lang="en-US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</a:tr>
              <a:tr h="345294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effectLst/>
                        </a:rPr>
                        <a:t>550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21.46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effectLst/>
                        </a:rPr>
                        <a:t>39.55</a:t>
                      </a:r>
                      <a:endParaRPr lang="ru-RU" sz="1200" b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effectLst/>
                        </a:rPr>
                        <a:t>237.33</a:t>
                      </a:r>
                      <a:endParaRPr lang="ru-RU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dirty="0">
                          <a:effectLst/>
                        </a:rPr>
                        <a:t>S. </a:t>
                      </a:r>
                      <a:r>
                        <a:rPr lang="en-US" sz="1200" dirty="0" err="1">
                          <a:effectLst/>
                        </a:rPr>
                        <a:t>Mahmoudi</a:t>
                      </a:r>
                      <a:r>
                        <a:rPr lang="en-US" sz="1200" dirty="0">
                          <a:effectLst/>
                        </a:rPr>
                        <a:t> et al. (2016)</a:t>
                      </a:r>
                      <a:endParaRPr lang="en-US" sz="1200" b="0" dirty="0">
                        <a:solidFill>
                          <a:srgbClr val="545454"/>
                        </a:solidFill>
                        <a:effectLst/>
                      </a:endParaRPr>
                    </a:p>
                  </a:txBody>
                  <a:tcPr marL="36954" marR="36954" marT="32335" marB="32335" anchor="ctr"/>
                </a:tc>
              </a:tr>
            </a:tbl>
          </a:graphicData>
        </a:graphic>
      </p:graphicFrame>
      <p:sp>
        <p:nvSpPr>
          <p:cNvPr id="14" name="Прямоугольник 13"/>
          <p:cNvSpPr/>
          <p:nvPr/>
        </p:nvSpPr>
        <p:spPr>
          <a:xfrm>
            <a:off x="474091" y="1945684"/>
            <a:ext cx="11226219" cy="646331"/>
          </a:xfrm>
          <a:prstGeom prst="rect">
            <a:avLst/>
          </a:prstGeom>
          <a:ln w="19050">
            <a:solidFill>
              <a:srgbClr val="445684"/>
            </a:solidFill>
          </a:ln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45684"/>
                </a:solidFill>
              </a:rPr>
              <a:t>Исходные данные реакторной установки: тепловая мощность 2,75 МВт, температура на входе в турбину 715°C, давление 30 МПа.</a:t>
            </a: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87" y="3643970"/>
            <a:ext cx="4714875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693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+mn-lt"/>
              </a:rPr>
              <a:t>Одноконтурные схемы – применение различных теплоносителей</a:t>
            </a:r>
            <a:endParaRPr lang="ru-RU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8567-D551-40AB-B260-E733F67754E4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730487"/>
              </p:ext>
            </p:extLst>
          </p:nvPr>
        </p:nvGraphicFramePr>
        <p:xfrm>
          <a:off x="7188128" y="1387735"/>
          <a:ext cx="4648604" cy="1754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151"/>
                <a:gridCol w="1162151"/>
                <a:gridCol w="1162151"/>
                <a:gridCol w="1162151"/>
              </a:tblGrid>
              <a:tr h="472043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Параметр/теплоноситель</a:t>
                      </a:r>
                      <a:endParaRPr lang="ru-RU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Гелий</a:t>
                      </a:r>
                      <a:endParaRPr lang="ru-RU" sz="1200" dirty="0"/>
                    </a:p>
                  </a:txBody>
                  <a:tcPr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СО2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СКВ</a:t>
                      </a:r>
                      <a:endParaRPr lang="ru-RU" sz="1200" dirty="0"/>
                    </a:p>
                  </a:txBody>
                  <a:tcPr/>
                </a:tc>
              </a:tr>
              <a:tr h="275005">
                <a:tc>
                  <a:txBody>
                    <a:bodyPr/>
                    <a:lstStyle/>
                    <a:p>
                      <a:r>
                        <a:rPr lang="ru-RU" sz="1200" dirty="0" err="1" smtClean="0"/>
                        <a:t>Твх</a:t>
                      </a:r>
                      <a:r>
                        <a:rPr lang="ru-RU" sz="1200" baseline="0" dirty="0" smtClean="0"/>
                        <a:t> </a:t>
                      </a:r>
                      <a:r>
                        <a:rPr lang="ru-RU" sz="1200" dirty="0" smtClean="0"/>
                        <a:t>реактора</a:t>
                      </a:r>
                      <a:endParaRPr lang="ru-RU" sz="1200" dirty="0"/>
                    </a:p>
                  </a:txBody>
                  <a:tcPr>
                    <a:lnT w="381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450-</a:t>
                      </a:r>
                      <a:r>
                        <a:rPr lang="ru-RU" sz="1200" dirty="0" smtClean="0"/>
                        <a:t>640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480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350</a:t>
                      </a:r>
                      <a:endParaRPr lang="ru-RU" sz="1200" dirty="0"/>
                    </a:p>
                  </a:txBody>
                  <a:tcPr/>
                </a:tc>
              </a:tr>
              <a:tr h="275005">
                <a:tc>
                  <a:txBody>
                    <a:bodyPr/>
                    <a:lstStyle/>
                    <a:p>
                      <a:r>
                        <a:rPr lang="ru-RU" sz="1200" dirty="0" err="1" smtClean="0"/>
                        <a:t>Твых</a:t>
                      </a:r>
                      <a:r>
                        <a:rPr lang="ru-RU" sz="1200" baseline="0" dirty="0" smtClean="0"/>
                        <a:t> реактора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800-</a:t>
                      </a:r>
                      <a:r>
                        <a:rPr lang="ru-RU" sz="1200" dirty="0" smtClean="0"/>
                        <a:t>1000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800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625</a:t>
                      </a:r>
                      <a:endParaRPr lang="ru-RU" sz="1200" dirty="0"/>
                    </a:p>
                  </a:txBody>
                  <a:tcPr/>
                </a:tc>
              </a:tr>
              <a:tr h="365770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Давление, МПа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7-9 (15-20</a:t>
                      </a:r>
                      <a:r>
                        <a:rPr lang="ru-RU" sz="1200" baseline="0" dirty="0" smtClean="0"/>
                        <a:t> для БН)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20-30/8-10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25</a:t>
                      </a:r>
                      <a:endParaRPr lang="ru-RU" sz="1200" dirty="0"/>
                    </a:p>
                  </a:txBody>
                  <a:tcPr/>
                </a:tc>
              </a:tr>
              <a:tr h="275005"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КПД, %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 smtClean="0"/>
                        <a:t>45-55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~</a:t>
                      </a:r>
                      <a:r>
                        <a:rPr lang="ru-RU" sz="1200" dirty="0" smtClean="0"/>
                        <a:t>45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smtClean="0"/>
                        <a:t>45-59(брутто)</a:t>
                      </a:r>
                      <a:endParaRPr lang="ru-RU" sz="1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7" name="Picture 4" descr=" Схематическое изображение сверхкритического ядерного реактора с водяным теплоносителем (СКВЯТ)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64" y="3334039"/>
            <a:ext cx="3261722" cy="2650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Прямоугольник 17"/>
          <p:cNvSpPr/>
          <p:nvPr/>
        </p:nvSpPr>
        <p:spPr>
          <a:xfrm>
            <a:off x="1052885" y="895302"/>
            <a:ext cx="1727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u="sng" dirty="0" smtClean="0">
                <a:solidFill>
                  <a:srgbClr val="445684"/>
                </a:solidFill>
              </a:rPr>
              <a:t>ВТГР гелий/СО2</a:t>
            </a:r>
            <a:endParaRPr lang="ru-RU" u="sng" dirty="0">
              <a:solidFill>
                <a:srgbClr val="445684"/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1399943" y="3136384"/>
            <a:ext cx="10759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u="sng" dirty="0" smtClean="0">
                <a:solidFill>
                  <a:srgbClr val="445684"/>
                </a:solidFill>
              </a:rPr>
              <a:t>СКВ вода</a:t>
            </a:r>
            <a:endParaRPr lang="ru-RU" u="sng" dirty="0">
              <a:solidFill>
                <a:srgbClr val="445684"/>
              </a:solidFill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5365411" y="826358"/>
            <a:ext cx="10617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u="sng" dirty="0" smtClean="0">
                <a:solidFill>
                  <a:srgbClr val="445684"/>
                </a:solidFill>
              </a:rPr>
              <a:t>БН гелий</a:t>
            </a:r>
            <a:endParaRPr lang="ru-RU" u="sng" dirty="0">
              <a:solidFill>
                <a:srgbClr val="445684"/>
              </a:solidFill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7418561" y="913109"/>
            <a:ext cx="4177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rgbClr val="445684"/>
                </a:solidFill>
              </a:rPr>
              <a:t>Параметры теплоносителей в реакторе</a:t>
            </a:r>
            <a:endParaRPr lang="ru-RU" dirty="0">
              <a:solidFill>
                <a:srgbClr val="445684"/>
              </a:solidFill>
            </a:endParaRPr>
          </a:p>
        </p:txBody>
      </p:sp>
      <p:sp>
        <p:nvSpPr>
          <p:cNvPr id="22" name="Прямоугольник 21"/>
          <p:cNvSpPr/>
          <p:nvPr/>
        </p:nvSpPr>
        <p:spPr>
          <a:xfrm>
            <a:off x="3781612" y="4318477"/>
            <a:ext cx="812463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rgbClr val="445684"/>
                </a:solidFill>
              </a:rPr>
              <a:t>Одноконтурные схемы в своем большинстве выполнены в виде цикла Брайтона с повторным сжатием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rgbClr val="445684"/>
                </a:solidFill>
              </a:rPr>
              <a:t>Температура на выходе из реактора зависит от типа реактора и выбранного теплоносителя (из анализа источников: ВТГР – 800-850, ГБНР – 800-100)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rgbClr val="445684"/>
                </a:solidFill>
              </a:rPr>
              <a:t>Одноконтурные схемы на сверхкритической воде ограничены температурой на выходе из реактора </a:t>
            </a:r>
            <a:endParaRPr lang="ru-RU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3783520" y="3949145"/>
            <a:ext cx="2008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rgbClr val="445684"/>
                </a:solidFill>
              </a:rPr>
              <a:t>Основные выводы</a:t>
            </a:r>
            <a:endParaRPr lang="ru-RU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3691031" y="3949145"/>
            <a:ext cx="8305800" cy="219448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9" y="1306432"/>
            <a:ext cx="3745024" cy="1759130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612" y="1478515"/>
            <a:ext cx="3406516" cy="185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9336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TNO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TNO" id="{8903D020-7EF2-42BE-9BE1-9E74049EAE9E}" vid="{44B0FAE3-C4EA-49CF-9B77-8603680FD34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5151</TotalTime>
  <Words>3273</Words>
  <Application>Microsoft Office PowerPoint</Application>
  <PresentationFormat>Широкоэкранный</PresentationFormat>
  <Paragraphs>641</Paragraphs>
  <Slides>25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25</vt:i4>
      </vt:variant>
    </vt:vector>
  </HeadingPairs>
  <TitlesOfParts>
    <vt:vector size="37" baseType="lpstr">
      <vt:lpstr>Adobe Hebrew</vt:lpstr>
      <vt:lpstr>Arial</vt:lpstr>
      <vt:lpstr>Arial AMU Regular</vt:lpstr>
      <vt:lpstr>calibri</vt:lpstr>
      <vt:lpstr>calibri</vt:lpstr>
      <vt:lpstr>Calibri Light</vt:lpstr>
      <vt:lpstr>Cambria Math</vt:lpstr>
      <vt:lpstr>Geologica Light</vt:lpstr>
      <vt:lpstr>quote-cjk-patch</vt:lpstr>
      <vt:lpstr>Times New Roman</vt:lpstr>
      <vt:lpstr>Тема Office</vt:lpstr>
      <vt:lpstr>ITNO</vt:lpstr>
      <vt:lpstr>Презентация PowerPoint</vt:lpstr>
      <vt:lpstr>Содержание</vt:lpstr>
      <vt:lpstr>Актуальность применения CO2</vt:lpstr>
      <vt:lpstr>Актуальность применения He-Xe</vt:lpstr>
      <vt:lpstr>Ключевое преимущество СО2 – снижение работы сжатия </vt:lpstr>
      <vt:lpstr>Ключевой недостаток – удорожание рекуператоров</vt:lpstr>
      <vt:lpstr> Материалы и деградация в sCO₂-цикле</vt:lpstr>
      <vt:lpstr>Ключевые особенности He-Xe</vt:lpstr>
      <vt:lpstr>В каких циклах можно использовать СО2?</vt:lpstr>
      <vt:lpstr>Презентация PowerPoint</vt:lpstr>
      <vt:lpstr>Презентация PowerPoint</vt:lpstr>
      <vt:lpstr>Влияние начальных и оптимизационных параметров на эффективность</vt:lpstr>
      <vt:lpstr>Методика определения свойств He-Xe</vt:lpstr>
      <vt:lpstr>Постановка задачи моделирования (рекуперация СО2)</vt:lpstr>
      <vt:lpstr>Презентация PowerPoint</vt:lpstr>
      <vt:lpstr>Постановка задачи моделирования (рекуперация He-Xe)</vt:lpstr>
      <vt:lpstr>Презентация PowerPoint</vt:lpstr>
      <vt:lpstr>Постановка задачи моделирования первого режима (рекомпрессия СО2)</vt:lpstr>
      <vt:lpstr>Презентация PowerPoint</vt:lpstr>
      <vt:lpstr>Постановка задачи моделирования (теплофикация)</vt:lpstr>
      <vt:lpstr>Методика моделирования СО2 цикла</vt:lpstr>
      <vt:lpstr>Выводы</vt:lpstr>
      <vt:lpstr>Презентация PowerPoint</vt:lpstr>
      <vt:lpstr>Выбор оптимального термодинамического цикла</vt:lpstr>
      <vt:lpstr>Одноконтурные схемы – применение различных теплоносителей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Калугина Ксения Фаиковна</dc:creator>
  <cp:lastModifiedBy>Романова Анна Сергеевна</cp:lastModifiedBy>
  <cp:revision>1074</cp:revision>
  <dcterms:created xsi:type="dcterms:W3CDTF">2026-07-06T07:17:53Z</dcterms:created>
  <dcterms:modified xsi:type="dcterms:W3CDTF">2026-07-30T07:14:50Z</dcterms:modified>
</cp:coreProperties>
</file>