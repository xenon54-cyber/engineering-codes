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3"/>
  </p:notesMasterIdLst>
  <p:sldIdLst>
    <p:sldId id="257" r:id="rId3"/>
    <p:sldId id="269" r:id="rId4"/>
    <p:sldId id="259" r:id="rId5"/>
    <p:sldId id="274" r:id="rId6"/>
    <p:sldId id="276" r:id="rId7"/>
    <p:sldId id="279" r:id="rId8"/>
    <p:sldId id="277" r:id="rId9"/>
    <p:sldId id="283" r:id="rId10"/>
    <p:sldId id="284" r:id="rId11"/>
    <p:sldId id="280" r:id="rId12"/>
    <p:sldId id="281" r:id="rId13"/>
    <p:sldId id="288" r:id="rId14"/>
    <p:sldId id="285" r:id="rId15"/>
    <p:sldId id="289" r:id="rId16"/>
    <p:sldId id="286" r:id="rId17"/>
    <p:sldId id="282" r:id="rId18"/>
    <p:sldId id="270" r:id="rId19"/>
    <p:sldId id="273" r:id="rId20"/>
    <p:sldId id="260" r:id="rId21"/>
    <p:sldId id="287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445684"/>
    <a:srgbClr val="C00000"/>
    <a:srgbClr val="523BA3"/>
    <a:srgbClr val="17F8F8"/>
    <a:srgbClr val="FF3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94" y="108"/>
      </p:cViewPr>
      <p:guideLst>
        <p:guide orient="horz" pos="2092"/>
        <p:guide pos="3885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2324355448383877"/>
          <c:y val="6.9327272366357662E-2"/>
          <c:w val="0.82034177236708972"/>
          <c:h val="0.62778549734998113"/>
        </c:manualLayout>
      </c:layout>
      <c:scatterChart>
        <c:scatterStyle val="lineMarker"/>
        <c:varyColors val="0"/>
        <c:ser>
          <c:idx val="0"/>
          <c:order val="0"/>
          <c:tx>
            <c:v>Водоохлаждаемые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'Основные графики'!$M$2:$M$34</c:f>
              <c:numCache>
                <c:formatCode>General</c:formatCode>
                <c:ptCount val="33"/>
                <c:pt idx="0">
                  <c:v>326</c:v>
                </c:pt>
                <c:pt idx="1">
                  <c:v>319.5</c:v>
                </c:pt>
                <c:pt idx="2" formatCode="0">
                  <c:v>310</c:v>
                </c:pt>
                <c:pt idx="3">
                  <c:v>313</c:v>
                </c:pt>
                <c:pt idx="4">
                  <c:v>98</c:v>
                </c:pt>
                <c:pt idx="5">
                  <c:v>120</c:v>
                </c:pt>
                <c:pt idx="6">
                  <c:v>280</c:v>
                </c:pt>
                <c:pt idx="7">
                  <c:v>192</c:v>
                </c:pt>
                <c:pt idx="8">
                  <c:v>307</c:v>
                </c:pt>
                <c:pt idx="9">
                  <c:v>345</c:v>
                </c:pt>
                <c:pt idx="10">
                  <c:v>320.89999999999998</c:v>
                </c:pt>
                <c:pt idx="11">
                  <c:v>322</c:v>
                </c:pt>
                <c:pt idx="12">
                  <c:v>321</c:v>
                </c:pt>
                <c:pt idx="13">
                  <c:v>285</c:v>
                </c:pt>
                <c:pt idx="14">
                  <c:v>286</c:v>
                </c:pt>
                <c:pt idx="15">
                  <c:v>286</c:v>
                </c:pt>
                <c:pt idx="16">
                  <c:v>102</c:v>
                </c:pt>
                <c:pt idx="17">
                  <c:v>300</c:v>
                </c:pt>
                <c:pt idx="18">
                  <c:v>325</c:v>
                </c:pt>
                <c:pt idx="19">
                  <c:v>316</c:v>
                </c:pt>
                <c:pt idx="20">
                  <c:v>288</c:v>
                </c:pt>
                <c:pt idx="21">
                  <c:v>321</c:v>
                </c:pt>
                <c:pt idx="22">
                  <c:v>324</c:v>
                </c:pt>
                <c:pt idx="23">
                  <c:v>318.89999999999998</c:v>
                </c:pt>
                <c:pt idx="24">
                  <c:v>312</c:v>
                </c:pt>
                <c:pt idx="25">
                  <c:v>316</c:v>
                </c:pt>
                <c:pt idx="26">
                  <c:v>321.8</c:v>
                </c:pt>
                <c:pt idx="27">
                  <c:v>319.5</c:v>
                </c:pt>
                <c:pt idx="28">
                  <c:v>325</c:v>
                </c:pt>
                <c:pt idx="29">
                  <c:v>325</c:v>
                </c:pt>
                <c:pt idx="30">
                  <c:v>318</c:v>
                </c:pt>
                <c:pt idx="31">
                  <c:v>328</c:v>
                </c:pt>
                <c:pt idx="32">
                  <c:v>308</c:v>
                </c:pt>
              </c:numCache>
            </c:numRef>
          </c:xVal>
          <c:yVal>
            <c:numRef>
              <c:f>'Основные графики'!$N$2:$N$34</c:f>
              <c:numCache>
                <c:formatCode>General</c:formatCode>
                <c:ptCount val="33"/>
                <c:pt idx="0">
                  <c:v>30</c:v>
                </c:pt>
                <c:pt idx="1">
                  <c:v>32.467532467532465</c:v>
                </c:pt>
                <c:pt idx="2">
                  <c:v>31.25</c:v>
                </c:pt>
                <c:pt idx="3">
                  <c:v>30.303030303030305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31.481481481481481</c:v>
                </c:pt>
                <c:pt idx="9">
                  <c:v>35</c:v>
                </c:pt>
                <c:pt idx="10">
                  <c:v>31.481481481481481</c:v>
                </c:pt>
                <c:pt idx="11">
                  <c:v>29.315068493150687</c:v>
                </c:pt>
                <c:pt idx="12">
                  <c:v>28.947368421052634</c:v>
                </c:pt>
                <c:pt idx="13">
                  <c:v>33.333333333333329</c:v>
                </c:pt>
                <c:pt idx="14">
                  <c:v>27.777777777777779</c:v>
                </c:pt>
                <c:pt idx="15">
                  <c:v>27.777777777777779</c:v>
                </c:pt>
                <c:pt idx="16">
                  <c:v>0</c:v>
                </c:pt>
                <c:pt idx="17">
                  <c:v>33.333333333333329</c:v>
                </c:pt>
                <c:pt idx="18">
                  <c:v>34.609720176730484</c:v>
                </c:pt>
                <c:pt idx="19">
                  <c:v>30.8</c:v>
                </c:pt>
                <c:pt idx="20">
                  <c:v>33.333333333333329</c:v>
                </c:pt>
                <c:pt idx="21">
                  <c:v>30.476190476190478</c:v>
                </c:pt>
                <c:pt idx="22">
                  <c:v>28.125</c:v>
                </c:pt>
                <c:pt idx="23">
                  <c:v>33.913043478260867</c:v>
                </c:pt>
                <c:pt idx="24">
                  <c:v>30.136986301369863</c:v>
                </c:pt>
                <c:pt idx="25">
                  <c:v>23.333333333333332</c:v>
                </c:pt>
                <c:pt idx="26">
                  <c:v>25</c:v>
                </c:pt>
                <c:pt idx="27">
                  <c:v>32.467532467532465</c:v>
                </c:pt>
                <c:pt idx="28">
                  <c:v>30</c:v>
                </c:pt>
                <c:pt idx="29">
                  <c:v>23.684210526315788</c:v>
                </c:pt>
                <c:pt idx="30">
                  <c:v>28.571428571428569</c:v>
                </c:pt>
                <c:pt idx="31">
                  <c:v>35.441657579062159</c:v>
                </c:pt>
                <c:pt idx="32">
                  <c:v>28.409090909090907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FE92-45E2-AA1B-AB939EDC520F}"/>
            </c:ext>
          </c:extLst>
        </c:ser>
        <c:ser>
          <c:idx val="1"/>
          <c:order val="1"/>
          <c:tx>
            <c:v>Газоохлаждаемые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'Основные графики'!$M$35:$M$51</c:f>
              <c:numCache>
                <c:formatCode>General</c:formatCode>
                <c:ptCount val="17"/>
                <c:pt idx="0">
                  <c:v>750</c:v>
                </c:pt>
                <c:pt idx="1">
                  <c:v>750</c:v>
                </c:pt>
                <c:pt idx="2">
                  <c:v>700</c:v>
                </c:pt>
                <c:pt idx="3">
                  <c:v>850</c:v>
                </c:pt>
                <c:pt idx="4">
                  <c:v>850</c:v>
                </c:pt>
                <c:pt idx="5">
                  <c:v>950</c:v>
                </c:pt>
                <c:pt idx="6">
                  <c:v>795</c:v>
                </c:pt>
                <c:pt idx="7">
                  <c:v>1200</c:v>
                </c:pt>
                <c:pt idx="8">
                  <c:v>900</c:v>
                </c:pt>
                <c:pt idx="9">
                  <c:v>750</c:v>
                </c:pt>
                <c:pt idx="10">
                  <c:v>850</c:v>
                </c:pt>
                <c:pt idx="11">
                  <c:v>800</c:v>
                </c:pt>
                <c:pt idx="12">
                  <c:v>750</c:v>
                </c:pt>
                <c:pt idx="13">
                  <c:v>750</c:v>
                </c:pt>
                <c:pt idx="14">
                  <c:v>750</c:v>
                </c:pt>
                <c:pt idx="15">
                  <c:v>700</c:v>
                </c:pt>
                <c:pt idx="16">
                  <c:v>850</c:v>
                </c:pt>
              </c:numCache>
            </c:numRef>
          </c:xVal>
          <c:yVal>
            <c:numRef>
              <c:f>'Основные графики'!$N$35:$N$51</c:f>
              <c:numCache>
                <c:formatCode>General</c:formatCode>
                <c:ptCount val="17"/>
                <c:pt idx="0">
                  <c:v>42</c:v>
                </c:pt>
                <c:pt idx="1">
                  <c:v>40</c:v>
                </c:pt>
                <c:pt idx="2">
                  <c:v>0</c:v>
                </c:pt>
                <c:pt idx="3">
                  <c:v>50</c:v>
                </c:pt>
                <c:pt idx="4">
                  <c:v>48</c:v>
                </c:pt>
                <c:pt idx="5">
                  <c:v>34.25</c:v>
                </c:pt>
                <c:pt idx="6">
                  <c:v>40.465116279069768</c:v>
                </c:pt>
                <c:pt idx="7">
                  <c:v>50</c:v>
                </c:pt>
                <c:pt idx="8">
                  <c:v>41.25</c:v>
                </c:pt>
                <c:pt idx="9">
                  <c:v>35</c:v>
                </c:pt>
                <c:pt idx="10">
                  <c:v>53</c:v>
                </c:pt>
                <c:pt idx="11">
                  <c:v>50</c:v>
                </c:pt>
                <c:pt idx="12">
                  <c:v>41.25</c:v>
                </c:pt>
                <c:pt idx="13">
                  <c:v>43.519999999999996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FE92-45E2-AA1B-AB939EDC520F}"/>
            </c:ext>
          </c:extLst>
        </c:ser>
        <c:ser>
          <c:idx val="2"/>
          <c:order val="2"/>
          <c:tx>
            <c:v>Жидкометаллические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'Основные графики'!$M$52:$M$59</c:f>
              <c:numCache>
                <c:formatCode>General</c:formatCode>
                <c:ptCount val="8"/>
                <c:pt idx="0">
                  <c:v>535</c:v>
                </c:pt>
                <c:pt idx="1">
                  <c:v>510</c:v>
                </c:pt>
                <c:pt idx="2">
                  <c:v>510</c:v>
                </c:pt>
                <c:pt idx="3">
                  <c:v>350</c:v>
                </c:pt>
                <c:pt idx="4">
                  <c:v>530</c:v>
                </c:pt>
                <c:pt idx="5">
                  <c:v>485</c:v>
                </c:pt>
                <c:pt idx="6">
                  <c:v>550</c:v>
                </c:pt>
                <c:pt idx="7">
                  <c:v>650</c:v>
                </c:pt>
              </c:numCache>
            </c:numRef>
          </c:xVal>
          <c:yVal>
            <c:numRef>
              <c:f>'Основные графики'!$N$52:$N$59</c:f>
              <c:numCache>
                <c:formatCode>General</c:formatCode>
                <c:ptCount val="8"/>
                <c:pt idx="0">
                  <c:v>42.857142857142854</c:v>
                </c:pt>
                <c:pt idx="1">
                  <c:v>34.965034965034967</c:v>
                </c:pt>
                <c:pt idx="2">
                  <c:v>33.333333333333329</c:v>
                </c:pt>
                <c:pt idx="3">
                  <c:v>33.333333333333329</c:v>
                </c:pt>
                <c:pt idx="4">
                  <c:v>41.666666666666671</c:v>
                </c:pt>
                <c:pt idx="5">
                  <c:v>35.714285714285715</c:v>
                </c:pt>
                <c:pt idx="6">
                  <c:v>39.285714285714285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FE92-45E2-AA1B-AB939EDC520F}"/>
            </c:ext>
          </c:extLst>
        </c:ser>
        <c:ser>
          <c:idx val="3"/>
          <c:order val="3"/>
          <c:tx>
            <c:v>Солевые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'Основные графики'!$M$60:$M$72</c:f>
              <c:numCache>
                <c:formatCode>General</c:formatCode>
                <c:ptCount val="13"/>
                <c:pt idx="0">
                  <c:v>700</c:v>
                </c:pt>
                <c:pt idx="1">
                  <c:v>625</c:v>
                </c:pt>
                <c:pt idx="2">
                  <c:v>700</c:v>
                </c:pt>
                <c:pt idx="3">
                  <c:v>670</c:v>
                </c:pt>
                <c:pt idx="4">
                  <c:v>650</c:v>
                </c:pt>
                <c:pt idx="5">
                  <c:v>704</c:v>
                </c:pt>
                <c:pt idx="6">
                  <c:v>800</c:v>
                </c:pt>
                <c:pt idx="7">
                  <c:v>795</c:v>
                </c:pt>
                <c:pt idx="8">
                  <c:v>650</c:v>
                </c:pt>
                <c:pt idx="9">
                  <c:v>700</c:v>
                </c:pt>
                <c:pt idx="10">
                  <c:v>750</c:v>
                </c:pt>
                <c:pt idx="11">
                  <c:v>650</c:v>
                </c:pt>
                <c:pt idx="12">
                  <c:v>704</c:v>
                </c:pt>
              </c:numCache>
            </c:numRef>
          </c:xVal>
          <c:yVal>
            <c:numRef>
              <c:f>'Основные графики'!$N$60:$N$72</c:f>
              <c:numCache>
                <c:formatCode>General</c:formatCode>
                <c:ptCount val="13"/>
                <c:pt idx="0">
                  <c:v>44.31818181818182</c:v>
                </c:pt>
                <c:pt idx="1">
                  <c:v>40</c:v>
                </c:pt>
                <c:pt idx="2">
                  <c:v>42</c:v>
                </c:pt>
                <c:pt idx="3">
                  <c:v>40</c:v>
                </c:pt>
                <c:pt idx="4">
                  <c:v>0</c:v>
                </c:pt>
                <c:pt idx="5">
                  <c:v>44.444444444444443</c:v>
                </c:pt>
                <c:pt idx="6">
                  <c:v>13.333333333333334</c:v>
                </c:pt>
                <c:pt idx="7">
                  <c:v>40</c:v>
                </c:pt>
                <c:pt idx="8">
                  <c:v>43.75</c:v>
                </c:pt>
                <c:pt idx="9">
                  <c:v>42.372881355932201</c:v>
                </c:pt>
                <c:pt idx="10">
                  <c:v>40</c:v>
                </c:pt>
                <c:pt idx="11">
                  <c:v>41.666666666666671</c:v>
                </c:pt>
                <c:pt idx="12">
                  <c:v>44.88330341113106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FE92-45E2-AA1B-AB939EDC5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690754448"/>
        <c:axId val="-1690768592"/>
      </c:scatterChart>
      <c:valAx>
        <c:axId val="-1690754448"/>
        <c:scaling>
          <c:orientation val="minMax"/>
          <c:max val="1200"/>
          <c:min val="200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rgbClr val="445684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r>
                  <a:rPr lang="ru-RU"/>
                  <a:t>Максимальная температура, °С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rgbClr val="445684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18181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4568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  <c:crossAx val="-1690768592"/>
        <c:crosses val="autoZero"/>
        <c:crossBetween val="midCat"/>
      </c:valAx>
      <c:valAx>
        <c:axId val="-1690768592"/>
        <c:scaling>
          <c:orientation val="minMax"/>
          <c:min val="2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rgbClr val="445684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r>
                  <a:rPr lang="ru-RU"/>
                  <a:t>Электрический КПД нетто, %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rgbClr val="445684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181818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rgbClr val="44568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ru-RU"/>
          </a:p>
        </c:txPr>
        <c:crossAx val="-1690754448"/>
        <c:crosses val="autoZero"/>
        <c:crossBetween val="midCat"/>
      </c:valAx>
      <c:spPr>
        <a:noFill/>
        <a:ln>
          <a:solidFill>
            <a:srgbClr val="181818"/>
          </a:solidFill>
        </a:ln>
        <a:effectLst/>
      </c:spPr>
    </c:plotArea>
    <c:legend>
      <c:legendPos val="b"/>
      <c:layout>
        <c:manualLayout>
          <c:xMode val="edge"/>
          <c:yMode val="edge"/>
          <c:x val="7.0828564029234903E-2"/>
          <c:y val="0.8906970487601481"/>
          <c:w val="0.85782063908622086"/>
          <c:h val="0.109302777476020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rgbClr val="445684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ru-RU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050">
          <a:solidFill>
            <a:srgbClr val="445684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ru-RU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0.15473</cdr:x>
      <cdr:y>0.46126</cdr:y>
    </cdr:from>
    <cdr:to>
      <cdr:x>0.25721</cdr:x>
      <cdr:y>0.74498</cdr:y>
    </cdr:to>
    <cdr:sp macro="" textlink="">
      <cdr:nvSpPr>
        <cdr:cNvPr id="2" name="Прямоугольник 1">
          <a:extLst xmlns:a="http://schemas.openxmlformats.org/drawingml/2006/main">
            <a:ext uri="{FF2B5EF4-FFF2-40B4-BE49-F238E27FC236}">
              <a16:creationId xmlns:a16="http://schemas.microsoft.com/office/drawing/2014/main" xmlns="" id="{B1DFDBA7-2370-4B94-8AC9-3FE04672EA84}"/>
            </a:ext>
          </a:extLst>
        </cdr:cNvPr>
        <cdr:cNvSpPr/>
      </cdr:nvSpPr>
      <cdr:spPr>
        <a:xfrm xmlns:a="http://schemas.openxmlformats.org/drawingml/2006/main">
          <a:off x="700846" y="929475"/>
          <a:ext cx="464171" cy="571718"/>
        </a:xfrm>
        <a:prstGeom xmlns:a="http://schemas.openxmlformats.org/drawingml/2006/main" prst="rect">
          <a:avLst/>
        </a:prstGeom>
        <a:solidFill xmlns:a="http://schemas.openxmlformats.org/drawingml/2006/main">
          <a:srgbClr val="DAE3F3">
            <a:alpha val="50196"/>
          </a:srgbClr>
        </a:solidFill>
        <a:ln xmlns:a="http://schemas.openxmlformats.org/drawingml/2006/main" w="19050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0.20342</cdr:x>
      <cdr:y>0.30377</cdr:y>
    </cdr:from>
    <cdr:to>
      <cdr:x>0.4128</cdr:x>
      <cdr:y>0.59733</cdr:y>
    </cdr:to>
    <cdr:sp macro="" textlink="">
      <cdr:nvSpPr>
        <cdr:cNvPr id="3" name="Прямоугольник 2">
          <a:extLst xmlns:a="http://schemas.openxmlformats.org/drawingml/2006/main">
            <a:ext uri="{FF2B5EF4-FFF2-40B4-BE49-F238E27FC236}">
              <a16:creationId xmlns:a16="http://schemas.microsoft.com/office/drawing/2014/main" xmlns="" id="{6D098E93-25E8-4AD3-A3A7-31050B529DAF}"/>
            </a:ext>
          </a:extLst>
        </cdr:cNvPr>
        <cdr:cNvSpPr/>
      </cdr:nvSpPr>
      <cdr:spPr>
        <a:xfrm xmlns:a="http://schemas.openxmlformats.org/drawingml/2006/main">
          <a:off x="1082945" y="595613"/>
          <a:ext cx="1114673" cy="575594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3">
            <a:lumMod val="40000"/>
            <a:lumOff val="60000"/>
            <a:alpha val="50196"/>
          </a:schemeClr>
        </a:solidFill>
        <a:ln xmlns:a="http://schemas.openxmlformats.org/drawingml/2006/main" w="19050">
          <a:solidFill>
            <a:schemeClr val="bg2">
              <a:lumMod val="5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0.40168</cdr:x>
      <cdr:y>0.2398</cdr:y>
    </cdr:from>
    <cdr:to>
      <cdr:x>0.62593</cdr:x>
      <cdr:y>0.43197</cdr:y>
    </cdr:to>
    <cdr:sp macro="" textlink="">
      <cdr:nvSpPr>
        <cdr:cNvPr id="4" name="Прямоугольник 3">
          <a:extLst xmlns:a="http://schemas.openxmlformats.org/drawingml/2006/main">
            <a:ext uri="{FF2B5EF4-FFF2-40B4-BE49-F238E27FC236}">
              <a16:creationId xmlns:a16="http://schemas.microsoft.com/office/drawing/2014/main" xmlns="" id="{0E4937F8-CCD2-4DF9-AB05-342C152E5FEB}"/>
            </a:ext>
          </a:extLst>
        </cdr:cNvPr>
        <cdr:cNvSpPr/>
      </cdr:nvSpPr>
      <cdr:spPr>
        <a:xfrm xmlns:a="http://schemas.openxmlformats.org/drawingml/2006/main">
          <a:off x="2534381" y="625728"/>
          <a:ext cx="1414893" cy="501437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4">
            <a:lumMod val="20000"/>
            <a:lumOff val="80000"/>
            <a:alpha val="50196"/>
          </a:schemeClr>
        </a:solidFill>
        <a:ln xmlns:a="http://schemas.openxmlformats.org/drawingml/2006/main" w="19050">
          <a:solidFill>
            <a:schemeClr val="accent4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/>
        </a:p>
      </cdr:txBody>
    </cdr:sp>
  </cdr:relSizeAnchor>
  <cdr:relSizeAnchor xmlns:cdr="http://schemas.openxmlformats.org/drawingml/2006/chartDrawing">
    <cdr:from>
      <cdr:x>0.55759</cdr:x>
      <cdr:y>0.05959</cdr:y>
    </cdr:from>
    <cdr:to>
      <cdr:x>0.95927</cdr:x>
      <cdr:y>0.55002</cdr:y>
    </cdr:to>
    <cdr:sp macro="" textlink="">
      <cdr:nvSpPr>
        <cdr:cNvPr id="5" name="Прямоугольник 4">
          <a:extLst xmlns:a="http://schemas.openxmlformats.org/drawingml/2006/main">
            <a:ext uri="{FF2B5EF4-FFF2-40B4-BE49-F238E27FC236}">
              <a16:creationId xmlns:a16="http://schemas.microsoft.com/office/drawing/2014/main" xmlns="" id="{81F020C5-B096-444F-AF70-BB3887783900}"/>
            </a:ext>
          </a:extLst>
        </cdr:cNvPr>
        <cdr:cNvSpPr/>
      </cdr:nvSpPr>
      <cdr:spPr>
        <a:xfrm xmlns:a="http://schemas.openxmlformats.org/drawingml/2006/main">
          <a:off x="3518079" y="155496"/>
          <a:ext cx="2534378" cy="1279701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2">
            <a:lumMod val="20000"/>
            <a:lumOff val="80000"/>
            <a:alpha val="50196"/>
          </a:schemeClr>
        </a:solidFill>
        <a:ln xmlns:a="http://schemas.openxmlformats.org/drawingml/2006/main" w="19050">
          <a:solidFill>
            <a:schemeClr val="accent2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ru-RU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BE964-8D4B-4051-88B6-C41C4AC1AFA9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3D016-9A0B-40D0-9BB2-D06F7099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16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[1] - https://www.sciencedirect.com/science/article/pii/S0360544218310065</a:t>
            </a:r>
            <a:endParaRPr lang="ru-RU" dirty="0" smtClean="0"/>
          </a:p>
          <a:p>
            <a:r>
              <a:rPr lang="en-US" dirty="0" smtClean="0"/>
              <a:t>[2] - https://naked-science.ru/article/tech/v-ssha-predstavili-2</a:t>
            </a:r>
          </a:p>
          <a:p>
            <a:r>
              <a:rPr lang="en-US" dirty="0" smtClean="0"/>
              <a:t>[4] - https://www.sciencedirect.com/science/article/pii/S0735193325002921?ref=pdf_download&amp;fr=RR-2&amp;rr=a16daf400aa6ec4f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543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673D9-9465-4444-91C0-7FBB88A6A7B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46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588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[3] </a:t>
            </a:r>
            <a:r>
              <a:rPr lang="ru-RU" dirty="0" smtClean="0"/>
              <a:t>- </a:t>
            </a:r>
            <a:r>
              <a:rPr lang="en-US" dirty="0" smtClean="0"/>
              <a:t>https://www.mdpi.com/1996-1073/16/21/7367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18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24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66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28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88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85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64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56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87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64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09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73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ли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Текст 34">
            <a:extLst>
              <a:ext uri="{FF2B5EF4-FFF2-40B4-BE49-F238E27FC236}">
                <a16:creationId xmlns:a16="http://schemas.microsoft.com/office/drawing/2014/main" xmlns="" id="{31549AFB-CDCD-4578-B683-8446D88E6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xmlns="" id="{236FE8D6-F35D-4A5D-BE7A-07C8BBD958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129001"/>
            <a:ext cx="12188765" cy="340705"/>
          </a:xfrm>
          <a:prstGeom prst="rect">
            <a:avLst/>
          </a:prstGeom>
        </p:spPr>
        <p:txBody>
          <a:bodyPr/>
          <a:lstStyle>
            <a:lvl1pPr algn="ctr">
              <a:defRPr sz="2200" b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xmlns="" id="{3CEB8157-CFBE-460A-BD13-0838A2B6DA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481398"/>
            <a:ext cx="12188764" cy="3385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Место работы, должность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86EADFC-1093-40D4-9613-0CEF5019EF90}"/>
              </a:ext>
            </a:extLst>
          </p:cNvPr>
          <p:cNvSpPr txBox="1"/>
          <p:nvPr userDrawn="1"/>
        </p:nvSpPr>
        <p:spPr>
          <a:xfrm>
            <a:off x="4992626" y="6030440"/>
            <a:ext cx="220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8363174-6380-4D07-8ABE-7240EA0A080B}" type="datetime1">
              <a:rPr lang="ru-RU" sz="1600" smtClean="0">
                <a:solidFill>
                  <a:schemeClr val="accent3"/>
                </a:solidFill>
                <a:latin typeface="+mj-lt"/>
              </a:rPr>
              <a:pPr algn="ctr"/>
              <a:t>28.07.2026</a:t>
            </a:fld>
            <a:endParaRPr lang="ru-RU" sz="1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132E0B7-2C4D-44A9-810A-8F8E64AFEB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6121237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тел: +7 (000) 000-00-00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xmlns="" id="{9D5672AB-A094-4016-B8E0-92A57CD1E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831335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email: mail@mail.ru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642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xmlns="" id="{6BD80F16-0C0C-45EB-3773-2B1A97D9E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925450"/>
            <a:ext cx="12192000" cy="1325563"/>
          </a:xfr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algn="ctr">
              <a:spcBef>
                <a:spcPts val="600"/>
              </a:spcBef>
            </a:pP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Название дисциплины</a:t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Тема занятия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xmlns="" id="{6A781CB9-25B3-0F7D-BF51-8A1D0D3D7B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36B493AB-7287-D4D0-5D86-B7DB8F0BD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04188" y="5159141"/>
            <a:ext cx="4087812" cy="952901"/>
          </a:xfrm>
        </p:spPr>
        <p:txBody>
          <a:bodyPr>
            <a:noAutofit/>
          </a:bodyPr>
          <a:lstStyle>
            <a:lvl1pPr>
              <a:defRPr lang="en-US" sz="20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ru-RU" dirty="0"/>
              <a:t>Иванов И.И. Старший преподаватель ИТНО Лекция 1_01.09.2022</a:t>
            </a:r>
          </a:p>
          <a:p>
            <a:pPr marL="0" lvl="0" indent="0" algn="r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51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>
            <a:extLst>
              <a:ext uri="{FF2B5EF4-FFF2-40B4-BE49-F238E27FC236}">
                <a16:creationId xmlns:a16="http://schemas.microsoft.com/office/drawing/2014/main" xmlns="" id="{7F9103FD-BBAE-6AB4-FA3D-2654D39C7F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xmlns="" id="{C56CF550-32BB-8D78-ED4B-3AA24A3A0F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1963554"/>
            <a:ext cx="12192001" cy="2993457"/>
          </a:xfr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indent="0">
              <a:defRPr lang="en-US" sz="3200" dirty="0" smtClean="0">
                <a:solidFill>
                  <a:srgbClr val="44568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ru-RU" dirty="0"/>
              <a:t>Заключительный слайд с дополнительной информацией, например, списком источников, контактными данными (при необходимости)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36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l="-1000" t="-100" r="-100" b="5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1638" y="100453"/>
            <a:ext cx="10641530" cy="480131"/>
          </a:xfrm>
          <a:noFill/>
        </p:spPr>
        <p:txBody>
          <a:bodyPr wrap="square" rtlCol="0">
            <a:spAutoFit/>
          </a:bodyPr>
          <a:lstStyle>
            <a:lvl1pPr>
              <a:defRPr lang="ru-RU" sz="2800" dirty="0">
                <a:solidFill>
                  <a:srgbClr val="445684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ru-RU" dirty="0"/>
              <a:t>Заголовок слайда: шрифт </a:t>
            </a:r>
            <a:r>
              <a:rPr lang="ru-RU" dirty="0" err="1"/>
              <a:t>Calibri</a:t>
            </a:r>
            <a:r>
              <a:rPr lang="ru-RU" dirty="0"/>
              <a:t> Light (Заголовки)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71638" y="1045979"/>
            <a:ext cx="10515600" cy="483004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2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228600" indent="0">
              <a:buNone/>
              <a:defRPr lang="en-US" sz="20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85800" indent="0">
              <a:buNone/>
              <a:defRPr lang="en-US" sz="18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143000" indent="0">
              <a:buNone/>
              <a:defRPr lang="en-US" sz="16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600200" indent="0">
              <a:buNone/>
              <a:defRPr lang="ru-RU" sz="1600" kern="1200" dirty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marL="0" lvl="0"/>
            <a:r>
              <a:rPr lang="ru-RU" dirty="0"/>
              <a:t>Текст презентации: шрифт </a:t>
            </a:r>
            <a:r>
              <a:rPr lang="ru-RU" dirty="0" err="1"/>
              <a:t>Calibri</a:t>
            </a:r>
            <a:r>
              <a:rPr lang="ru-RU" dirty="0"/>
              <a:t> Light, рекомендуемый размер шрифта 20-22 пт., старайтесь придерживаться границ текста (рамка, в которой находится настоящий текст), рекомендуемый цвет текста: индиго (#445684), черный (#000000) </a:t>
            </a:r>
          </a:p>
          <a:p>
            <a:pPr marL="0" lvl="0"/>
            <a:r>
              <a:rPr lang="ru-RU" dirty="0"/>
              <a:t>При необходимости используйте:</a:t>
            </a:r>
          </a:p>
          <a:p>
            <a:pPr marL="0" lvl="0"/>
            <a:r>
              <a:rPr lang="ru-RU" dirty="0"/>
              <a:t>- цвет;</a:t>
            </a:r>
          </a:p>
          <a:p>
            <a:pPr marL="0" lvl="0"/>
            <a:r>
              <a:rPr lang="ru-RU" dirty="0"/>
              <a:t>- подчеркивание;</a:t>
            </a:r>
          </a:p>
          <a:p>
            <a:pPr marL="0" lvl="0"/>
            <a:r>
              <a:rPr lang="ru-RU" dirty="0"/>
              <a:t>- жирный шрифт;</a:t>
            </a:r>
          </a:p>
          <a:p>
            <a:pPr marL="0" lvl="0"/>
            <a:r>
              <a:rPr lang="ru-RU" dirty="0"/>
              <a:t>- встроенные таблицы, фигуры, диаграммы, формулы;</a:t>
            </a:r>
          </a:p>
          <a:p>
            <a:pPr marL="0" lvl="0"/>
            <a:r>
              <a:rPr lang="ru-RU" dirty="0"/>
              <a:t>- бесплатные/собственные иконки и рисунки.</a:t>
            </a:r>
          </a:p>
          <a:p>
            <a:pPr marL="457200" lvl="1"/>
            <a:r>
              <a:rPr lang="en-US" dirty="0"/>
              <a:t>Second level</a:t>
            </a:r>
          </a:p>
          <a:p>
            <a:pPr marL="914400" lvl="2"/>
            <a:r>
              <a:rPr lang="en-US" dirty="0"/>
              <a:t>Third level</a:t>
            </a:r>
          </a:p>
          <a:p>
            <a:pPr marL="1371600" lvl="3"/>
            <a:r>
              <a:rPr lang="en-US" dirty="0"/>
              <a:t>Fourth level</a:t>
            </a:r>
          </a:p>
          <a:p>
            <a:pPr marL="1828800"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957110" y="6433353"/>
            <a:ext cx="2743200" cy="365125"/>
          </a:xfrm>
        </p:spPr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509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люч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9" name="Текст 34">
            <a:extLst>
              <a:ext uri="{FF2B5EF4-FFF2-40B4-BE49-F238E27FC236}">
                <a16:creationId xmlns:a16="http://schemas.microsoft.com/office/drawing/2014/main" xmlns="" id="{64D3E3AE-F380-4D6C-A5D2-1A37DFFB05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625364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ли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Текст 34">
            <a:extLst>
              <a:ext uri="{FF2B5EF4-FFF2-40B4-BE49-F238E27FC236}">
                <a16:creationId xmlns:a16="http://schemas.microsoft.com/office/drawing/2014/main" xmlns="" id="{31549AFB-CDCD-4578-B683-8446D88E6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xmlns="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xmlns="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xmlns="" id="{236FE8D6-F35D-4A5D-BE7A-07C8BBD958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129001"/>
            <a:ext cx="12188765" cy="340705"/>
          </a:xfrm>
          <a:prstGeom prst="rect">
            <a:avLst/>
          </a:prstGeom>
        </p:spPr>
        <p:txBody>
          <a:bodyPr/>
          <a:lstStyle>
            <a:lvl1pPr algn="ctr">
              <a:defRPr sz="2200" b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xmlns="" id="{3CEB8157-CFBE-460A-BD13-0838A2B6DA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481398"/>
            <a:ext cx="12188764" cy="3385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Место работы, должность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86EADFC-1093-40D4-9613-0CEF5019EF90}"/>
              </a:ext>
            </a:extLst>
          </p:cNvPr>
          <p:cNvSpPr txBox="1"/>
          <p:nvPr userDrawn="1"/>
        </p:nvSpPr>
        <p:spPr>
          <a:xfrm>
            <a:off x="4992626" y="6030440"/>
            <a:ext cx="220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8363174-6380-4D07-8ABE-7240EA0A080B}" type="datetime1">
              <a:rPr lang="ru-RU" sz="1600">
                <a:solidFill>
                  <a:srgbClr val="A5A5A5"/>
                </a:solidFill>
                <a:latin typeface="Calibri Light" panose="020F0302020204030204"/>
              </a:rPr>
              <a:pPr algn="ctr"/>
              <a:t>28.07.2026</a:t>
            </a:fld>
            <a:endParaRPr lang="ru-RU" sz="1600" dirty="0">
              <a:solidFill>
                <a:srgbClr val="A5A5A5"/>
              </a:solidFill>
              <a:latin typeface="Calibri Light" panose="020F0302020204030204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132E0B7-2C4D-44A9-810A-8F8E64AFEB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6121237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тел: +7 (000) 000-00-00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:a16="http://schemas.microsoft.com/office/drawing/2014/main" xmlns="" id="{9D5672AB-A094-4016-B8E0-92A57CD1E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831335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email: mail@mail.ru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192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сновны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xmlns="" id="{E4BFD050-F92D-4410-96C2-0650839AE49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76615"/>
            <a:ext cx="10709754" cy="0"/>
          </a:xfrm>
          <a:prstGeom prst="line">
            <a:avLst/>
          </a:prstGeom>
          <a:ln w="38100">
            <a:solidFill>
              <a:srgbClr val="4456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412F797A-B27A-4213-8D4D-3FD3BA69CF13}"/>
              </a:ext>
            </a:extLst>
          </p:cNvPr>
          <p:cNvCxnSpPr>
            <a:cxnSpLocks/>
          </p:cNvCxnSpPr>
          <p:nvPr userDrawn="1"/>
        </p:nvCxnSpPr>
        <p:spPr>
          <a:xfrm>
            <a:off x="0" y="864296"/>
            <a:ext cx="15908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D012AF07-231B-45D8-ADFE-E2D2F1AF43B4}"/>
              </a:ext>
            </a:extLst>
          </p:cNvPr>
          <p:cNvCxnSpPr/>
          <p:nvPr userDrawn="1"/>
        </p:nvCxnSpPr>
        <p:spPr>
          <a:xfrm>
            <a:off x="8945671" y="864296"/>
            <a:ext cx="15908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871A70B7-2E90-45B9-BC45-EF1C684F5A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80FA73BE-1C83-44B0-AABC-599ABACD9BBB}"/>
              </a:ext>
            </a:extLst>
          </p:cNvPr>
          <p:cNvSpPr txBox="1"/>
          <p:nvPr userDrawn="1"/>
        </p:nvSpPr>
        <p:spPr>
          <a:xfrm>
            <a:off x="10979297" y="6384802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9CAE8D2-C71E-42CE-BC50-0B7E2A8D8A9F}" type="slidenum">
              <a:rPr lang="ru-RU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478E3E56-BE62-4607-A5BD-3C151BDB82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80669"/>
            <a:ext cx="10253759" cy="476248"/>
          </a:xfrm>
          <a:prstGeom prst="rect">
            <a:avLst/>
          </a:prstGeom>
          <a:noFill/>
        </p:spPr>
        <p:txBody>
          <a:bodyPr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ru-RU" sz="2800" dirty="0">
                <a:solidFill>
                  <a:srgbClr val="445684"/>
                </a:solidFill>
                <a:latin typeface="+mj-lt"/>
              </a:rPr>
              <a:t>Заголовок слайда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C31B5DB4-F3F6-4705-BF12-B3564C4049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612" y="1136946"/>
            <a:ext cx="11307763" cy="4767827"/>
          </a:xfrm>
          <a:prstGeom prst="rect">
            <a:avLst/>
          </a:prstGeom>
          <a:noFill/>
        </p:spPr>
        <p:txBody>
          <a:bodyPr/>
          <a:lstStyle>
            <a:lvl1pPr>
              <a:defRPr sz="22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Основное 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0790223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6994F-4FB3-4196-A6BB-9CFD993ADD17}" type="datetimeFigureOut">
              <a:rPr lang="ru-RU" smtClean="0"/>
              <a:t>28.07.2026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4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76B-96CA-47F0-9F84-DA9635962C0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28.07.2026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81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xmlns="" id="{1A2B5803-E288-2F4A-DB50-2C4172DB56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dirty="0" smtClean="0">
                <a:solidFill>
                  <a:srgbClr val="1F497D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Современное состояние исследований и разработок в области создания энергоустановок с использованием СО2 в качестве рабочего тела</a:t>
            </a:r>
            <a:endParaRPr lang="ru-RU" dirty="0">
              <a:solidFill>
                <a:srgbClr val="445682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3B3EB154-4CF1-57F0-F4E1-A3E281D6D6AB}"/>
              </a:ext>
            </a:extLst>
          </p:cNvPr>
          <p:cNvSpPr/>
          <p:nvPr/>
        </p:nvSpPr>
        <p:spPr>
          <a:xfrm>
            <a:off x="4863130" y="5690495"/>
            <a:ext cx="246574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ru-RU" sz="1500" b="1" dirty="0">
                <a:latin typeface="Geologica Light" pitchFamily="2" charset="0"/>
              </a:rPr>
              <a:t>ФГБОУ ВО «НИУ «МЭИ»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FFC7B19-DA23-E323-F7C1-893119A3E907}"/>
              </a:ext>
            </a:extLst>
          </p:cNvPr>
          <p:cNvSpPr/>
          <p:nvPr/>
        </p:nvSpPr>
        <p:spPr>
          <a:xfrm>
            <a:off x="7833709" y="5682428"/>
            <a:ext cx="428209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457200"/>
            <a:r>
              <a:rPr lang="ru-RU" b="1" dirty="0">
                <a:solidFill>
                  <a:srgbClr val="445682"/>
                </a:solidFill>
                <a:latin typeface="Geologica Light" pitchFamily="2" charset="0"/>
              </a:rPr>
              <a:t>Докладчик: </a:t>
            </a:r>
            <a:r>
              <a:rPr lang="ru-RU" b="1" dirty="0" smtClean="0">
                <a:solidFill>
                  <a:srgbClr val="445682"/>
                </a:solidFill>
                <a:latin typeface="Geologica Light" pitchFamily="2" charset="0"/>
              </a:rPr>
              <a:t>Калугина Ксения Фаиковна</a:t>
            </a:r>
            <a:endParaRPr lang="ru-RU" b="1" dirty="0">
              <a:solidFill>
                <a:srgbClr val="445682"/>
              </a:solidFill>
              <a:latin typeface="Geologic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2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Содержание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892" y="1225356"/>
            <a:ext cx="107687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2"/>
                </a:solidFill>
              </a:rPr>
              <a:t>Актуальность использования СО2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Ключевое преимущество СО2 – снижение работы сжатия </a:t>
            </a:r>
            <a:endParaRPr lang="ru-RU" sz="1400" b="1" dirty="0" smtClean="0">
              <a:solidFill>
                <a:srgbClr val="445682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Ключевой недостаток – удорожание </a:t>
            </a:r>
            <a:r>
              <a:rPr lang="ru-RU" sz="1400" b="1" dirty="0" smtClean="0">
                <a:solidFill>
                  <a:srgbClr val="445682"/>
                </a:solidFill>
              </a:rPr>
              <a:t>рекуператоров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Материалы и деградация в sCO₂-</a:t>
            </a:r>
            <a:r>
              <a:rPr lang="ru-RU" sz="1400" b="1" dirty="0" smtClean="0">
                <a:solidFill>
                  <a:srgbClr val="445682"/>
                </a:solidFill>
              </a:rPr>
              <a:t>цикле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В каких циклах можно использовать СО2?</a:t>
            </a:r>
            <a:endParaRPr lang="ru-RU" sz="1400" b="1" dirty="0" smtClean="0">
              <a:solidFill>
                <a:srgbClr val="445682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  <a:cs typeface="Calibri Light" panose="020F0302020204030204" pitchFamily="34" charset="0"/>
              </a:rPr>
              <a:t>Выбор оптимального термодинамического цикла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</a:rPr>
              <a:t>Влияние начальных и оптимизационных параметров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</a:rPr>
              <a:t>Постановка задачи моделирования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4"/>
                </a:solidFill>
              </a:rPr>
              <a:t>Методика моделирования СО2 цикла</a:t>
            </a:r>
            <a:endParaRPr lang="ru-RU" sz="1400" b="1" dirty="0" smtClean="0">
              <a:solidFill>
                <a:srgbClr val="445684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  <a:cs typeface="Calibri Light" panose="020F0302020204030204" pitchFamily="34" charset="0"/>
              </a:rPr>
              <a:t>Выводы</a:t>
            </a:r>
            <a:endParaRPr lang="ru-RU" sz="1400" b="1" dirty="0">
              <a:solidFill>
                <a:srgbClr val="445684"/>
              </a:solidFill>
              <a:cs typeface="Calibri Light" panose="020F03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3713" y="1225356"/>
            <a:ext cx="4665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>
                <a:solidFill>
                  <a:srgbClr val="445682"/>
                </a:solidFill>
                <a:cs typeface="Calibri Light" panose="020F0302020204030204" pitchFamily="34" charset="0"/>
              </a:rPr>
              <a:t>3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4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5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6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altLang="en-US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7</a:t>
            </a:r>
            <a:endParaRPr lang="en-US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8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>
                <a:solidFill>
                  <a:srgbClr val="445682"/>
                </a:solidFill>
                <a:cs typeface="Calibri Light" panose="020F0302020204030204" pitchFamily="34" charset="0"/>
              </a:rPr>
              <a:t>9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10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11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12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3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Актуальность использования </a:t>
            </a:r>
            <a:r>
              <a:rPr lang="en-US" dirty="0" smtClean="0">
                <a:latin typeface="+mn-lt"/>
              </a:rPr>
              <a:t>sCO2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3"/>
          <a:srcRect l="159" t="3452" r="983" b="10051"/>
          <a:stretch/>
        </p:blipFill>
        <p:spPr>
          <a:xfrm>
            <a:off x="538191" y="2346182"/>
            <a:ext cx="4500956" cy="2530388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396361" y="4876570"/>
            <a:ext cx="47793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i="0" u="sng" dirty="0" smtClean="0">
                <a:solidFill>
                  <a:srgbClr val="445684"/>
                </a:solidFill>
                <a:effectLst/>
                <a:latin typeface="Arial AMU Regular"/>
              </a:rPr>
              <a:t>Основные сценарии применения sCO₂-циклов</a:t>
            </a:r>
            <a:r>
              <a:rPr lang="en-US" sz="1400" b="1" i="0" u="sng" dirty="0" smtClean="0">
                <a:solidFill>
                  <a:srgbClr val="445684"/>
                </a:solidFill>
                <a:effectLst/>
                <a:latin typeface="Arial AMU Regular"/>
              </a:rPr>
              <a:t> [4]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936" y="868854"/>
            <a:ext cx="116459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445684"/>
                </a:solidFill>
              </a:rPr>
              <a:t>sCO₂ привлекает все отрасли энергетики благодаря универсальности (от ядерных реакторов до геотермальных источников), высокому </a:t>
            </a:r>
            <a:r>
              <a:rPr lang="ru-RU" i="1" dirty="0" smtClean="0">
                <a:solidFill>
                  <a:srgbClr val="445684"/>
                </a:solidFill>
              </a:rPr>
              <a:t>КПД, компактности и </a:t>
            </a:r>
            <a:r>
              <a:rPr lang="ru-RU" i="1" dirty="0" err="1" smtClean="0">
                <a:solidFill>
                  <a:srgbClr val="445684"/>
                </a:solidFill>
              </a:rPr>
              <a:t>экологичности</a:t>
            </a:r>
            <a:r>
              <a:rPr lang="ru-RU" i="1" dirty="0" smtClean="0">
                <a:solidFill>
                  <a:srgbClr val="445684"/>
                </a:solidFill>
              </a:rPr>
              <a:t>. Однако широкое промышленное внедрение сдерживается необходимостью прорывных решений </a:t>
            </a:r>
            <a:r>
              <a:rPr lang="ru-RU" i="1" dirty="0">
                <a:solidFill>
                  <a:srgbClr val="445684"/>
                </a:solidFill>
              </a:rPr>
              <a:t>в материаловедении и компонентах </a:t>
            </a:r>
            <a:r>
              <a:rPr lang="ru-RU" i="1" dirty="0" smtClean="0">
                <a:solidFill>
                  <a:srgbClr val="445684"/>
                </a:solidFill>
              </a:rPr>
              <a:t>- </a:t>
            </a:r>
            <a:r>
              <a:rPr lang="ru-RU" i="1" dirty="0">
                <a:solidFill>
                  <a:srgbClr val="445684"/>
                </a:solidFill>
              </a:rPr>
              <a:t>именно поэтому крупнейший на сегодняшний день проект STEP только в 2024 году достиг 4 МВт, а полная мощность 10 МВт ожидается после перехода на </a:t>
            </a:r>
            <a:r>
              <a:rPr lang="ru-RU" i="1" dirty="0" err="1">
                <a:solidFill>
                  <a:srgbClr val="445684"/>
                </a:solidFill>
              </a:rPr>
              <a:t>рекомпрессионную</a:t>
            </a:r>
            <a:r>
              <a:rPr lang="ru-RU" i="1" dirty="0">
                <a:solidFill>
                  <a:srgbClr val="445684"/>
                </a:solidFill>
              </a:rPr>
              <a:t> конфигурацию.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314402" y="2445135"/>
            <a:ext cx="6705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u="sng" dirty="0">
                <a:solidFill>
                  <a:srgbClr val="445684"/>
                </a:solidFill>
              </a:rPr>
              <a:t>Использование sCO₂ может решить</a:t>
            </a:r>
            <a:r>
              <a:rPr lang="ru-RU" u="sng" dirty="0" smtClean="0">
                <a:solidFill>
                  <a:srgbClr val="445684"/>
                </a:solidFill>
              </a:rPr>
              <a:t>:</a:t>
            </a:r>
            <a:endParaRPr lang="ru-RU" u="sng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ядерной энергетике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проблему </a:t>
            </a:r>
            <a:r>
              <a:rPr lang="ru-RU" dirty="0" smtClean="0">
                <a:solidFill>
                  <a:srgbClr val="445684"/>
                </a:solidFill>
              </a:rPr>
              <a:t>безопасности, компактности, доступности.</a:t>
            </a:r>
            <a:endParaRPr lang="ru-RU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солнечной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поднять температуру и КПД, снизить водопотребление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геотермальной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сделать рентабельной работу при низких температурах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угольной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повысить КПД, снизить расход топлива и выбросы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401434" y="5210507"/>
            <a:ext cx="11368919" cy="923330"/>
          </a:xfrm>
          <a:prstGeom prst="rect">
            <a:avLst/>
          </a:prstGeom>
          <a:ln w="28575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sCO₂-циклы обладают высоким термодинамическим потенциалом и </a:t>
            </a:r>
            <a:r>
              <a:rPr lang="ru-RU" dirty="0" smtClean="0">
                <a:solidFill>
                  <a:srgbClr val="445684"/>
                </a:solidFill>
              </a:rPr>
              <a:t>широкой </a:t>
            </a:r>
            <a:r>
              <a:rPr lang="ru-RU" dirty="0">
                <a:solidFill>
                  <a:srgbClr val="445684"/>
                </a:solidFill>
              </a:rPr>
              <a:t>применимостью, однако их промышленное внедрение сдерживается нерешёнными материаловедческими и компонентными проблемами, а также отсутствием эксплуатационного опыта. </a:t>
            </a:r>
          </a:p>
        </p:txBody>
      </p:sp>
    </p:spTree>
    <p:extLst>
      <p:ext uri="{BB962C8B-B14F-4D97-AF65-F5344CB8AC3E}">
        <p14:creationId xmlns:p14="http://schemas.microsoft.com/office/powerpoint/2010/main" val="362475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Ключевое преимущество СО2 – снижение работы сжатия 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406415" y="788180"/>
            <a:ext cx="83719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Вблизи критической точки фактор сжимаемости CO₂ резко падает (Z </a:t>
            </a:r>
            <a:r>
              <a:rPr lang="ru-RU" dirty="0" smtClean="0">
                <a:solidFill>
                  <a:srgbClr val="445684"/>
                </a:solidFill>
              </a:rPr>
              <a:t>= 0.2-0.3</a:t>
            </a:r>
            <a:r>
              <a:rPr lang="ru-RU" dirty="0">
                <a:solidFill>
                  <a:srgbClr val="445684"/>
                </a:solidFill>
              </a:rPr>
              <a:t>), что приводит к значительному снижению работы </a:t>
            </a:r>
            <a:r>
              <a:rPr lang="ru-RU" dirty="0" smtClean="0">
                <a:solidFill>
                  <a:srgbClr val="445684"/>
                </a:solidFill>
              </a:rPr>
              <a:t>сжатия (до 30% от мощности турбины). 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t="2600"/>
          <a:stretch/>
        </p:blipFill>
        <p:spPr>
          <a:xfrm>
            <a:off x="226145" y="933286"/>
            <a:ext cx="3150050" cy="238856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66" y="3304899"/>
            <a:ext cx="3033744" cy="234300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1227" y="5565039"/>
            <a:ext cx="34398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Изменение плотности и фактора сжимаемости от температуры вблизи критической точки</a:t>
            </a:r>
            <a:endParaRPr lang="ru-RU" sz="14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529617" y="1563654"/>
                <a:ext cx="3035284" cy="9347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445684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 dirty="0" smtClean="0">
                          <a:solidFill>
                            <a:srgbClr val="44568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b="0" dirty="0" smtClean="0">
                  <a:solidFill>
                    <a:srgbClr val="445684"/>
                  </a:solidFill>
                </a:endParaRP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617" y="1563654"/>
                <a:ext cx="3035284" cy="9347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3398704" y="2280970"/>
            <a:ext cx="85939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Компактность турбомашин определяется</a:t>
            </a:r>
            <a:r>
              <a:rPr lang="en-US" dirty="0" smtClean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объемным расходом на входе. По сравнению с паром (3.3-75*</a:t>
            </a:r>
            <a:r>
              <a:rPr lang="ru-RU" dirty="0">
                <a:solidFill>
                  <a:srgbClr val="445684"/>
                </a:solidFill>
              </a:rPr>
              <a:t> кг/м</a:t>
            </a:r>
            <a:r>
              <a:rPr lang="ru-RU" baseline="30000" dirty="0">
                <a:solidFill>
                  <a:srgbClr val="445684"/>
                </a:solidFill>
              </a:rPr>
              <a:t>3</a:t>
            </a:r>
            <a:r>
              <a:rPr lang="ru-RU" dirty="0" smtClean="0">
                <a:solidFill>
                  <a:srgbClr val="445684"/>
                </a:solidFill>
              </a:rPr>
              <a:t>) и гелием (1.3-1.6 кг/м</a:t>
            </a:r>
            <a:r>
              <a:rPr lang="ru-RU" baseline="30000" dirty="0" smtClean="0">
                <a:solidFill>
                  <a:srgbClr val="445684"/>
                </a:solidFill>
              </a:rPr>
              <a:t>3</a:t>
            </a:r>
            <a:r>
              <a:rPr lang="ru-RU" dirty="0" smtClean="0">
                <a:solidFill>
                  <a:srgbClr val="445684"/>
                </a:solidFill>
              </a:rPr>
              <a:t>), </a:t>
            </a:r>
            <a:r>
              <a:rPr lang="en-US" dirty="0" smtClean="0">
                <a:solidFill>
                  <a:srgbClr val="445684"/>
                </a:solidFill>
              </a:rPr>
              <a:t>s-</a:t>
            </a:r>
            <a:r>
              <a:rPr lang="ru-RU" dirty="0" smtClean="0">
                <a:solidFill>
                  <a:srgbClr val="445684"/>
                </a:solidFill>
              </a:rPr>
              <a:t>СО</a:t>
            </a:r>
            <a:r>
              <a:rPr lang="ru-RU" baseline="-25000" dirty="0" smtClean="0">
                <a:solidFill>
                  <a:srgbClr val="445684"/>
                </a:solidFill>
              </a:rPr>
              <a:t>2</a:t>
            </a:r>
            <a:r>
              <a:rPr lang="ru-RU" dirty="0" smtClean="0">
                <a:solidFill>
                  <a:srgbClr val="445684"/>
                </a:solidFill>
              </a:rPr>
              <a:t> имеет плотность на входе в турбину </a:t>
            </a:r>
            <a:r>
              <a:rPr lang="en-US" dirty="0" smtClean="0">
                <a:solidFill>
                  <a:srgbClr val="445684"/>
                </a:solidFill>
              </a:rPr>
              <a:t>~ 80-100 </a:t>
            </a:r>
            <a:r>
              <a:rPr lang="ru-RU" dirty="0" smtClean="0">
                <a:solidFill>
                  <a:srgbClr val="445684"/>
                </a:solidFill>
              </a:rPr>
              <a:t>кг/м</a:t>
            </a:r>
            <a:r>
              <a:rPr lang="ru-RU" baseline="30000" dirty="0" smtClean="0">
                <a:solidFill>
                  <a:srgbClr val="445684"/>
                </a:solidFill>
              </a:rPr>
              <a:t>3</a:t>
            </a:r>
            <a:r>
              <a:rPr lang="en-US" baseline="30000" dirty="0" smtClean="0">
                <a:solidFill>
                  <a:srgbClr val="445684"/>
                </a:solidFill>
              </a:rPr>
              <a:t> </a:t>
            </a:r>
            <a:r>
              <a:rPr lang="en-US" dirty="0" smtClean="0">
                <a:solidFill>
                  <a:srgbClr val="445684"/>
                </a:solidFill>
              </a:rPr>
              <a:t> (</a:t>
            </a:r>
            <a:r>
              <a:rPr lang="ru-RU" dirty="0">
                <a:solidFill>
                  <a:srgbClr val="445684"/>
                </a:solidFill>
              </a:rPr>
              <a:t>при </a:t>
            </a:r>
            <a:r>
              <a:rPr lang="ru-RU" dirty="0" smtClean="0">
                <a:solidFill>
                  <a:srgbClr val="445684"/>
                </a:solidFill>
              </a:rPr>
              <a:t>давлении </a:t>
            </a:r>
            <a:r>
              <a:rPr lang="ru-RU" dirty="0">
                <a:solidFill>
                  <a:srgbClr val="445684"/>
                </a:solidFill>
              </a:rPr>
              <a:t>~20 МПа, </a:t>
            </a:r>
            <a:r>
              <a:rPr lang="ru-RU" dirty="0" smtClean="0">
                <a:solidFill>
                  <a:srgbClr val="445684"/>
                </a:solidFill>
              </a:rPr>
              <a:t>температуре </a:t>
            </a:r>
            <a:r>
              <a:rPr lang="ru-RU" dirty="0">
                <a:solidFill>
                  <a:srgbClr val="445684"/>
                </a:solidFill>
              </a:rPr>
              <a:t>~550°C</a:t>
            </a:r>
            <a:r>
              <a:rPr lang="en-US" dirty="0" smtClean="0">
                <a:solidFill>
                  <a:srgbClr val="445684"/>
                </a:solidFill>
              </a:rPr>
              <a:t>)</a:t>
            </a:r>
            <a:r>
              <a:rPr lang="en-US" baseline="30000" dirty="0" smtClean="0">
                <a:solidFill>
                  <a:srgbClr val="445684"/>
                </a:solidFill>
              </a:rPr>
              <a:t>   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406415" y="3190288"/>
            <a:ext cx="85720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Температура на входе в компрессор должна поддерживаться немного выше критической, чтобы избежать двухфазного течения. Работа ниже критической точки приводит к образованию капель жидкости, что </a:t>
            </a:r>
            <a:r>
              <a:rPr lang="ru-RU" dirty="0" smtClean="0">
                <a:solidFill>
                  <a:srgbClr val="445684"/>
                </a:solidFill>
              </a:rPr>
              <a:t>вызывает </a:t>
            </a:r>
            <a:r>
              <a:rPr lang="ru-RU" dirty="0">
                <a:solidFill>
                  <a:srgbClr val="445684"/>
                </a:solidFill>
              </a:rPr>
              <a:t>эрозию и падение производительности. Оптимум составляет </a:t>
            </a:r>
            <a:r>
              <a:rPr lang="ru-RU" dirty="0" smtClean="0">
                <a:solidFill>
                  <a:srgbClr val="445684"/>
                </a:solidFill>
              </a:rPr>
              <a:t>2-5°C </a:t>
            </a:r>
            <a:r>
              <a:rPr lang="ru-RU" dirty="0">
                <a:solidFill>
                  <a:srgbClr val="445684"/>
                </a:solidFill>
              </a:rPr>
              <a:t>выше критической точки.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3505872" y="4469997"/>
            <a:ext cx="8379660" cy="1754326"/>
          </a:xfrm>
          <a:prstGeom prst="rect">
            <a:avLst/>
          </a:prstGeom>
          <a:ln w="28575">
            <a:solidFill>
              <a:srgbClr val="70AD47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Основное преимущество sCO₂-цикла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выигрыш на двух эффектах: малая работа сжатия </a:t>
            </a:r>
            <a:r>
              <a:rPr lang="ru-RU" dirty="0" smtClean="0">
                <a:solidFill>
                  <a:srgbClr val="445684"/>
                </a:solidFill>
              </a:rPr>
              <a:t>и </a:t>
            </a:r>
            <a:r>
              <a:rPr lang="ru-RU" dirty="0">
                <a:solidFill>
                  <a:srgbClr val="445684"/>
                </a:solidFill>
              </a:rPr>
              <a:t>высокая удельная работа на </a:t>
            </a:r>
            <a:r>
              <a:rPr lang="ru-RU" dirty="0" smtClean="0">
                <a:solidFill>
                  <a:srgbClr val="445684"/>
                </a:solidFill>
              </a:rPr>
              <a:t>расширении. Сравнение </a:t>
            </a:r>
            <a:r>
              <a:rPr lang="ru-RU" dirty="0">
                <a:solidFill>
                  <a:srgbClr val="445684"/>
                </a:solidFill>
              </a:rPr>
              <a:t>турбин одинаковой мощности (по данным </a:t>
            </a:r>
            <a:r>
              <a:rPr lang="ru-RU" dirty="0" err="1">
                <a:solidFill>
                  <a:srgbClr val="445684"/>
                </a:solidFill>
              </a:rPr>
              <a:t>Dostal</a:t>
            </a:r>
            <a:r>
              <a:rPr lang="ru-RU" dirty="0">
                <a:solidFill>
                  <a:srgbClr val="445684"/>
                </a:solidFill>
              </a:rPr>
              <a:t>, 2004) </a:t>
            </a:r>
            <a:r>
              <a:rPr lang="ru-RU" dirty="0" smtClean="0">
                <a:solidFill>
                  <a:srgbClr val="445684"/>
                </a:solidFill>
              </a:rPr>
              <a:t>показывает: sCO</a:t>
            </a:r>
            <a:r>
              <a:rPr lang="ru-RU" dirty="0">
                <a:solidFill>
                  <a:srgbClr val="445684"/>
                </a:solidFill>
              </a:rPr>
              <a:t>₂ турбина: 450 МВт </a:t>
            </a:r>
            <a:r>
              <a:rPr lang="ru-RU" dirty="0" smtClean="0">
                <a:solidFill>
                  <a:srgbClr val="445684"/>
                </a:solidFill>
              </a:rPr>
              <a:t>- 4 </a:t>
            </a:r>
            <a:r>
              <a:rPr lang="ru-RU" dirty="0">
                <a:solidFill>
                  <a:srgbClr val="445684"/>
                </a:solidFill>
              </a:rPr>
              <a:t>ступени </a:t>
            </a:r>
            <a:r>
              <a:rPr lang="ru-RU" dirty="0" smtClean="0">
                <a:solidFill>
                  <a:srgbClr val="445684"/>
                </a:solidFill>
              </a:rPr>
              <a:t>. Паровая </a:t>
            </a:r>
            <a:r>
              <a:rPr lang="ru-RU" dirty="0">
                <a:solidFill>
                  <a:srgbClr val="445684"/>
                </a:solidFill>
              </a:rPr>
              <a:t>турбина: 250 МВт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55 ступеней </a:t>
            </a:r>
            <a:r>
              <a:rPr lang="ru-RU" dirty="0" smtClean="0">
                <a:solidFill>
                  <a:srgbClr val="445684"/>
                </a:solidFill>
              </a:rPr>
              <a:t>.Разница </a:t>
            </a:r>
            <a:r>
              <a:rPr lang="ru-RU" dirty="0">
                <a:solidFill>
                  <a:srgbClr val="445684"/>
                </a:solidFill>
              </a:rPr>
              <a:t>в размерах: sCO₂-турбина может быть в </a:t>
            </a:r>
            <a:r>
              <a:rPr lang="ru-RU" dirty="0" smtClean="0">
                <a:solidFill>
                  <a:srgbClr val="445684"/>
                </a:solidFill>
              </a:rPr>
              <a:t>10-30 </a:t>
            </a:r>
            <a:r>
              <a:rPr lang="ru-RU" dirty="0">
                <a:solidFill>
                  <a:srgbClr val="445684"/>
                </a:solidFill>
              </a:rPr>
              <a:t>раз компактнее паровой, а в ряде проектов </a:t>
            </a:r>
            <a:r>
              <a:rPr lang="ru-RU" dirty="0" smtClean="0">
                <a:solidFill>
                  <a:srgbClr val="445684"/>
                </a:solidFill>
              </a:rPr>
              <a:t>(STEP</a:t>
            </a:r>
            <a:r>
              <a:rPr lang="ru-RU" dirty="0">
                <a:solidFill>
                  <a:srgbClr val="445684"/>
                </a:solidFill>
              </a:rPr>
              <a:t>)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в 20 раз меньше по </a:t>
            </a:r>
            <a:r>
              <a:rPr lang="ru-RU" dirty="0" smtClean="0">
                <a:solidFill>
                  <a:srgbClr val="445684"/>
                </a:solidFill>
              </a:rPr>
              <a:t>длине.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572750" y="6404679"/>
            <a:ext cx="44645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rgbClr val="445684"/>
                </a:solidFill>
              </a:rPr>
              <a:t>* </a:t>
            </a:r>
            <a:r>
              <a:rPr lang="ru-RU" sz="1400" dirty="0" smtClean="0">
                <a:solidFill>
                  <a:srgbClr val="445684"/>
                </a:solidFill>
              </a:rPr>
              <a:t>- Для </a:t>
            </a:r>
            <a:r>
              <a:rPr lang="ru-RU" sz="1400" dirty="0">
                <a:solidFill>
                  <a:srgbClr val="445684"/>
                </a:solidFill>
              </a:rPr>
              <a:t>мощных энергетических турбин: 540°C, 23.5 МПа</a:t>
            </a:r>
            <a:endParaRPr lang="ru-RU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1683935" y="2710876"/>
            <a:ext cx="582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 smtClean="0">
                <a:solidFill>
                  <a:srgbClr val="C00000"/>
                </a:solidFill>
              </a:rPr>
              <a:t>крит.т</a:t>
            </a:r>
            <a:endParaRPr lang="ru-RU" sz="1200" b="1" dirty="0">
              <a:solidFill>
                <a:srgbClr val="C00000"/>
              </a:solidFill>
            </a:endParaRPr>
          </a:p>
        </p:txBody>
      </p:sp>
      <p:cxnSp>
        <p:nvCxnSpPr>
          <p:cNvPr id="24" name="Прямая со стрелкой 23"/>
          <p:cNvCxnSpPr>
            <a:stCxn id="22" idx="1"/>
          </p:cNvCxnSpPr>
          <p:nvPr/>
        </p:nvCxnSpPr>
        <p:spPr>
          <a:xfrm flipH="1" flipV="1">
            <a:off x="1210491" y="2756672"/>
            <a:ext cx="473444" cy="927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38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Ключевой недостаток – удорожание рекуператоров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11667" y="948409"/>
            <a:ext cx="11441688" cy="1200329"/>
          </a:xfrm>
          <a:prstGeom prst="rect">
            <a:avLst/>
          </a:prstGeom>
          <a:ln w="28575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i="1" dirty="0" smtClean="0">
                <a:solidFill>
                  <a:srgbClr val="445684"/>
                </a:solidFill>
              </a:rPr>
              <a:t>Проблема использования СО</a:t>
            </a:r>
            <a:r>
              <a:rPr lang="ru-RU" i="1" baseline="-25000" dirty="0" smtClean="0">
                <a:solidFill>
                  <a:srgbClr val="445684"/>
                </a:solidFill>
              </a:rPr>
              <a:t>2</a:t>
            </a:r>
            <a:r>
              <a:rPr lang="ru-RU" i="1" dirty="0" smtClean="0">
                <a:solidFill>
                  <a:srgbClr val="445684"/>
                </a:solidFill>
              </a:rPr>
              <a:t>: </a:t>
            </a:r>
            <a:r>
              <a:rPr lang="ru-RU" i="1" dirty="0">
                <a:solidFill>
                  <a:srgbClr val="445684"/>
                </a:solidFill>
              </a:rPr>
              <a:t>Аномальное поведение CO₂ вблизи критической точки </a:t>
            </a:r>
            <a:r>
              <a:rPr lang="ru-RU" i="1" dirty="0" smtClean="0">
                <a:solidFill>
                  <a:srgbClr val="445684"/>
                </a:solidFill>
              </a:rPr>
              <a:t>и существенное различие теплоемкости горячего и холодного потоков вызывает появление «точки </a:t>
            </a:r>
            <a:r>
              <a:rPr lang="ru-RU" i="1" dirty="0" err="1" smtClean="0">
                <a:solidFill>
                  <a:srgbClr val="445684"/>
                </a:solidFill>
              </a:rPr>
              <a:t>пинча</a:t>
            </a:r>
            <a:r>
              <a:rPr lang="ru-RU" i="1" dirty="0" smtClean="0">
                <a:solidFill>
                  <a:srgbClr val="445684"/>
                </a:solidFill>
              </a:rPr>
              <a:t>» внутри аппарата, из-за этого требуемая площадь экспоненциально возрастает. Стоимость теплообменников может превышать более 50% от всей системы.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360801" y="2228065"/>
            <a:ext cx="77070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Для решения данной проблемы используют </a:t>
            </a:r>
            <a:r>
              <a:rPr lang="ru-RU" u="sng" dirty="0">
                <a:solidFill>
                  <a:srgbClr val="445684"/>
                </a:solidFill>
              </a:rPr>
              <a:t>схемы с </a:t>
            </a:r>
            <a:r>
              <a:rPr lang="ru-RU" u="sng" dirty="0" err="1" smtClean="0">
                <a:solidFill>
                  <a:srgbClr val="445684"/>
                </a:solidFill>
              </a:rPr>
              <a:t>рекомпрессией</a:t>
            </a:r>
            <a:r>
              <a:rPr lang="ru-RU" u="sng" dirty="0" smtClean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или промежуточным нагревом </a:t>
            </a:r>
            <a:r>
              <a:rPr lang="ru-RU" dirty="0">
                <a:solidFill>
                  <a:srgbClr val="445684"/>
                </a:solidFill>
              </a:rPr>
              <a:t>для уравнивания теплоемкостей и печатные микроканальные теплообменники для увеличения компактности (от 3 до 8 раз в сравнении с </a:t>
            </a:r>
            <a:r>
              <a:rPr lang="ru-RU" dirty="0" err="1">
                <a:solidFill>
                  <a:srgbClr val="445684"/>
                </a:solidFill>
              </a:rPr>
              <a:t>кожухотрубными</a:t>
            </a:r>
            <a:r>
              <a:rPr lang="ru-RU" dirty="0">
                <a:solidFill>
                  <a:srgbClr val="445684"/>
                </a:solidFill>
              </a:rPr>
              <a:t>).Такие теплообменники способны выдерживать до 65 </a:t>
            </a:r>
            <a:r>
              <a:rPr lang="ru-RU" dirty="0" smtClean="0">
                <a:solidFill>
                  <a:srgbClr val="445684"/>
                </a:solidFill>
              </a:rPr>
              <a:t>МПа. Однако </a:t>
            </a:r>
            <a:r>
              <a:rPr lang="ru-RU" dirty="0">
                <a:solidFill>
                  <a:srgbClr val="445684"/>
                </a:solidFill>
              </a:rPr>
              <a:t>для </a:t>
            </a:r>
            <a:r>
              <a:rPr lang="en-US" dirty="0">
                <a:solidFill>
                  <a:srgbClr val="445684"/>
                </a:solidFill>
              </a:rPr>
              <a:t>PCHE </a:t>
            </a:r>
            <a:r>
              <a:rPr lang="ru-RU" dirty="0">
                <a:solidFill>
                  <a:srgbClr val="445684"/>
                </a:solidFill>
              </a:rPr>
              <a:t>требуется оптимизация каналов, вследствие увеличения гидравлического </a:t>
            </a:r>
            <a:r>
              <a:rPr lang="ru-RU" dirty="0" smtClean="0">
                <a:solidFill>
                  <a:srgbClr val="445684"/>
                </a:solidFill>
              </a:rPr>
              <a:t>сопротивления. 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t="9842"/>
          <a:stretch/>
        </p:blipFill>
        <p:spPr>
          <a:xfrm>
            <a:off x="407842" y="2252227"/>
            <a:ext cx="3807142" cy="180949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71638" y="3924097"/>
            <a:ext cx="34398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а) принципиальная схема </a:t>
            </a:r>
            <a:r>
              <a:rPr lang="en-US" sz="1400" b="1" u="sng" dirty="0" smtClean="0">
                <a:solidFill>
                  <a:srgbClr val="445684"/>
                </a:solidFill>
              </a:rPr>
              <a:t>PCHE b</a:t>
            </a:r>
            <a:r>
              <a:rPr lang="ru-RU" sz="1400" b="1" u="sng" dirty="0" smtClean="0">
                <a:solidFill>
                  <a:srgbClr val="445684"/>
                </a:solidFill>
              </a:rPr>
              <a:t>) форма канала </a:t>
            </a:r>
            <a:r>
              <a:rPr lang="en-US" sz="1400" b="1" u="sng" dirty="0" smtClean="0">
                <a:solidFill>
                  <a:srgbClr val="445684"/>
                </a:solidFill>
              </a:rPr>
              <a:t>c</a:t>
            </a:r>
            <a:r>
              <a:rPr lang="ru-RU" sz="1400" b="1" u="sng" dirty="0" smtClean="0">
                <a:solidFill>
                  <a:srgbClr val="445684"/>
                </a:solidFill>
              </a:rPr>
              <a:t>) направление тока</a:t>
            </a:r>
            <a:endParaRPr lang="ru-RU" sz="1400" b="1" u="sng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/>
          <a:srcRect l="9959" r="3299"/>
          <a:stretch/>
        </p:blipFill>
        <p:spPr>
          <a:xfrm>
            <a:off x="168175" y="4351888"/>
            <a:ext cx="4046809" cy="182031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360801" y="4061718"/>
            <a:ext cx="74925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PCHE также эффективны в качестве утилизаторов тепла для внешнего потребителя и охладителей. Подтверждена работа с водой, жидким натрием, маслами и газами. Например, в конфигурации sCO</a:t>
            </a:r>
            <a:r>
              <a:rPr lang="ru-RU" dirty="0" smtClean="0">
                <a:solidFill>
                  <a:srgbClr val="445684"/>
                </a:solidFill>
              </a:rPr>
              <a:t>₂-H</a:t>
            </a:r>
            <a:r>
              <a:rPr lang="ru-RU" dirty="0">
                <a:solidFill>
                  <a:srgbClr val="445684"/>
                </a:solidFill>
              </a:rPr>
              <a:t>₂O </a:t>
            </a:r>
            <a:r>
              <a:rPr lang="ru-RU" dirty="0" smtClean="0">
                <a:solidFill>
                  <a:srgbClr val="445684"/>
                </a:solidFill>
              </a:rPr>
              <a:t>рассматриваются проекты мощностью </a:t>
            </a:r>
            <a:r>
              <a:rPr lang="ru-RU" dirty="0">
                <a:solidFill>
                  <a:srgbClr val="445684"/>
                </a:solidFill>
              </a:rPr>
              <a:t>до </a:t>
            </a:r>
            <a:r>
              <a:rPr lang="ru-RU" dirty="0" smtClean="0">
                <a:solidFill>
                  <a:srgbClr val="445684"/>
                </a:solidFill>
              </a:rPr>
              <a:t>510 кВт, а экспериментально подтверждены прототипы на </a:t>
            </a:r>
            <a:r>
              <a:rPr lang="en-US" dirty="0" smtClean="0">
                <a:solidFill>
                  <a:srgbClr val="445684"/>
                </a:solidFill>
              </a:rPr>
              <a:t>~54-200</a:t>
            </a:r>
            <a:r>
              <a:rPr lang="ru-RU" dirty="0" smtClean="0">
                <a:solidFill>
                  <a:srgbClr val="445684"/>
                </a:solidFill>
              </a:rPr>
              <a:t> кВт.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15" name="Стрелка вправо 14"/>
          <p:cNvSpPr/>
          <p:nvPr/>
        </p:nvSpPr>
        <p:spPr>
          <a:xfrm rot="9981596">
            <a:off x="2891679" y="4835249"/>
            <a:ext cx="1538636" cy="374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38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100453"/>
            <a:ext cx="10641530" cy="480131"/>
          </a:xfrm>
        </p:spPr>
        <p:txBody>
          <a:bodyPr/>
          <a:lstStyle/>
          <a:p>
            <a:r>
              <a:rPr lang="ru-RU" dirty="0">
                <a:latin typeface="+mn-lt"/>
              </a:rPr>
              <a:t> Материалы и деградация в sCO₂-</a:t>
            </a:r>
            <a:r>
              <a:rPr lang="ru-RU" dirty="0" smtClean="0">
                <a:latin typeface="+mn-lt"/>
              </a:rPr>
              <a:t>цикле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83" y="3273038"/>
            <a:ext cx="4194602" cy="243243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010" y="3404786"/>
            <a:ext cx="2645834" cy="2143125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4711266" y="5611469"/>
            <a:ext cx="2392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u="sng" dirty="0" smtClean="0">
                <a:solidFill>
                  <a:srgbClr val="445684"/>
                </a:solidFill>
              </a:rPr>
              <a:t>Компонент из сплава</a:t>
            </a:r>
            <a:r>
              <a:rPr lang="en-US" sz="1400" b="1" u="sng" dirty="0" smtClean="0">
                <a:solidFill>
                  <a:srgbClr val="445684"/>
                </a:solidFill>
              </a:rPr>
              <a:t> Hayne</a:t>
            </a:r>
            <a:r>
              <a:rPr lang="ru-RU" sz="1400" b="1" u="sng" dirty="0" smtClean="0">
                <a:solidFill>
                  <a:srgbClr val="445684"/>
                </a:solidFill>
              </a:rPr>
              <a:t> 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79240" y="926519"/>
            <a:ext cx="114717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445684"/>
                </a:solidFill>
              </a:rPr>
              <a:t>Ресурс и надёжность энергетической установки на основе </a:t>
            </a:r>
            <a:r>
              <a:rPr lang="ru-RU" i="1" dirty="0" smtClean="0">
                <a:solidFill>
                  <a:srgbClr val="445684"/>
                </a:solidFill>
              </a:rPr>
              <a:t>sCO₂ </a:t>
            </a:r>
            <a:r>
              <a:rPr lang="ru-RU" i="1" dirty="0">
                <a:solidFill>
                  <a:srgbClr val="445684"/>
                </a:solidFill>
              </a:rPr>
              <a:t>определяются стойкостью конструкционных материалов к комплексу </a:t>
            </a:r>
            <a:r>
              <a:rPr lang="ru-RU" i="1" dirty="0" err="1">
                <a:solidFill>
                  <a:srgbClr val="445684"/>
                </a:solidFill>
              </a:rPr>
              <a:t>деградационных</a:t>
            </a:r>
            <a:r>
              <a:rPr lang="ru-RU" i="1" dirty="0">
                <a:solidFill>
                  <a:srgbClr val="445684"/>
                </a:solidFill>
              </a:rPr>
              <a:t> процессов, развивающихся в условиях высоких температур (до </a:t>
            </a:r>
            <a:r>
              <a:rPr lang="ru-RU" i="1" dirty="0" smtClean="0">
                <a:solidFill>
                  <a:srgbClr val="445684"/>
                </a:solidFill>
              </a:rPr>
              <a:t>800°C</a:t>
            </a:r>
            <a:r>
              <a:rPr lang="ru-RU" i="1" dirty="0">
                <a:solidFill>
                  <a:srgbClr val="445684"/>
                </a:solidFill>
              </a:rPr>
              <a:t>) и давлений (до 30 МПа). В среде sCO₂ реализуются взаимосвязанные механизмы разрушения: высокотемпературное окисление, </a:t>
            </a:r>
            <a:r>
              <a:rPr lang="ru-RU" i="1" dirty="0" err="1">
                <a:solidFill>
                  <a:srgbClr val="445684"/>
                </a:solidFill>
              </a:rPr>
              <a:t>карбюризация</a:t>
            </a:r>
            <a:r>
              <a:rPr lang="ru-RU" i="1" dirty="0">
                <a:solidFill>
                  <a:srgbClr val="445684"/>
                </a:solidFill>
              </a:rPr>
              <a:t>, эрозия, термическая усталость и ползучесть. Ключевым фактором, лимитирующим ресурс, является </a:t>
            </a:r>
            <a:r>
              <a:rPr lang="ru-RU" i="1" dirty="0" err="1">
                <a:solidFill>
                  <a:srgbClr val="445684"/>
                </a:solidFill>
              </a:rPr>
              <a:t>карбюризация</a:t>
            </a:r>
            <a:r>
              <a:rPr lang="ru-RU" i="1" dirty="0">
                <a:solidFill>
                  <a:srgbClr val="445684"/>
                </a:solidFill>
              </a:rPr>
              <a:t> </a:t>
            </a:r>
            <a:r>
              <a:rPr lang="ru-RU" i="1" dirty="0" smtClean="0">
                <a:solidFill>
                  <a:srgbClr val="445684"/>
                </a:solidFill>
              </a:rPr>
              <a:t>- </a:t>
            </a:r>
            <a:r>
              <a:rPr lang="ru-RU" i="1" dirty="0">
                <a:solidFill>
                  <a:srgbClr val="445684"/>
                </a:solidFill>
              </a:rPr>
              <a:t>диффузия углерода из рабочего тела в металл с образованием карбидных фаз по границам зёрен, приводящая к </a:t>
            </a:r>
            <a:r>
              <a:rPr lang="ru-RU" i="1" dirty="0" err="1">
                <a:solidFill>
                  <a:srgbClr val="445684"/>
                </a:solidFill>
              </a:rPr>
              <a:t>охрупчиванию</a:t>
            </a:r>
            <a:r>
              <a:rPr lang="ru-RU" i="1" dirty="0">
                <a:solidFill>
                  <a:srgbClr val="445684"/>
                </a:solidFill>
              </a:rPr>
              <a:t> и снижению пластичности.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428624" y="2698485"/>
            <a:ext cx="114397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Основным конструкционным решением для горячего тракта (T &gt; 650°C) является применение γ'-упрочнённых никелевых </a:t>
            </a:r>
            <a:r>
              <a:rPr lang="ru-RU" dirty="0" err="1">
                <a:solidFill>
                  <a:srgbClr val="445684"/>
                </a:solidFill>
              </a:rPr>
              <a:t>суперсплавов</a:t>
            </a:r>
            <a:r>
              <a:rPr lang="ru-RU" dirty="0">
                <a:solidFill>
                  <a:srgbClr val="445684"/>
                </a:solidFill>
              </a:rPr>
              <a:t>. 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7248744" y="3467438"/>
            <a:ext cx="4619623" cy="1754326"/>
          </a:xfrm>
          <a:prstGeom prst="rect">
            <a:avLst/>
          </a:prstGeom>
          <a:ln w="28575">
            <a:solidFill>
              <a:srgbClr val="70AD47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Для турбины рекомендованы сплавы 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282 и </a:t>
            </a:r>
            <a:r>
              <a:rPr lang="ru-RU" dirty="0" err="1">
                <a:solidFill>
                  <a:srgbClr val="445684"/>
                </a:solidFill>
              </a:rPr>
              <a:t>Inconel</a:t>
            </a:r>
            <a:r>
              <a:rPr lang="ru-RU" dirty="0">
                <a:solidFill>
                  <a:srgbClr val="445684"/>
                </a:solidFill>
              </a:rPr>
              <a:t> 740H; для </a:t>
            </a:r>
            <a:r>
              <a:rPr lang="ru-RU" dirty="0" smtClean="0">
                <a:solidFill>
                  <a:srgbClr val="445684"/>
                </a:solidFill>
              </a:rPr>
              <a:t>ВТО - 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230, </a:t>
            </a:r>
            <a:r>
              <a:rPr lang="ru-RU" dirty="0" err="1" smtClean="0">
                <a:solidFill>
                  <a:srgbClr val="445684"/>
                </a:solidFill>
              </a:rPr>
              <a:t>Inconel</a:t>
            </a:r>
            <a:r>
              <a:rPr lang="ru-RU" dirty="0" smtClean="0">
                <a:solidFill>
                  <a:srgbClr val="445684"/>
                </a:solidFill>
              </a:rPr>
              <a:t> </a:t>
            </a:r>
            <a:r>
              <a:rPr lang="ru-RU" dirty="0">
                <a:solidFill>
                  <a:srgbClr val="445684"/>
                </a:solidFill>
              </a:rPr>
              <a:t>617 (выбор определяется тепловым </a:t>
            </a:r>
            <a:r>
              <a:rPr lang="ru-RU" dirty="0" smtClean="0">
                <a:solidFill>
                  <a:srgbClr val="445684"/>
                </a:solidFill>
              </a:rPr>
              <a:t>потоком</a:t>
            </a:r>
            <a:r>
              <a:rPr lang="ru-RU" dirty="0">
                <a:solidFill>
                  <a:srgbClr val="445684"/>
                </a:solidFill>
              </a:rPr>
              <a:t>)</a:t>
            </a:r>
            <a:r>
              <a:rPr lang="ru-RU" dirty="0" smtClean="0">
                <a:solidFill>
                  <a:srgbClr val="445684"/>
                </a:solidFill>
              </a:rPr>
              <a:t>. </a:t>
            </a:r>
            <a:r>
              <a:rPr lang="ru-RU" dirty="0">
                <a:solidFill>
                  <a:srgbClr val="445684"/>
                </a:solidFill>
              </a:rPr>
              <a:t>Для низкотемпературных зон (≤650°C) допускается применение </a:t>
            </a:r>
            <a:r>
              <a:rPr lang="ru-RU" dirty="0" err="1">
                <a:solidFill>
                  <a:srgbClr val="445684"/>
                </a:solidFill>
              </a:rPr>
              <a:t>аустенитных</a:t>
            </a:r>
            <a:r>
              <a:rPr lang="ru-RU" dirty="0">
                <a:solidFill>
                  <a:srgbClr val="445684"/>
                </a:solidFill>
              </a:rPr>
              <a:t> сталей SS 347H и SS 253 MA.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47520" y="5705475"/>
            <a:ext cx="30720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Напряжение, </a:t>
            </a:r>
            <a:r>
              <a:rPr lang="ru-RU" sz="1400" b="1" u="sng" dirty="0">
                <a:solidFill>
                  <a:srgbClr val="445684"/>
                </a:solidFill>
              </a:rPr>
              <a:t>при котором материал разрушается от </a:t>
            </a:r>
            <a:r>
              <a:rPr lang="ru-RU" sz="1400" b="1" u="sng" dirty="0" smtClean="0">
                <a:solidFill>
                  <a:srgbClr val="445684"/>
                </a:solidFill>
              </a:rPr>
              <a:t>ползучести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В каких циклах можно использовать СО</a:t>
            </a:r>
            <a:r>
              <a:rPr lang="ru-RU" baseline="-25000" dirty="0" smtClean="0">
                <a:latin typeface="+mn-lt"/>
              </a:rPr>
              <a:t>2</a:t>
            </a:r>
            <a:r>
              <a:rPr lang="ru-RU" dirty="0" smtClean="0">
                <a:latin typeface="+mn-lt"/>
              </a:rPr>
              <a:t>?</a:t>
            </a:r>
            <a:endParaRPr lang="ru-RU" dirty="0">
              <a:latin typeface="+mn-lt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237592"/>
              </p:ext>
            </p:extLst>
          </p:nvPr>
        </p:nvGraphicFramePr>
        <p:xfrm>
          <a:off x="333375" y="1722609"/>
          <a:ext cx="11582400" cy="344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6474"/>
                <a:gridCol w="845128"/>
                <a:gridCol w="1092020"/>
                <a:gridCol w="3997741"/>
                <a:gridCol w="4451037"/>
              </a:tblGrid>
              <a:tr h="23513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Цикл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КПД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Теп. мощность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Особенности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Область</a:t>
                      </a:r>
                      <a:r>
                        <a:rPr lang="ru-RU" sz="1200" baseline="0" dirty="0" smtClean="0">
                          <a:effectLst/>
                        </a:rPr>
                        <a:t> применения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SBR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40-43</a:t>
                      </a:r>
                      <a:r>
                        <a:rPr lang="ru-RU" sz="1200" dirty="0">
                          <a:effectLst/>
                        </a:rPr>
                        <a:t>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До ~200 </a:t>
                      </a:r>
                      <a:r>
                        <a:rPr lang="ru-RU" sz="1200" dirty="0" smtClean="0">
                          <a:effectLst/>
                        </a:rPr>
                        <a:t>кВт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Низкая эффективность из-за потерь в рекуператоре, точка </a:t>
                      </a:r>
                      <a:r>
                        <a:rPr lang="ru-RU" sz="1200" dirty="0" err="1">
                          <a:effectLst/>
                        </a:rPr>
                        <a:t>пинча</a:t>
                      </a: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Утилизация тепла отходящих газов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Солнечная энергетика</a:t>
                      </a: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RCB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42-50%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0,1-100</a:t>
                      </a:r>
                      <a:r>
                        <a:rPr lang="ru-RU" sz="1200" baseline="0" dirty="0" smtClean="0">
                          <a:effectLst/>
                        </a:rPr>
                        <a:t>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Дополнительный </a:t>
                      </a:r>
                      <a:r>
                        <a:rPr lang="ru-RU" sz="1200" dirty="0">
                          <a:effectLst/>
                        </a:rPr>
                        <a:t>компрессор, металлоёмкие теплообменники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• АЭС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• Солнечная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ICB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43-53%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100</a:t>
                      </a:r>
                      <a:r>
                        <a:rPr lang="ru-RU" sz="1200" dirty="0" smtClean="0">
                          <a:effectLst/>
                        </a:rPr>
                        <a:t>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Дополнительные </a:t>
                      </a:r>
                      <a:r>
                        <a:rPr lang="ru-RU" sz="1200" dirty="0">
                          <a:effectLst/>
                        </a:rPr>
                        <a:t>турбинные ступени, высокие </a:t>
                      </a:r>
                      <a:r>
                        <a:rPr lang="ru-RU" sz="1200" dirty="0" smtClean="0">
                          <a:effectLst/>
                        </a:rPr>
                        <a:t>капитальные затраты</a:t>
                      </a: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Угольная ТЭС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Солнечная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IHB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43-52%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 100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Дополнительный компрессор с промежуточным </a:t>
                      </a:r>
                      <a:r>
                        <a:rPr lang="ru-RU" sz="1200" dirty="0" smtClean="0">
                          <a:effectLst/>
                        </a:rPr>
                        <a:t>охлаждением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Геотермальная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tCO2(Rankin)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20-28%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1-1000 кВт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Проблема конденсации при низких температурах, сложность управления двухфазным потоком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ru-RU" sz="1200" dirty="0" smtClean="0">
                          <a:effectLst/>
                        </a:rPr>
                        <a:t>• НТ геотермальная и солнечная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SOFC </a:t>
                      </a:r>
                      <a:r>
                        <a:rPr lang="en-US" sz="1200" dirty="0">
                          <a:effectLst/>
                        </a:rPr>
                        <a:t>+ sCO</a:t>
                      </a:r>
                      <a:r>
                        <a:rPr lang="en-US" sz="1200" dirty="0" smtClean="0">
                          <a:effectLst/>
                        </a:rPr>
                        <a:t>₂</a:t>
                      </a:r>
                      <a:endParaRPr lang="en-US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Эл</a:t>
                      </a:r>
                      <a:r>
                        <a:rPr lang="en-US" sz="1200" dirty="0" smtClean="0">
                          <a:effectLst/>
                        </a:rPr>
                        <a:t>.</a:t>
                      </a:r>
                      <a:r>
                        <a:rPr lang="ru-RU" sz="1200" dirty="0">
                          <a:effectLst/>
                        </a:rPr>
                        <a:t> до </a:t>
                      </a:r>
                      <a:r>
                        <a:rPr lang="ru-RU" sz="1200" dirty="0" smtClean="0">
                          <a:effectLst/>
                        </a:rPr>
                        <a:t>70</a:t>
                      </a:r>
                      <a:r>
                        <a:rPr lang="en-US" sz="1200" dirty="0" smtClean="0">
                          <a:effectLst/>
                        </a:rPr>
                        <a:t>-</a:t>
                      </a:r>
                      <a:r>
                        <a:rPr lang="ru-RU" sz="1200" dirty="0" smtClean="0">
                          <a:effectLst/>
                        </a:rPr>
                        <a:t>75</a:t>
                      </a:r>
                      <a:r>
                        <a:rPr lang="ru-RU" sz="1200" dirty="0">
                          <a:effectLst/>
                        </a:rPr>
                        <a:t>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1-10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Высокая стоимость, сложность интеграции, отсутствие опытных установок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Стационарная энергетика (в стадии концептуальных исследований)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4906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CO</a:t>
                      </a:r>
                      <a:r>
                        <a:rPr lang="en-US" sz="1200" dirty="0">
                          <a:effectLst/>
                        </a:rPr>
                        <a:t>₂–</a:t>
                      </a:r>
                      <a:r>
                        <a:rPr lang="en-US" sz="1200" dirty="0" err="1">
                          <a:effectLst/>
                        </a:rPr>
                        <a:t>Xe</a:t>
                      </a:r>
                      <a:r>
                        <a:rPr lang="en-US" sz="1200" dirty="0">
                          <a:effectLst/>
                        </a:rPr>
                        <a:t>, CO₂–</a:t>
                      </a:r>
                      <a:r>
                        <a:rPr lang="en-US" sz="1200" dirty="0" err="1">
                          <a:effectLst/>
                        </a:rPr>
                        <a:t>TiCl</a:t>
                      </a:r>
                      <a:r>
                        <a:rPr lang="en-US" sz="1200" dirty="0" smtClean="0">
                          <a:effectLst/>
                        </a:rPr>
                        <a:t>₄</a:t>
                      </a:r>
                      <a:endParaRPr lang="en-US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-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 700 кВт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Недостаток экспериментальных данных, проблемы совместимости </a:t>
                      </a:r>
                      <a:r>
                        <a:rPr lang="ru-RU" sz="1200" dirty="0" smtClean="0">
                          <a:effectLst/>
                        </a:rPr>
                        <a:t>материалов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Солнечные электростанции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Подводные и морские АЭС 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Утилизация  тепла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1638" y="799279"/>
            <a:ext cx="110536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Энергетические системы на CO₂ делятся на два типа: сверхкритические циклы Брайтона (sCO₂) для высокотемпературных источников и </a:t>
            </a:r>
            <a:r>
              <a:rPr lang="ru-RU" dirty="0" err="1">
                <a:solidFill>
                  <a:srgbClr val="445684"/>
                </a:solidFill>
              </a:rPr>
              <a:t>транскритические</a:t>
            </a:r>
            <a:r>
              <a:rPr lang="ru-RU" dirty="0">
                <a:solidFill>
                  <a:srgbClr val="445684"/>
                </a:solidFill>
              </a:rPr>
              <a:t> циклы </a:t>
            </a:r>
            <a:r>
              <a:rPr lang="ru-RU" dirty="0" err="1">
                <a:solidFill>
                  <a:srgbClr val="445684"/>
                </a:solidFill>
              </a:rPr>
              <a:t>Ренкина</a:t>
            </a:r>
            <a:r>
              <a:rPr lang="ru-RU" dirty="0">
                <a:solidFill>
                  <a:srgbClr val="445684"/>
                </a:solidFill>
              </a:rPr>
              <a:t> (</a:t>
            </a:r>
            <a:r>
              <a:rPr lang="ru-RU" dirty="0" err="1">
                <a:solidFill>
                  <a:srgbClr val="445684"/>
                </a:solidFill>
              </a:rPr>
              <a:t>tCO</a:t>
            </a:r>
            <a:r>
              <a:rPr lang="ru-RU" dirty="0">
                <a:solidFill>
                  <a:srgbClr val="445684"/>
                </a:solidFill>
              </a:rPr>
              <a:t>₂) для низкотемпературных. Выбор конфигурации определяется температурой источника и требуемой мощностью.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71638" y="5291328"/>
            <a:ext cx="11444137" cy="923330"/>
          </a:xfrm>
          <a:prstGeom prst="rect">
            <a:avLst/>
          </a:prstGeom>
          <a:ln w="28575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Базовое решение для высоких температур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 err="1">
                <a:solidFill>
                  <a:srgbClr val="445684"/>
                </a:solidFill>
              </a:rPr>
              <a:t>рекомпрессионный</a:t>
            </a:r>
            <a:r>
              <a:rPr lang="ru-RU" dirty="0">
                <a:solidFill>
                  <a:srgbClr val="445684"/>
                </a:solidFill>
              </a:rPr>
              <a:t> цикл Брайтона как наиболее эффективный. Для низких температур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 err="1">
                <a:solidFill>
                  <a:srgbClr val="445684"/>
                </a:solidFill>
              </a:rPr>
              <a:t>транскритический</a:t>
            </a:r>
            <a:r>
              <a:rPr lang="ru-RU" dirty="0">
                <a:solidFill>
                  <a:srgbClr val="445684"/>
                </a:solidFill>
              </a:rPr>
              <a:t> цикл </a:t>
            </a:r>
            <a:r>
              <a:rPr lang="ru-RU" dirty="0" err="1">
                <a:solidFill>
                  <a:srgbClr val="445684"/>
                </a:solidFill>
              </a:rPr>
              <a:t>Ренкина</a:t>
            </a:r>
            <a:r>
              <a:rPr lang="ru-RU" dirty="0">
                <a:solidFill>
                  <a:srgbClr val="445684"/>
                </a:solidFill>
              </a:rPr>
              <a:t>. Смеси CO₂ позволяют расширить диапазон применения на жаркий климат, а гибридные схемы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достичь максимальной эффективности </a:t>
            </a:r>
            <a:r>
              <a:rPr lang="ru-RU" dirty="0" smtClean="0">
                <a:solidFill>
                  <a:srgbClr val="445684"/>
                </a:solidFill>
              </a:rPr>
              <a:t>в </a:t>
            </a:r>
            <a:r>
              <a:rPr lang="ru-RU" dirty="0">
                <a:solidFill>
                  <a:srgbClr val="445684"/>
                </a:solidFill>
              </a:rPr>
              <a:t>стационарной энергетике.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831256" y="6338916"/>
            <a:ext cx="68174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>
                <a:solidFill>
                  <a:srgbClr val="445684"/>
                </a:solidFill>
              </a:rPr>
              <a:t>Источник: </a:t>
            </a:r>
            <a:r>
              <a:rPr lang="en-US" sz="1200" b="1" dirty="0" smtClean="0">
                <a:solidFill>
                  <a:srgbClr val="445684"/>
                </a:solidFill>
              </a:rPr>
              <a:t>System </a:t>
            </a:r>
            <a:r>
              <a:rPr lang="en-US" sz="1200" b="1" dirty="0">
                <a:solidFill>
                  <a:srgbClr val="445684"/>
                </a:solidFill>
              </a:rPr>
              <a:t>Design and Application of Supercritical and </a:t>
            </a:r>
            <a:r>
              <a:rPr lang="en-US" sz="1200" b="1" dirty="0" err="1">
                <a:solidFill>
                  <a:srgbClr val="445684"/>
                </a:solidFill>
              </a:rPr>
              <a:t>Transcritical</a:t>
            </a:r>
            <a:r>
              <a:rPr lang="en-US" sz="1200" b="1" dirty="0">
                <a:solidFill>
                  <a:srgbClr val="445684"/>
                </a:solidFill>
              </a:rPr>
              <a:t> CO2 Power Cycles: A Review</a:t>
            </a:r>
            <a:endParaRPr lang="ru-RU" sz="1200" b="1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54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xmlns="" id="{693C7205-638B-473E-ADF1-3796D68D99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5995" y="180669"/>
            <a:ext cx="12098470" cy="476248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solidFill>
                  <a:srgbClr val="4456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Современное состояние и уровень развития атомных станций малой мощности</a:t>
            </a: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xmlns="" id="{1B88B208-89CB-35BE-115A-FFD0E0BE6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708844"/>
              </p:ext>
            </p:extLst>
          </p:nvPr>
        </p:nvGraphicFramePr>
        <p:xfrm>
          <a:off x="43543" y="1004712"/>
          <a:ext cx="6309446" cy="2609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263031"/>
              </p:ext>
            </p:extLst>
          </p:nvPr>
        </p:nvGraphicFramePr>
        <p:xfrm>
          <a:off x="226423" y="3692434"/>
          <a:ext cx="4336868" cy="24588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86675"/>
                <a:gridCol w="1249159"/>
                <a:gridCol w="1601034"/>
              </a:tblGrid>
              <a:tr h="241341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Тип реактора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60787" marR="101312" marT="63320" marB="633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Теплоноситель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Опасность взрыва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</a:tr>
              <a:tr h="378458"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Водоохлаждаемый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60787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Вода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Высокая</a:t>
                      </a: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01312" marR="60787" marT="63320" marB="63320" anchor="ctr"/>
                </a:tc>
              </a:tr>
              <a:tr h="383938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Газоохлаждаемый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60787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Гелий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Низкая/Отсутствует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01312" marR="60787" marT="63320" marB="63320" anchor="ctr"/>
                </a:tc>
              </a:tr>
              <a:tr h="241341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Газоохлаждаемый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60787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</a:rPr>
                        <a:t>CO₂</a:t>
                      </a:r>
                      <a:endParaRPr lang="en-US" sz="1200" b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Низкая 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01312" marR="60787" marT="63320" marB="63320" anchor="ctr"/>
                </a:tc>
              </a:tr>
              <a:tr h="383938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Натриевый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60787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Жидкий </a:t>
                      </a:r>
                      <a:r>
                        <a:rPr lang="en-US" sz="1200" dirty="0">
                          <a:effectLst/>
                        </a:rPr>
                        <a:t>Na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Высокая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01312" marR="60787" marT="63320" marB="63320" anchor="ctr"/>
                </a:tc>
              </a:tr>
              <a:tr h="241341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Свинцовый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60787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Жидкий </a:t>
                      </a:r>
                      <a:r>
                        <a:rPr lang="en-US" sz="1200" dirty="0" err="1">
                          <a:effectLst/>
                        </a:rPr>
                        <a:t>Pb</a:t>
                      </a:r>
                      <a:r>
                        <a:rPr lang="en-US" sz="1200" dirty="0">
                          <a:effectLst/>
                        </a:rPr>
                        <a:t>/Bi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Низкая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01312" marR="60787" marT="63320" marB="63320" anchor="ctr"/>
                </a:tc>
              </a:tr>
              <a:tr h="383938">
                <a:tc>
                  <a:txBody>
                    <a:bodyPr/>
                    <a:lstStyle/>
                    <a:p>
                      <a:r>
                        <a:rPr lang="ru-RU" sz="1200" dirty="0" err="1">
                          <a:effectLst/>
                        </a:rPr>
                        <a:t>Жидкосолевой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60787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Расплав солей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01312" marR="101312" marT="63320" marB="63320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Низкая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101312" marR="60787" marT="63320" marB="63320" anchor="ctr"/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044333"/>
              </p:ext>
            </p:extLst>
          </p:nvPr>
        </p:nvGraphicFramePr>
        <p:xfrm>
          <a:off x="6357257" y="1011419"/>
          <a:ext cx="5677988" cy="317268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05691"/>
                <a:gridCol w="1271452"/>
                <a:gridCol w="1165300"/>
                <a:gridCol w="2335545"/>
              </a:tblGrid>
              <a:tr h="347874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  <a:latin typeface="+mn-lt"/>
                        </a:rPr>
                        <a:t>Категория теплоносителя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18321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  <a:latin typeface="+mn-lt"/>
                        </a:rPr>
                        <a:t>Проект / Реактор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  <a:latin typeface="+mn-lt"/>
                        </a:rPr>
                        <a:t>Температура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>
                          <a:effectLst/>
                          <a:latin typeface="+mn-lt"/>
                        </a:rPr>
                        <a:t>Подробности и особенности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</a:tr>
              <a:tr h="387244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  <a:latin typeface="+mn-lt"/>
                        </a:rPr>
                        <a:t>CO₂</a:t>
                      </a:r>
                      <a:endParaRPr lang="en-US" sz="1000" b="0">
                        <a:effectLst/>
                        <a:latin typeface="+mn-lt"/>
                      </a:endParaRPr>
                    </a:p>
                  </a:txBody>
                  <a:tcPr marL="18321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  <a:latin typeface="+mn-lt"/>
                        </a:rPr>
                        <a:t>Сверхкритический CO</a:t>
                      </a:r>
                      <a:r>
                        <a:rPr lang="ru-RU" sz="1000" dirty="0" smtClean="0">
                          <a:effectLst/>
                          <a:latin typeface="+mn-lt"/>
                        </a:rPr>
                        <a:t>₂</a:t>
                      </a:r>
                      <a:r>
                        <a:rPr lang="ru-RU" sz="100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000" dirty="0" err="1" smtClean="0">
                          <a:effectLst/>
                          <a:latin typeface="+mn-lt"/>
                        </a:rPr>
                        <a:t>микрореактор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effectLst/>
                          <a:latin typeface="+mn-lt"/>
                        </a:rPr>
                        <a:t>~</a:t>
                      </a:r>
                      <a:r>
                        <a:rPr lang="ru-RU" sz="1000" dirty="0" smtClean="0">
                          <a:effectLst/>
                          <a:latin typeface="+mn-lt"/>
                        </a:rPr>
                        <a:t>800</a:t>
                      </a:r>
                      <a:r>
                        <a:rPr lang="en-US" sz="1000" dirty="0" smtClean="0">
                          <a:effectLst/>
                          <a:latin typeface="+mn-lt"/>
                        </a:rPr>
                        <a:t>°C</a:t>
                      </a:r>
                      <a:endParaRPr lang="en-US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 smtClean="0">
                          <a:effectLst/>
                          <a:latin typeface="+mn-lt"/>
                        </a:rPr>
                        <a:t>Компактные </a:t>
                      </a:r>
                      <a:r>
                        <a:rPr lang="ru-RU" sz="1000" dirty="0">
                          <a:effectLst/>
                          <a:latin typeface="+mn-lt"/>
                        </a:rPr>
                        <a:t>реакторы </a:t>
                      </a:r>
                      <a:r>
                        <a:rPr lang="ru-RU" sz="1000" dirty="0" smtClean="0">
                          <a:effectLst/>
                          <a:latin typeface="+mn-lt"/>
                        </a:rPr>
                        <a:t>при</a:t>
                      </a:r>
                      <a:r>
                        <a:rPr lang="ru-RU" sz="1000" baseline="0" dirty="0" smtClean="0">
                          <a:effectLst/>
                          <a:latin typeface="+mn-lt"/>
                        </a:rPr>
                        <a:t> умеренных температурах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18321" marT="19085" marB="19085" anchor="ctr"/>
                </a:tc>
              </a:tr>
              <a:tr h="425710">
                <a:tc rowSpan="2"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effectLst/>
                          <a:latin typeface="+mn-lt"/>
                        </a:rPr>
                        <a:t>Солевые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18321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>
                          <a:effectLst/>
                          <a:latin typeface="+mn-lt"/>
                        </a:rPr>
                        <a:t>Исследовательский солевой реактор (</a:t>
                      </a:r>
                      <a:r>
                        <a:rPr lang="en-US" sz="1000" dirty="0">
                          <a:effectLst/>
                          <a:latin typeface="+mn-lt"/>
                        </a:rPr>
                        <a:t>MSRR)</a:t>
                      </a:r>
                      <a:endParaRPr lang="en-US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effectLst/>
                          <a:latin typeface="+mn-lt"/>
                        </a:rPr>
                        <a:t>700°C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 smtClean="0">
                          <a:effectLst/>
                          <a:latin typeface="+mn-lt"/>
                        </a:rPr>
                        <a:t>Тепловая мощность </a:t>
                      </a:r>
                      <a:r>
                        <a:rPr lang="ru-RU" sz="1000" dirty="0">
                          <a:effectLst/>
                          <a:latin typeface="+mn-lt"/>
                        </a:rPr>
                        <a:t>10 МВт. Топливная соль на основе фторидов (</a:t>
                      </a:r>
                      <a:r>
                        <a:rPr lang="ru-RU" sz="1000" dirty="0" err="1">
                          <a:effectLst/>
                          <a:latin typeface="+mn-lt"/>
                        </a:rPr>
                        <a:t>LiF-BeF</a:t>
                      </a:r>
                      <a:r>
                        <a:rPr lang="ru-RU" sz="1000" dirty="0">
                          <a:effectLst/>
                          <a:latin typeface="+mn-lt"/>
                        </a:rPr>
                        <a:t>₂</a:t>
                      </a:r>
                      <a:r>
                        <a:rPr lang="ru-RU" sz="1000" dirty="0" smtClean="0">
                          <a:effectLst/>
                          <a:latin typeface="+mn-lt"/>
                        </a:rPr>
                        <a:t>)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18321" marT="19085" marB="19085" anchor="ctr"/>
                </a:tc>
              </a:tr>
              <a:tr h="425710">
                <a:tc vMerge="1">
                  <a:txBody>
                    <a:bodyPr/>
                    <a:lstStyle/>
                    <a:p>
                      <a:endParaRPr lang="ru-RU" sz="800" b="0">
                        <a:effectLst/>
                        <a:latin typeface="quote-cjk-patch"/>
                      </a:endParaRPr>
                    </a:p>
                  </a:txBody>
                  <a:tcPr marL="18321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 err="1">
                          <a:effectLst/>
                          <a:latin typeface="+mn-lt"/>
                        </a:rPr>
                        <a:t>Жидкосолевые</a:t>
                      </a:r>
                      <a:r>
                        <a:rPr lang="ru-RU" sz="1000" dirty="0">
                          <a:effectLst/>
                          <a:latin typeface="+mn-lt"/>
                        </a:rPr>
                        <a:t> реакторы (MSR</a:t>
                      </a:r>
                      <a:r>
                        <a:rPr lang="ru-RU" sz="1000" dirty="0" smtClean="0">
                          <a:effectLst/>
                          <a:latin typeface="+mn-lt"/>
                        </a:rPr>
                        <a:t>)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effectLst/>
                          <a:latin typeface="+mn-lt"/>
                        </a:rPr>
                        <a:t>500</a:t>
                      </a:r>
                      <a:r>
                        <a:rPr lang="ru-RU" sz="1000" dirty="0" smtClean="0">
                          <a:effectLst/>
                          <a:latin typeface="+mn-lt"/>
                        </a:rPr>
                        <a:t>-</a:t>
                      </a:r>
                      <a:r>
                        <a:rPr lang="en-US" sz="1000" dirty="0" smtClean="0">
                          <a:effectLst/>
                          <a:latin typeface="+mn-lt"/>
                        </a:rPr>
                        <a:t>800°C</a:t>
                      </a:r>
                      <a:endParaRPr lang="en-US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dirty="0" smtClean="0">
                          <a:effectLst/>
                          <a:latin typeface="+mn-lt"/>
                        </a:rPr>
                        <a:t>Соль </a:t>
                      </a:r>
                      <a:r>
                        <a:rPr lang="ru-RU" sz="1000" dirty="0">
                          <a:effectLst/>
                          <a:latin typeface="+mn-lt"/>
                        </a:rPr>
                        <a:t>выступает и как теплоноситель, и как топливо. Работают при атмосферном </a:t>
                      </a:r>
                      <a:r>
                        <a:rPr lang="ru-RU" sz="1000" dirty="0" smtClean="0">
                          <a:effectLst/>
                          <a:latin typeface="+mn-lt"/>
                        </a:rPr>
                        <a:t>давлении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18321" marT="19085" marB="19085" anchor="ctr"/>
                </a:tc>
              </a:tr>
              <a:tr h="556679">
                <a:tc rowSpan="2"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Гелий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18321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 smtClean="0">
                          <a:effectLst/>
                          <a:latin typeface="+mn-lt"/>
                        </a:rPr>
                        <a:t>HTR-PM 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750</a:t>
                      </a:r>
                      <a:endParaRPr lang="en-US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smtClean="0">
                          <a:effectLst/>
                          <a:latin typeface="+mn-lt"/>
                        </a:rPr>
                        <a:t>Демонстрационный блок АЭС Шидао-Бэй.</a:t>
                      </a:r>
                      <a:r>
                        <a:rPr lang="ru-RU" sz="1000" b="0" baseline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000" b="0" smtClean="0">
                          <a:effectLst/>
                          <a:latin typeface="+mn-lt"/>
                        </a:rPr>
                        <a:t>Два реактора по 200 МВт на одну паровую турбину. Давление гелия - 7 МПа .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18321" marT="19085" marB="19085" anchor="ctr"/>
                </a:tc>
              </a:tr>
              <a:tr h="799057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18321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 smtClean="0">
                          <a:effectLst/>
                          <a:latin typeface="+mn-lt"/>
                        </a:rPr>
                        <a:t>HTR-10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0" dirty="0" smtClean="0">
                          <a:effectLst/>
                          <a:latin typeface="+mn-lt"/>
                        </a:rPr>
                        <a:t>700°C до</a:t>
                      </a:r>
                      <a:r>
                        <a:rPr lang="ru-RU" sz="10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000" b="0" dirty="0" smtClean="0">
                          <a:effectLst/>
                          <a:latin typeface="+mn-lt"/>
                        </a:rPr>
                        <a:t>950°C</a:t>
                      </a:r>
                      <a:endParaRPr lang="en-US" sz="1000" b="0" dirty="0">
                        <a:effectLst/>
                        <a:latin typeface="+mn-lt"/>
                      </a:endParaRPr>
                    </a:p>
                  </a:txBody>
                  <a:tcPr marL="30536" marR="30536" marT="19085" marB="19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0" dirty="0" smtClean="0">
                          <a:effectLst/>
                          <a:latin typeface="+mn-lt"/>
                        </a:rPr>
                        <a:t>Экспериментальный реактор с шаровой засыпкой, тепловой мощностью 10 МВт</a:t>
                      </a:r>
                      <a:endParaRPr lang="ru-RU" sz="1000" b="0" dirty="0">
                        <a:effectLst/>
                        <a:latin typeface="+mn-lt"/>
                      </a:endParaRPr>
                    </a:p>
                  </a:txBody>
                  <a:tcPr marL="30536" marR="18321" marT="19085" marB="1908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77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>
          <a:xfrm>
            <a:off x="455995" y="180669"/>
            <a:ext cx="10394885" cy="4762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445684"/>
                </a:solidFill>
                <a:latin typeface="+mn-lt"/>
              </a:rPr>
              <a:t>Трехконтурные тепловые схемы с раздельной выработкой тепловой и электрической энергии</a:t>
            </a:r>
            <a:endParaRPr lang="ru-RU" dirty="0">
              <a:solidFill>
                <a:srgbClr val="445684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303278" y="4614878"/>
            <a:ext cx="396540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u="sng" dirty="0" smtClean="0">
                <a:solidFill>
                  <a:srgbClr val="445684"/>
                </a:solidFill>
              </a:rPr>
              <a:t>Тепловая схема АЭС с рекуперативным циклом Брайтона</a:t>
            </a:r>
            <a:endParaRPr lang="ru-RU" sz="1600" b="1" u="sng" dirty="0">
              <a:solidFill>
                <a:srgbClr val="445684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524453" y="4614878"/>
            <a:ext cx="42306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u="sng" dirty="0" smtClean="0">
                <a:solidFill>
                  <a:srgbClr val="445684"/>
                </a:solidFill>
              </a:rPr>
              <a:t>Тепловая схема АЭС с </a:t>
            </a:r>
            <a:r>
              <a:rPr lang="ru-RU" sz="1600" b="1" u="sng" dirty="0" err="1" smtClean="0">
                <a:solidFill>
                  <a:srgbClr val="445684"/>
                </a:solidFill>
              </a:rPr>
              <a:t>рекомпрессионным</a:t>
            </a:r>
            <a:r>
              <a:rPr lang="ru-RU" sz="1600" b="1" u="sng" dirty="0" smtClean="0">
                <a:solidFill>
                  <a:srgbClr val="445684"/>
                </a:solidFill>
              </a:rPr>
              <a:t> циклом Брайтона</a:t>
            </a:r>
            <a:endParaRPr lang="ru-RU" sz="1600" b="1" u="sng" dirty="0">
              <a:solidFill>
                <a:srgbClr val="445684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54227" y="5462684"/>
            <a:ext cx="11756571" cy="1200329"/>
          </a:xfrm>
          <a:prstGeom prst="rect">
            <a:avLst/>
          </a:prstGeom>
          <a:ln w="28575">
            <a:solidFill>
              <a:srgbClr val="70AD47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Цикл Брайтона на </a:t>
            </a:r>
            <a:r>
              <a:rPr lang="en-US" dirty="0" smtClean="0">
                <a:solidFill>
                  <a:srgbClr val="445684"/>
                </a:solidFill>
              </a:rPr>
              <a:t>s-CO2 </a:t>
            </a:r>
            <a:r>
              <a:rPr lang="ru-RU" dirty="0" smtClean="0">
                <a:solidFill>
                  <a:srgbClr val="445684"/>
                </a:solidFill>
              </a:rPr>
              <a:t>используется в основном для эффективной выработки электрической мощности (контур </a:t>
            </a:r>
            <a:r>
              <a:rPr lang="en-US" dirty="0" smtClean="0">
                <a:solidFill>
                  <a:srgbClr val="445684"/>
                </a:solidFill>
              </a:rPr>
              <a:t>II</a:t>
            </a:r>
            <a:r>
              <a:rPr lang="ru-RU" dirty="0" smtClean="0">
                <a:solidFill>
                  <a:srgbClr val="445684"/>
                </a:solidFill>
              </a:rPr>
              <a:t>), для отдельной выработки тепловой мощности предусматривается теплофикационный контур </a:t>
            </a:r>
            <a:r>
              <a:rPr lang="en-US" dirty="0" smtClean="0">
                <a:solidFill>
                  <a:srgbClr val="445684"/>
                </a:solidFill>
              </a:rPr>
              <a:t>III</a:t>
            </a:r>
            <a:r>
              <a:rPr lang="ru-RU" dirty="0" smtClean="0">
                <a:solidFill>
                  <a:srgbClr val="445684"/>
                </a:solidFill>
              </a:rPr>
              <a:t>. Теплоноситель на выходе из реактора в режиме теплофикации направляется в утилизатор, где нагревает сетевую воду, после чего возвращается в реактор.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150" y="1040202"/>
            <a:ext cx="4267016" cy="3693101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95" y="1055442"/>
            <a:ext cx="4375877" cy="350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0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-93446"/>
            <a:ext cx="10641530" cy="867930"/>
          </a:xfrm>
        </p:spPr>
        <p:txBody>
          <a:bodyPr/>
          <a:lstStyle/>
          <a:p>
            <a:r>
              <a:rPr lang="ru-RU" dirty="0">
                <a:latin typeface="+mn-lt"/>
              </a:rPr>
              <a:t>Влияние начальных и оптимизационных параметров на эффективность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522794"/>
              </p:ext>
            </p:extLst>
          </p:nvPr>
        </p:nvGraphicFramePr>
        <p:xfrm>
          <a:off x="458070" y="3502875"/>
          <a:ext cx="11348885" cy="142844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1297"/>
                <a:gridCol w="4011060"/>
                <a:gridCol w="3816528"/>
              </a:tblGrid>
              <a:tr h="412589">
                <a:tc>
                  <a:txBody>
                    <a:bodyPr/>
                    <a:lstStyle/>
                    <a:p>
                      <a:pPr algn="l"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Параметр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Удельная чувствительность (на </a:t>
                      </a:r>
                      <a:r>
                        <a:rPr lang="ru-RU" sz="1400" dirty="0" smtClean="0">
                          <a:effectLst/>
                        </a:rPr>
                        <a:t>1% КПД)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Характер влияния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  <a:tr h="273413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T₂ (температура на входе в турбину</a:t>
                      </a:r>
                      <a:r>
                        <a:rPr lang="ru-RU" sz="1400" dirty="0" smtClean="0">
                          <a:effectLst/>
                        </a:rPr>
                        <a:t>),</a:t>
                      </a:r>
                      <a:r>
                        <a:rPr lang="ru-RU" sz="1400" baseline="0" dirty="0" smtClean="0">
                          <a:effectLst/>
                        </a:rPr>
                        <a:t> К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ru-RU" sz="1400" dirty="0" smtClean="0">
                          <a:effectLst/>
                        </a:rPr>
                        <a:t>33-50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Стабильное, предсказуемое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273413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T₁ (температура на входе в компрессор</a:t>
                      </a:r>
                      <a:r>
                        <a:rPr lang="ru-RU" sz="1400" dirty="0" smtClean="0">
                          <a:effectLst/>
                        </a:rPr>
                        <a:t>), К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>
                          <a:effectLst/>
                        </a:rPr>
                        <a:t>~4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Критическое, требует точного контроля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378825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>
                          <a:effectLst/>
                        </a:rPr>
                        <a:t>X (</a:t>
                      </a:r>
                      <a:r>
                        <a:rPr lang="ru-RU" sz="1400" dirty="0" smtClean="0">
                          <a:effectLst/>
                        </a:rPr>
                        <a:t>степень</a:t>
                      </a:r>
                      <a:r>
                        <a:rPr lang="ru-RU" sz="1400" baseline="0" dirty="0" smtClean="0">
                          <a:effectLst/>
                        </a:rPr>
                        <a:t> </a:t>
                      </a:r>
                      <a:r>
                        <a:rPr lang="ru-RU" sz="1400" baseline="0" dirty="0" err="1" smtClean="0">
                          <a:effectLst/>
                        </a:rPr>
                        <a:t>рекомпрессии</a:t>
                      </a:r>
                      <a:r>
                        <a:rPr lang="ru-RU" sz="1400" baseline="0" dirty="0" smtClean="0">
                          <a:effectLst/>
                        </a:rPr>
                        <a:t>)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ru-RU" sz="1400" dirty="0" smtClean="0">
                          <a:effectLst/>
                        </a:rPr>
                        <a:t>0.2-0.4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ru-RU" sz="1400" dirty="0">
                          <a:effectLst/>
                        </a:rPr>
                        <a:t>Значительное, но с выраженным оптимумом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15207" y="5017651"/>
            <a:ext cx="11434612" cy="1200329"/>
          </a:xfrm>
          <a:prstGeom prst="rect">
            <a:avLst/>
          </a:prstGeom>
          <a:ln w="28575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Наибольшую удельную чувствительность в пересчете на градус имеет температура на входе в компрессор (T₁), но ее эффект сильно нелинейный и максимален вблизи критической точки. Наиболее стабильный и предсказуемый прирост дает повышение температуры на входе в турбину (T₂</a:t>
            </a:r>
            <a:r>
              <a:rPr lang="ru-RU" dirty="0" smtClean="0">
                <a:solidFill>
                  <a:srgbClr val="445684"/>
                </a:solidFill>
              </a:rPr>
              <a:t>). </a:t>
            </a:r>
            <a:r>
              <a:rPr lang="ru-RU" dirty="0">
                <a:solidFill>
                  <a:srgbClr val="445684"/>
                </a:solidFill>
              </a:rPr>
              <a:t>Оптимизация степени </a:t>
            </a:r>
            <a:r>
              <a:rPr lang="ru-RU" dirty="0" err="1">
                <a:solidFill>
                  <a:srgbClr val="445684"/>
                </a:solidFill>
              </a:rPr>
              <a:t>рекомпрессии</a:t>
            </a:r>
            <a:r>
              <a:rPr lang="ru-RU" dirty="0">
                <a:solidFill>
                  <a:srgbClr val="445684"/>
                </a:solidFill>
              </a:rPr>
              <a:t> позволяет </a:t>
            </a:r>
            <a:r>
              <a:rPr lang="ru-RU" dirty="0" smtClean="0">
                <a:solidFill>
                  <a:srgbClr val="445684"/>
                </a:solidFill>
              </a:rPr>
              <a:t>повысить КПД </a:t>
            </a:r>
            <a:r>
              <a:rPr lang="ru-RU" dirty="0">
                <a:solidFill>
                  <a:srgbClr val="445684"/>
                </a:solidFill>
              </a:rPr>
              <a:t>без изменения температурных параметров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l="18045" t="48153" r="24812"/>
          <a:stretch/>
        </p:blipFill>
        <p:spPr>
          <a:xfrm>
            <a:off x="989444" y="1280532"/>
            <a:ext cx="2881162" cy="21277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r="50010" b="10012"/>
          <a:stretch/>
        </p:blipFill>
        <p:spPr>
          <a:xfrm>
            <a:off x="4713601" y="1182546"/>
            <a:ext cx="2599593" cy="215826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695" y="1262910"/>
            <a:ext cx="2432155" cy="203104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85529" y="803549"/>
            <a:ext cx="33384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>
                <a:solidFill>
                  <a:srgbClr val="445684"/>
                </a:solidFill>
              </a:rPr>
              <a:t>Влияние температуры и давления на входе в турбину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082549" y="803549"/>
            <a:ext cx="38479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Влияние </a:t>
            </a:r>
            <a:r>
              <a:rPr lang="ru-RU" sz="1400" b="1" u="sng" dirty="0">
                <a:solidFill>
                  <a:srgbClr val="445684"/>
                </a:solidFill>
              </a:rPr>
              <a:t>температуры на входе в главный компрессор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570642" y="803549"/>
            <a:ext cx="36482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Влияние степени </a:t>
            </a:r>
            <a:r>
              <a:rPr lang="ru-RU" sz="1400" b="1" u="sng" dirty="0" err="1" smtClean="0">
                <a:solidFill>
                  <a:srgbClr val="445684"/>
                </a:solidFill>
              </a:rPr>
              <a:t>рекомпрессии</a:t>
            </a:r>
            <a:r>
              <a:rPr lang="ru-RU" sz="1400" b="1" u="sng" dirty="0" smtClean="0">
                <a:solidFill>
                  <a:srgbClr val="445684"/>
                </a:solidFill>
              </a:rPr>
              <a:t> на эффективность ТО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0477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Постановка задачи </a:t>
            </a:r>
            <a:r>
              <a:rPr lang="ru-RU" dirty="0" smtClean="0">
                <a:latin typeface="+mn-lt"/>
              </a:rPr>
              <a:t>моделирования первого режима (</a:t>
            </a:r>
            <a:r>
              <a:rPr lang="ru-RU" dirty="0" err="1" smtClean="0">
                <a:latin typeface="+mn-lt"/>
              </a:rPr>
              <a:t>рекомпрессия</a:t>
            </a:r>
            <a:r>
              <a:rPr lang="ru-RU" dirty="0" smtClean="0">
                <a:latin typeface="+mn-lt"/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858882"/>
              </p:ext>
            </p:extLst>
          </p:nvPr>
        </p:nvGraphicFramePr>
        <p:xfrm>
          <a:off x="253923" y="1280443"/>
          <a:ext cx="6390717" cy="193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4203"/>
                <a:gridCol w="2046514"/>
              </a:tblGrid>
              <a:tr h="118605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Параметр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Значение</a:t>
                      </a:r>
                      <a:endParaRPr lang="ru-RU" sz="12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Тепловая мощность реактора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2,75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/>
                        <a:t>МВт</a:t>
                      </a:r>
                      <a:endParaRPr lang="ru-RU" sz="1200" dirty="0"/>
                    </a:p>
                  </a:txBody>
                  <a:tcPr/>
                </a:tc>
              </a:tr>
              <a:tr h="2307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Температура на выходе из РУ, </a:t>
                      </a:r>
                      <a:r>
                        <a:rPr lang="en-US" sz="1200" dirty="0" smtClean="0"/>
                        <a:t>TR1</a:t>
                      </a:r>
                      <a:endParaRPr lang="en-US" sz="1200" b="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730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>
                          <a:effectLst/>
                        </a:rPr>
                        <a:t>°</a:t>
                      </a:r>
                      <a:r>
                        <a:rPr lang="en-US" sz="1200" dirty="0" smtClean="0">
                          <a:effectLst/>
                        </a:rPr>
                        <a:t>C</a:t>
                      </a:r>
                      <a:endParaRPr lang="ru-RU" sz="12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Температура на входе в турбину, </a:t>
                      </a:r>
                      <a:r>
                        <a:rPr lang="en-US" sz="1200" dirty="0" smtClean="0">
                          <a:effectLst/>
                        </a:rPr>
                        <a:t>T</a:t>
                      </a:r>
                      <a:r>
                        <a:rPr lang="en-US" sz="1200" baseline="-25000" dirty="0" smtClean="0">
                          <a:effectLst/>
                        </a:rPr>
                        <a:t>2</a:t>
                      </a:r>
                      <a:endParaRPr lang="en-US" sz="1200" b="0" baseline="-2500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715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>
                          <a:effectLst/>
                        </a:rPr>
                        <a:t>°</a:t>
                      </a:r>
                      <a:r>
                        <a:rPr lang="en-US" sz="1200" dirty="0" smtClean="0">
                          <a:effectLst/>
                        </a:rPr>
                        <a:t>C</a:t>
                      </a:r>
                      <a:endParaRPr lang="ru-RU" sz="12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Тепловые потери в РТО</a:t>
                      </a:r>
                      <a:endParaRPr lang="en-US" sz="12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1%</a:t>
                      </a:r>
                      <a:endParaRPr lang="ru-RU" sz="12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Температура перед главным компрессором, </a:t>
                      </a:r>
                      <a:r>
                        <a:rPr lang="en-US" sz="1200" dirty="0" smtClean="0">
                          <a:effectLst/>
                        </a:rPr>
                        <a:t>T</a:t>
                      </a:r>
                      <a:r>
                        <a:rPr lang="en-US" sz="1200" baseline="-25000" dirty="0" smtClean="0">
                          <a:effectLst/>
                        </a:rPr>
                        <a:t>7</a:t>
                      </a:r>
                      <a:endParaRPr lang="en-US" sz="12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35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>
                          <a:effectLst/>
                        </a:rPr>
                        <a:t>°</a:t>
                      </a:r>
                      <a:r>
                        <a:rPr lang="en-US" sz="1200" dirty="0" smtClean="0">
                          <a:effectLst/>
                        </a:rPr>
                        <a:t>C</a:t>
                      </a:r>
                      <a:endParaRPr lang="ru-RU" sz="1200" dirty="0"/>
                    </a:p>
                  </a:txBody>
                  <a:tcPr/>
                </a:tc>
              </a:tr>
              <a:tr h="2901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Рабочее тело второго контура</a:t>
                      </a:r>
                      <a:endParaRPr lang="en-US" sz="12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СО</a:t>
                      </a:r>
                      <a:r>
                        <a:rPr lang="ru-RU" sz="1200" baseline="-25000" dirty="0" smtClean="0"/>
                        <a:t>2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253923" y="972666"/>
            <a:ext cx="30398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Табл.1 – Фиксированные параметры</a:t>
            </a:r>
            <a:endParaRPr lang="ru-RU" sz="1400" b="1" dirty="0"/>
          </a:p>
        </p:txBody>
      </p:sp>
      <p:graphicFrame>
        <p:nvGraphicFramePr>
          <p:cNvPr id="17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3970633"/>
              </p:ext>
            </p:extLst>
          </p:nvPr>
        </p:nvGraphicFramePr>
        <p:xfrm>
          <a:off x="253923" y="3666717"/>
          <a:ext cx="6355883" cy="19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420"/>
                <a:gridCol w="4406375"/>
                <a:gridCol w="1509088"/>
              </a:tblGrid>
              <a:tr h="1650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№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График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Кол-во точек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43825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Зависимость КПД цикла от степени </a:t>
                      </a:r>
                      <a:r>
                        <a:rPr lang="ru-RU" sz="1200" dirty="0" err="1" smtClean="0">
                          <a:effectLst/>
                        </a:rPr>
                        <a:t>рекомпрессии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8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309984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2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Зависимость КПД цикла от давления на входе в турбину P₁ и давления на выходе из турбины P₇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144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Температурный профиль в НТО/ВТО для</a:t>
                      </a:r>
                      <a:r>
                        <a:rPr lang="ru-RU" sz="1200" baseline="0" dirty="0" smtClean="0">
                          <a:effectLst/>
                        </a:rPr>
                        <a:t> оценки </a:t>
                      </a:r>
                      <a:r>
                        <a:rPr lang="ru-RU" sz="1200" baseline="0" dirty="0" err="1" smtClean="0">
                          <a:effectLst/>
                        </a:rPr>
                        <a:t>пинч</a:t>
                      </a:r>
                      <a:r>
                        <a:rPr lang="ru-RU" sz="1200" baseline="0" dirty="0" smtClean="0">
                          <a:effectLst/>
                        </a:rPr>
                        <a:t> точки (</a:t>
                      </a:r>
                      <a:r>
                        <a:rPr lang="en-US" sz="1200" baseline="0" dirty="0" smtClean="0">
                          <a:effectLst/>
                        </a:rPr>
                        <a:t>5, 10, 15°C)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90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Карта чувствительности КПД цикла к изменению ηₜ и ηₖ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16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Зависимость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b="0" dirty="0" smtClean="0">
                          <a:effectLst/>
                          <a:latin typeface="+mn-lt"/>
                        </a:rPr>
                        <a:t>КПД цикла от температуры на входе в реактор,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en-US" sz="1200" b="0" baseline="0" dirty="0" smtClean="0">
                          <a:effectLst/>
                          <a:latin typeface="+mn-lt"/>
                        </a:rPr>
                        <a:t> 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253923" y="3321050"/>
            <a:ext cx="2657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Табл.2 – Необходимые графики</a:t>
            </a:r>
            <a:endParaRPr lang="ru-RU" sz="1400" b="1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878" y="1126554"/>
            <a:ext cx="4514432" cy="371662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663425" y="4990217"/>
            <a:ext cx="39570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Принципиальная схема в режиме выработки электроэнергии в </a:t>
            </a:r>
            <a:r>
              <a:rPr lang="ru-RU" sz="1400" b="1" u="sng" dirty="0" err="1" smtClean="0">
                <a:solidFill>
                  <a:srgbClr val="445684"/>
                </a:solidFill>
              </a:rPr>
              <a:t>рекомпрессионном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08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213" y="157603"/>
            <a:ext cx="10641530" cy="480131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Параметры расчетной сетки </a:t>
            </a:r>
            <a:r>
              <a:rPr lang="ru-RU" dirty="0" err="1" smtClean="0">
                <a:latin typeface="+mn-lt"/>
              </a:rPr>
              <a:t>рекомпрессионной</a:t>
            </a:r>
            <a:r>
              <a:rPr lang="ru-RU" dirty="0" smtClean="0">
                <a:latin typeface="+mn-lt"/>
              </a:rPr>
              <a:t> схемы</a:t>
            </a:r>
            <a:endParaRPr lang="ru-RU" dirty="0">
              <a:latin typeface="+mn-lt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0332514"/>
              </p:ext>
            </p:extLst>
          </p:nvPr>
        </p:nvGraphicFramePr>
        <p:xfrm>
          <a:off x="296092" y="1307964"/>
          <a:ext cx="7637416" cy="42003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180"/>
                <a:gridCol w="3040235"/>
                <a:gridCol w="569441"/>
                <a:gridCol w="1020304"/>
                <a:gridCol w="1469256"/>
              </a:tblGrid>
              <a:tr h="20485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Уровень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Параметр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Диапазон</a:t>
                      </a:r>
                      <a:endParaRPr lang="ru-RU" sz="12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Шаг</a:t>
                      </a:r>
                      <a:endParaRPr lang="ru-RU" sz="12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Кол-во точек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</a:tr>
              <a:tr h="271551">
                <a:tc rowSpan="5"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Внешняя сетка (полный перебор)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Давление на входе в турбину P₁, МПа</a:t>
                      </a:r>
                      <a:endParaRPr lang="ru-RU" sz="12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20-35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2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8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715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Давление на выходе из турбины P₇, МПа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8-12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Степень </a:t>
                      </a:r>
                      <a:r>
                        <a:rPr lang="ru-RU" sz="1200" dirty="0" err="1">
                          <a:effectLst/>
                        </a:rPr>
                        <a:t>рекомпрессии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x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0,4-0,8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0,1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теплоносителя на входе в реактор </a:t>
                      </a:r>
                      <a:r>
                        <a:rPr lang="en-US" sz="1200" b="0" baseline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600-500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25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8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Итого внешняя сетка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1600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04851">
                <a:tc rowSpan="7"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Внутренняя сетка (для оптимальной точки)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Выбор </a:t>
                      </a:r>
                      <a:r>
                        <a:rPr lang="ru-RU" sz="1200" dirty="0">
                          <a:effectLst/>
                        </a:rPr>
                        <a:t>оптимальной точки (P₁, P₇, </a:t>
                      </a:r>
                      <a:r>
                        <a:rPr lang="ru-RU" sz="1200" dirty="0" smtClean="0">
                          <a:effectLst/>
                        </a:rPr>
                        <a:t>x)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КПД турбины </a:t>
                      </a:r>
                      <a:r>
                        <a:rPr lang="el-GR" sz="1200" dirty="0">
                          <a:effectLst/>
                        </a:rPr>
                        <a:t>ηₜ, %</a:t>
                      </a:r>
                      <a:endParaRPr lang="el-GR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75-90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5</a:t>
                      </a:r>
                      <a:endParaRPr lang="ru-RU" sz="12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КПД компрессора </a:t>
                      </a:r>
                      <a:r>
                        <a:rPr lang="el-GR" sz="1200" dirty="0" smtClean="0">
                          <a:effectLst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</a:rPr>
                        <a:t>c</a:t>
                      </a:r>
                      <a:r>
                        <a:rPr lang="en-US" sz="1200" dirty="0" smtClean="0">
                          <a:effectLst/>
                        </a:rPr>
                        <a:t>, </a:t>
                      </a:r>
                      <a:r>
                        <a:rPr lang="en-US" sz="1200" dirty="0">
                          <a:effectLst/>
                        </a:rPr>
                        <a:t>%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70-85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5</a:t>
                      </a:r>
                      <a:endParaRPr lang="ru-RU" sz="12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Потери давления </a:t>
                      </a:r>
                      <a:r>
                        <a:rPr lang="el-GR" sz="1200" dirty="0">
                          <a:effectLst/>
                        </a:rPr>
                        <a:t>Δ</a:t>
                      </a:r>
                      <a:r>
                        <a:rPr lang="en-US" sz="1200" dirty="0" smtClean="0">
                          <a:effectLst/>
                        </a:rPr>
                        <a:t>P</a:t>
                      </a:r>
                      <a:r>
                        <a:rPr lang="ru-RU" sz="1200" baseline="-25000" dirty="0" smtClean="0">
                          <a:effectLst/>
                        </a:rPr>
                        <a:t>гор</a:t>
                      </a:r>
                      <a:r>
                        <a:rPr lang="ru-RU" sz="1200" dirty="0">
                          <a:effectLst/>
                        </a:rPr>
                        <a:t>, %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1-3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Потери давления </a:t>
                      </a:r>
                      <a:r>
                        <a:rPr lang="el-GR" sz="1200" dirty="0">
                          <a:effectLst/>
                        </a:rPr>
                        <a:t>Δ</a:t>
                      </a:r>
                      <a:r>
                        <a:rPr lang="en-US" sz="1200" dirty="0" smtClean="0">
                          <a:effectLst/>
                        </a:rPr>
                        <a:t>P</a:t>
                      </a:r>
                      <a:r>
                        <a:rPr lang="ru-RU" sz="1200" baseline="-25000" dirty="0" err="1" smtClean="0">
                          <a:effectLst/>
                        </a:rPr>
                        <a:t>хол</a:t>
                      </a:r>
                      <a:r>
                        <a:rPr lang="ru-RU" sz="1200" dirty="0">
                          <a:effectLst/>
                        </a:rPr>
                        <a:t>, %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2-5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2715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Минимальный температурный напор </a:t>
                      </a:r>
                      <a:r>
                        <a:rPr lang="ru-RU" sz="1200" dirty="0" smtClean="0">
                          <a:effectLst/>
                        </a:rPr>
                        <a:t>ВТО/НТО</a:t>
                      </a:r>
                      <a:r>
                        <a:rPr lang="ru-RU" sz="1200" baseline="0" dirty="0" smtClean="0">
                          <a:effectLst/>
                        </a:rPr>
                        <a:t> </a:t>
                      </a:r>
                      <a:r>
                        <a:rPr lang="ru-RU" sz="1200" dirty="0" smtClean="0">
                          <a:effectLst/>
                        </a:rPr>
                        <a:t>ΔT</a:t>
                      </a:r>
                      <a:r>
                        <a:rPr lang="ru-RU" sz="1200" dirty="0">
                          <a:effectLst/>
                        </a:rPr>
                        <a:t>, °C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5-15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5/5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0936" marR="36562" marT="38085" marB="38085" anchor="ctr">
                    <a:solidFill>
                      <a:srgbClr val="00B0F0"/>
                    </a:solidFill>
                  </a:tcPr>
                </a:tc>
              </a:tr>
              <a:tr h="204851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Итого внутренняя сетка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37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04851">
                <a:tc gridSpan="4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Общее количество расчётных точек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1637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92963" y="926193"/>
            <a:ext cx="49775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Табл.3 – Варьируемые параметры </a:t>
            </a:r>
            <a:r>
              <a:rPr lang="ru-RU" sz="1400" b="1" dirty="0" err="1" smtClean="0">
                <a:solidFill>
                  <a:srgbClr val="445684"/>
                </a:solidFill>
              </a:rPr>
              <a:t>рекомпрессионного</a:t>
            </a:r>
            <a:r>
              <a:rPr lang="ru-RU" sz="1400" b="1" dirty="0" smtClean="0">
                <a:solidFill>
                  <a:srgbClr val="445684"/>
                </a:solidFill>
              </a:rPr>
              <a:t> цикла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384875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Постановка задачи </a:t>
            </a:r>
            <a:r>
              <a:rPr lang="ru-RU" dirty="0" smtClean="0">
                <a:latin typeface="+mn-lt"/>
              </a:rPr>
              <a:t>моделирования (рекуперация)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7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724425"/>
              </p:ext>
            </p:extLst>
          </p:nvPr>
        </p:nvGraphicFramePr>
        <p:xfrm>
          <a:off x="295836" y="3770810"/>
          <a:ext cx="6357513" cy="1845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533"/>
                <a:gridCol w="3870465"/>
                <a:gridCol w="2046515"/>
              </a:tblGrid>
              <a:tr h="178799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№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График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Кол-во точек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Зависимость КПД цикла от давления на входе в турбину P₁ и давления на выходе из турбины P₇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144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2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Карта чувствительности КПД цикла к изменению ηₜ и ηₖ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16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Температурный профиль в рекуператоре для</a:t>
                      </a:r>
                      <a:r>
                        <a:rPr lang="ru-RU" sz="1200" baseline="0" dirty="0" smtClean="0">
                          <a:effectLst/>
                        </a:rPr>
                        <a:t> оценки </a:t>
                      </a:r>
                      <a:r>
                        <a:rPr lang="ru-RU" sz="1200" baseline="0" dirty="0" err="1" smtClean="0">
                          <a:effectLst/>
                        </a:rPr>
                        <a:t>пинч</a:t>
                      </a:r>
                      <a:r>
                        <a:rPr lang="ru-RU" sz="1200" baseline="0" dirty="0" smtClean="0">
                          <a:effectLst/>
                        </a:rPr>
                        <a:t> точки (</a:t>
                      </a:r>
                      <a:r>
                        <a:rPr lang="en-US" sz="1200" baseline="0" dirty="0" smtClean="0">
                          <a:effectLst/>
                        </a:rPr>
                        <a:t>5, 10, 15°C)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45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Зависимость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200" b="0" dirty="0" smtClean="0">
                          <a:effectLst/>
                          <a:latin typeface="+mn-lt"/>
                        </a:rPr>
                        <a:t>КПД цикла от температуры на входе в реактор,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200" b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en-US" sz="1200" b="0" baseline="0" dirty="0" smtClean="0">
                          <a:effectLst/>
                          <a:latin typeface="+mn-lt"/>
                        </a:rPr>
                        <a:t> </a:t>
                      </a:r>
                      <a:endParaRPr lang="en-US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200126" y="3460448"/>
            <a:ext cx="2657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Табл.2 – Необходимые графики</a:t>
            </a:r>
            <a:endParaRPr lang="ru-RU" sz="1400" b="1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00126" y="988007"/>
            <a:ext cx="30398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Табл.1 – Фиксированные параметры</a:t>
            </a:r>
            <a:endParaRPr lang="ru-RU" sz="1400" b="1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932100"/>
              </p:ext>
            </p:extLst>
          </p:nvPr>
        </p:nvGraphicFramePr>
        <p:xfrm>
          <a:off x="288758" y="1295784"/>
          <a:ext cx="6390717" cy="193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4203"/>
                <a:gridCol w="2046514"/>
              </a:tblGrid>
              <a:tr h="118605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Параметр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Значение</a:t>
                      </a:r>
                      <a:endParaRPr lang="ru-RU" sz="12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Тепловая мощность реактора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2,75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/>
                        <a:t>МВт</a:t>
                      </a:r>
                      <a:endParaRPr lang="ru-RU" sz="1200" dirty="0"/>
                    </a:p>
                  </a:txBody>
                  <a:tcPr/>
                </a:tc>
              </a:tr>
              <a:tr h="2307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Температура на выходе из РУ, </a:t>
                      </a:r>
                      <a:r>
                        <a:rPr lang="en-US" sz="1200" dirty="0" smtClean="0"/>
                        <a:t>TR1</a:t>
                      </a:r>
                      <a:endParaRPr lang="en-US" sz="1200" b="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730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>
                          <a:effectLst/>
                        </a:rPr>
                        <a:t>°</a:t>
                      </a:r>
                      <a:r>
                        <a:rPr lang="en-US" sz="1200" dirty="0" smtClean="0">
                          <a:effectLst/>
                        </a:rPr>
                        <a:t>C</a:t>
                      </a:r>
                      <a:endParaRPr lang="ru-RU" sz="12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/>
                        <a:t>Температура на входе в турбину, </a:t>
                      </a:r>
                      <a:r>
                        <a:rPr lang="en-US" sz="1200" dirty="0" smtClean="0">
                          <a:effectLst/>
                        </a:rPr>
                        <a:t>T</a:t>
                      </a:r>
                      <a:r>
                        <a:rPr lang="en-US" sz="1200" baseline="-25000" dirty="0" smtClean="0">
                          <a:effectLst/>
                        </a:rPr>
                        <a:t>2</a:t>
                      </a:r>
                      <a:endParaRPr lang="en-US" sz="1200" b="0" baseline="-2500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715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>
                          <a:effectLst/>
                        </a:rPr>
                        <a:t>°</a:t>
                      </a:r>
                      <a:r>
                        <a:rPr lang="en-US" sz="1200" dirty="0" smtClean="0">
                          <a:effectLst/>
                        </a:rPr>
                        <a:t>C</a:t>
                      </a:r>
                      <a:endParaRPr lang="ru-RU" sz="12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Тепловые потери в РТО</a:t>
                      </a:r>
                      <a:endParaRPr lang="en-US" sz="12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1%</a:t>
                      </a:r>
                      <a:endParaRPr lang="ru-RU" sz="12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Температура перед компрессором, </a:t>
                      </a:r>
                      <a:r>
                        <a:rPr lang="en-US" sz="1200" dirty="0" smtClean="0">
                          <a:effectLst/>
                        </a:rPr>
                        <a:t>T</a:t>
                      </a:r>
                      <a:r>
                        <a:rPr lang="en-US" sz="1200" baseline="-25000" dirty="0" smtClean="0">
                          <a:effectLst/>
                        </a:rPr>
                        <a:t>7</a:t>
                      </a:r>
                      <a:endParaRPr lang="en-US" sz="12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35</a:t>
                      </a:r>
                      <a:r>
                        <a:rPr lang="en-US" sz="1200" dirty="0" smtClean="0"/>
                        <a:t> </a:t>
                      </a:r>
                      <a:r>
                        <a:rPr lang="ru-RU" sz="1200" dirty="0" smtClean="0">
                          <a:effectLst/>
                        </a:rPr>
                        <a:t>°</a:t>
                      </a:r>
                      <a:r>
                        <a:rPr lang="en-US" sz="1200" dirty="0" smtClean="0">
                          <a:effectLst/>
                        </a:rPr>
                        <a:t>C</a:t>
                      </a:r>
                      <a:endParaRPr lang="ru-RU" sz="1200" dirty="0"/>
                    </a:p>
                  </a:txBody>
                  <a:tcPr/>
                </a:tc>
              </a:tr>
              <a:tr h="2901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2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Рабочее тело второго контура</a:t>
                      </a:r>
                      <a:endParaRPr lang="en-US" sz="12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СО</a:t>
                      </a:r>
                      <a:r>
                        <a:rPr lang="ru-RU" sz="1200" baseline="-25000" dirty="0" smtClean="0"/>
                        <a:t>2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817" y="1217407"/>
            <a:ext cx="4541493" cy="3424262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7663425" y="4990217"/>
            <a:ext cx="39570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Принципиальная схема в режиме выработки электроэнергии в </a:t>
            </a:r>
            <a:r>
              <a:rPr lang="ru-RU" sz="1400" b="1" u="sng" dirty="0" err="1" smtClean="0">
                <a:solidFill>
                  <a:srgbClr val="445684"/>
                </a:solidFill>
              </a:rPr>
              <a:t>рекуперационном</a:t>
            </a:r>
            <a:r>
              <a:rPr lang="ru-RU" sz="1400" b="1" u="sng" dirty="0" smtClean="0">
                <a:solidFill>
                  <a:srgbClr val="445684"/>
                </a:solidFill>
              </a:rPr>
              <a:t> цикле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768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962014"/>
              </p:ext>
            </p:extLst>
          </p:nvPr>
        </p:nvGraphicFramePr>
        <p:xfrm>
          <a:off x="192963" y="1233970"/>
          <a:ext cx="8689779" cy="4139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260"/>
                <a:gridCol w="2317505"/>
                <a:gridCol w="1790390"/>
                <a:gridCol w="1814610"/>
                <a:gridCol w="918014"/>
              </a:tblGrid>
              <a:tr h="359306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Уровень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Параметр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Диапазон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Шаг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effectLst/>
                        </a:rPr>
                        <a:t>Кол-во точек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359306">
                <a:tc rowSpan="4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Внешняя сетка (полный перебор)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Давление на входе в турбину </a:t>
                      </a:r>
                      <a:r>
                        <a:rPr lang="ru-RU" sz="1200" dirty="0" smtClean="0">
                          <a:effectLst/>
                        </a:rPr>
                        <a:t>P1​</a:t>
                      </a:r>
                      <a:r>
                        <a:rPr lang="ru-RU" sz="1200" dirty="0">
                          <a:effectLst/>
                        </a:rPr>
                        <a:t>, МПа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20-35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16</a:t>
                      </a:r>
                      <a:endParaRPr lang="ru-RU" sz="1200" b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Давление на выходе из турбины </a:t>
                      </a:r>
                      <a:r>
                        <a:rPr lang="ru-RU" sz="1200" dirty="0" smtClean="0">
                          <a:effectLst/>
                        </a:rPr>
                        <a:t>P7​</a:t>
                      </a:r>
                      <a:r>
                        <a:rPr lang="ru-RU" sz="1200" dirty="0">
                          <a:effectLst/>
                        </a:rPr>
                        <a:t>, МПа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8-12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0,5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9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35930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теплоносителя на входе в реактор </a:t>
                      </a:r>
                      <a:r>
                        <a:rPr lang="en-US" sz="1200" b="0" baseline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600-500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25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0" dirty="0" smtClean="0">
                          <a:effectLst/>
                          <a:latin typeface="+mn-lt"/>
                        </a:rPr>
                        <a:t>8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206839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Итого внешняя сетка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1152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06839">
                <a:tc rowSpan="7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Внутренняя сетка (для оптимальной точки)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Выбор </a:t>
                      </a:r>
                      <a:r>
                        <a:rPr lang="ru-RU" sz="1200" dirty="0">
                          <a:effectLst/>
                        </a:rPr>
                        <a:t>оптимальной точки (</a:t>
                      </a:r>
                      <a:r>
                        <a:rPr lang="ru-RU" sz="1200" dirty="0" smtClean="0">
                          <a:effectLst/>
                        </a:rPr>
                        <a:t>P1​</a:t>
                      </a:r>
                      <a:r>
                        <a:rPr lang="ru-RU" sz="1200" dirty="0">
                          <a:effectLst/>
                        </a:rPr>
                        <a:t>, </a:t>
                      </a:r>
                      <a:r>
                        <a:rPr lang="ru-RU" sz="1200" dirty="0" smtClean="0">
                          <a:effectLst/>
                        </a:rPr>
                        <a:t>P7​)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06839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КПД турбины </a:t>
                      </a:r>
                      <a:r>
                        <a:rPr lang="el-GR" sz="1200" dirty="0">
                          <a:effectLst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</a:rPr>
                        <a:t>t</a:t>
                      </a:r>
                      <a:r>
                        <a:rPr lang="en-US" sz="1200" dirty="0" smtClean="0">
                          <a:effectLst/>
                        </a:rPr>
                        <a:t>​</a:t>
                      </a:r>
                      <a:r>
                        <a:rPr lang="en-US" sz="1200" dirty="0">
                          <a:effectLst/>
                        </a:rPr>
                        <a:t>, %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75-90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06839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КПД компрессора </a:t>
                      </a:r>
                      <a:r>
                        <a:rPr lang="el-GR" sz="1200" dirty="0">
                          <a:effectLst/>
                        </a:rPr>
                        <a:t>η</a:t>
                      </a:r>
                      <a:r>
                        <a:rPr lang="en-US" sz="1200" baseline="-25000" dirty="0" smtClean="0">
                          <a:effectLst/>
                        </a:rPr>
                        <a:t>c</a:t>
                      </a:r>
                      <a:r>
                        <a:rPr lang="en-US" sz="1200" dirty="0" smtClean="0">
                          <a:effectLst/>
                        </a:rPr>
                        <a:t>, </a:t>
                      </a:r>
                      <a:r>
                        <a:rPr lang="en-US" sz="1200" dirty="0">
                          <a:effectLst/>
                        </a:rPr>
                        <a:t>%</a:t>
                      </a:r>
                      <a:endParaRPr lang="en-US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70-80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06839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Потери давления </a:t>
                      </a:r>
                      <a:r>
                        <a:rPr lang="ru-RU" sz="1200" dirty="0" smtClean="0">
                          <a:effectLst/>
                        </a:rPr>
                        <a:t>Δ</a:t>
                      </a:r>
                      <a:r>
                        <a:rPr lang="en-US" sz="1200" dirty="0" smtClean="0">
                          <a:effectLst/>
                        </a:rPr>
                        <a:t>p</a:t>
                      </a:r>
                      <a:r>
                        <a:rPr lang="ru-RU" sz="1200" baseline="-25000" dirty="0" smtClean="0">
                          <a:effectLst/>
                        </a:rPr>
                        <a:t>гор</a:t>
                      </a:r>
                      <a:r>
                        <a:rPr lang="ru-RU" sz="1200" dirty="0" smtClean="0">
                          <a:effectLst/>
                        </a:rPr>
                        <a:t>, %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1-3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206839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Потери давления </a:t>
                      </a:r>
                      <a:r>
                        <a:rPr lang="ru-RU" sz="1200" dirty="0" smtClean="0">
                          <a:effectLst/>
                        </a:rPr>
                        <a:t>Δ</a:t>
                      </a:r>
                      <a:r>
                        <a:rPr lang="en-US" sz="1200" dirty="0" smtClean="0">
                          <a:effectLst/>
                        </a:rPr>
                        <a:t>p</a:t>
                      </a:r>
                      <a:r>
                        <a:rPr lang="ru-RU" sz="1200" baseline="-25000" dirty="0" err="1" smtClean="0">
                          <a:effectLst/>
                        </a:rPr>
                        <a:t>хол</a:t>
                      </a:r>
                      <a:r>
                        <a:rPr lang="ru-RU" sz="1200" dirty="0" smtClean="0">
                          <a:effectLst/>
                        </a:rPr>
                        <a:t>, %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2-5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359306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Минимальный температурный напор </a:t>
                      </a:r>
                      <a:r>
                        <a:rPr lang="ru-RU" sz="1200" dirty="0" smtClean="0">
                          <a:effectLst/>
                        </a:rPr>
                        <a:t>ΔT, </a:t>
                      </a:r>
                      <a:r>
                        <a:rPr lang="ru-RU" sz="1200" dirty="0">
                          <a:effectLst/>
                        </a:rPr>
                        <a:t>°C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5-15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rgbClr val="00B0F0"/>
                    </a:solidFill>
                  </a:tcPr>
                </a:tc>
              </a:tr>
              <a:tr h="206839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Итого внутренняя сетка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31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06839">
                <a:tc gridSpan="4"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Общее количество расчётных точек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1183</a:t>
                      </a:r>
                      <a:endParaRPr lang="ru-RU" sz="12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92963" y="926193"/>
            <a:ext cx="4743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Табл.3 – Варьируемые параметры рекуперативного цикла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1202043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Постановка задачи моделирования </a:t>
            </a:r>
            <a:r>
              <a:rPr lang="ru-RU" dirty="0" smtClean="0">
                <a:latin typeface="+mn-lt"/>
              </a:rPr>
              <a:t>(теплофикация)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27742" y="836675"/>
            <a:ext cx="2657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Табл.3 – </a:t>
            </a:r>
            <a:r>
              <a:rPr lang="ru-RU" sz="1400" b="1" dirty="0">
                <a:solidFill>
                  <a:srgbClr val="445684"/>
                </a:solidFill>
              </a:rPr>
              <a:t>Необходимые графики</a:t>
            </a:r>
            <a:endParaRPr lang="ru-RU" sz="1400" b="1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794562"/>
              </p:ext>
            </p:extLst>
          </p:nvPr>
        </p:nvGraphicFramePr>
        <p:xfrm>
          <a:off x="400215" y="2990042"/>
          <a:ext cx="7437499" cy="2741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1799"/>
                <a:gridCol w="1331943"/>
                <a:gridCol w="673963"/>
                <a:gridCol w="1619794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>
                          <a:effectLst/>
                        </a:rPr>
                        <a:t>Параметр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Диапазон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Шаг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err="1" smtClean="0">
                          <a:effectLst/>
                        </a:rPr>
                        <a:t>Коливо</a:t>
                      </a:r>
                      <a:r>
                        <a:rPr lang="ru-RU" sz="1200" baseline="0" dirty="0" smtClean="0">
                          <a:effectLst/>
                        </a:rPr>
                        <a:t> точек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Температура теплоносителя </a:t>
                      </a:r>
                      <a:r>
                        <a:rPr lang="en-US" sz="1200" dirty="0" smtClean="0">
                          <a:effectLst/>
                        </a:rPr>
                        <a:t>III</a:t>
                      </a:r>
                      <a:r>
                        <a:rPr lang="ru-RU" sz="1200" dirty="0" smtClean="0">
                          <a:effectLst/>
                        </a:rPr>
                        <a:t>–</a:t>
                      </a:r>
                      <a:r>
                        <a:rPr lang="ru-RU" sz="1200" dirty="0" err="1" smtClean="0">
                          <a:effectLst/>
                        </a:rPr>
                        <a:t>го</a:t>
                      </a:r>
                      <a:r>
                        <a:rPr lang="ru-RU" sz="1200" dirty="0" smtClean="0">
                          <a:effectLst/>
                        </a:rPr>
                        <a:t> контура</a:t>
                      </a:r>
                      <a:r>
                        <a:rPr lang="ru-RU" sz="1200" baseline="0" dirty="0" smtClean="0">
                          <a:effectLst/>
                        </a:rPr>
                        <a:t> </a:t>
                      </a:r>
                      <a:r>
                        <a:rPr lang="ru-RU" sz="1200" dirty="0" smtClean="0">
                          <a:effectLst/>
                        </a:rPr>
                        <a:t>на выходе из утилизатора</a:t>
                      </a:r>
                      <a:endParaRPr lang="ru-RU" sz="1200" dirty="0" smtClean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500-600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25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Расход теплоносителя через </a:t>
                      </a:r>
                      <a:r>
                        <a:rPr lang="en-US" sz="1200" dirty="0" smtClean="0">
                          <a:effectLst/>
                        </a:rPr>
                        <a:t>III-</a:t>
                      </a:r>
                      <a:r>
                        <a:rPr lang="ru-RU" sz="1200" dirty="0" smtClean="0">
                          <a:effectLst/>
                        </a:rPr>
                        <a:t>й контур, кг/с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(оценочный расчет)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-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Расход сетевой воды, кг/с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(оценочный расчет)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-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247808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Потери давления в утилизаторе в </a:t>
                      </a:r>
                      <a:r>
                        <a:rPr lang="en-US" sz="1200" dirty="0" smtClean="0">
                          <a:effectLst/>
                        </a:rPr>
                        <a:t>III</a:t>
                      </a:r>
                      <a:r>
                        <a:rPr lang="ru-RU" sz="1200" baseline="0" dirty="0" smtClean="0">
                          <a:effectLst/>
                        </a:rPr>
                        <a:t> контуре</a:t>
                      </a:r>
                      <a:r>
                        <a:rPr lang="ru-RU" sz="1200" dirty="0" smtClean="0">
                          <a:effectLst/>
                        </a:rPr>
                        <a:t>, %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5-8 %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Температурный напор в теплообменнике утилизаторе, 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5-15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247808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Общее количество</a:t>
                      </a:r>
                      <a:r>
                        <a:rPr lang="ru-RU" sz="1200" baseline="0" dirty="0" smtClean="0">
                          <a:effectLst/>
                        </a:rPr>
                        <a:t> точек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1500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ru-RU" sz="11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</a:tbl>
          </a:graphicData>
        </a:graphic>
      </p:graphicFrame>
      <p:graphicFrame>
        <p:nvGraphicFramePr>
          <p:cNvPr id="8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256838"/>
              </p:ext>
            </p:extLst>
          </p:nvPr>
        </p:nvGraphicFramePr>
        <p:xfrm>
          <a:off x="6727742" y="1222829"/>
          <a:ext cx="4467153" cy="1223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6"/>
                <a:gridCol w="2185508"/>
                <a:gridCol w="1837509"/>
              </a:tblGrid>
              <a:tr h="1650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№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График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Кол-во точек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КПД = </a:t>
                      </a:r>
                      <a:r>
                        <a:rPr lang="en-US" sz="1200" dirty="0" smtClean="0">
                          <a:effectLst/>
                        </a:rPr>
                        <a:t>f(G)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43825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КПД = </a:t>
                      </a:r>
                      <a:r>
                        <a:rPr lang="en-US" sz="1200" dirty="0" smtClean="0">
                          <a:effectLst/>
                        </a:rPr>
                        <a:t>f(</a:t>
                      </a:r>
                      <a:r>
                        <a:rPr lang="en-US" sz="1200" dirty="0" err="1" smtClean="0">
                          <a:effectLst/>
                        </a:rPr>
                        <a:t>dT</a:t>
                      </a:r>
                      <a:r>
                        <a:rPr lang="en-US" sz="1200" dirty="0" smtClean="0">
                          <a:effectLst/>
                        </a:rPr>
                        <a:t>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Температурный профиль в рекуператоре (T-x диаграмма)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В оптимальной</a:t>
                      </a:r>
                      <a:r>
                        <a:rPr lang="ru-RU" sz="1200" baseline="0" dirty="0" smtClean="0">
                          <a:effectLst/>
                        </a:rPr>
                        <a:t> точке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graphicFrame>
        <p:nvGraphicFramePr>
          <p:cNvPr id="12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330800"/>
              </p:ext>
            </p:extLst>
          </p:nvPr>
        </p:nvGraphicFramePr>
        <p:xfrm>
          <a:off x="405319" y="1184482"/>
          <a:ext cx="5965372" cy="1330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9818"/>
                <a:gridCol w="1985554"/>
              </a:tblGrid>
              <a:tr h="1650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effectLst/>
                        </a:rPr>
                        <a:t>Параметр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effectLst/>
                        </a:rPr>
                        <a:t>Значение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Тепловая мощность реактора, МВт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43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Температура теплоносителя</a:t>
                      </a:r>
                      <a:r>
                        <a:rPr lang="ru-RU" sz="1200" baseline="0" dirty="0" smtClean="0">
                          <a:effectLst/>
                        </a:rPr>
                        <a:t> на выходе из реактора,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сетевой воды на выходе из утилизатора,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70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 сетевой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воды на входе в утилизатор,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40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307503" y="836675"/>
            <a:ext cx="31359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Табл.1 – Фиксированные параметры</a:t>
            </a:r>
            <a:endParaRPr lang="ru-RU" sz="1400" b="1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307503" y="2613224"/>
            <a:ext cx="2852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Табл.2 – Варьируемые параметры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2537691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Методика моделирования СО2 цикла</a:t>
            </a:r>
            <a:endParaRPr lang="ru-RU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Объект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3576942"/>
                  </p:ext>
                </p:extLst>
              </p:nvPr>
            </p:nvGraphicFramePr>
            <p:xfrm>
              <a:off x="252264" y="2370926"/>
              <a:ext cx="6470753" cy="357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4947"/>
                    <a:gridCol w="1558835"/>
                    <a:gridCol w="3526971"/>
                  </a:tblGrid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Компонент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Метод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Ключевая особенность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</a:tr>
                  <a:tr h="462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Компрессоры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pt-BR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𝑜𝑖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ru-RU" sz="1000" dirty="0" smtClean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Турбина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pt-BR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000" b="0" dirty="0" smtClean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Теплообменник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Численное интегрирование по длине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Разбиение на 20 узлов; пересчёт </a:t>
                          </a:r>
                          <a:r>
                            <a:rPr lang="en-US" sz="1000" dirty="0" smtClean="0">
                              <a:effectLst/>
                            </a:rPr>
                            <a:t>H→T</a:t>
                          </a:r>
                          <a:r>
                            <a:rPr lang="ru-RU" sz="1000" dirty="0" smtClean="0">
                              <a:effectLst/>
                            </a:rPr>
                            <a:t>,</a:t>
                          </a:r>
                          <a:r>
                            <a:rPr lang="en-US" sz="1000" dirty="0" smtClean="0">
                              <a:effectLst/>
                            </a:rPr>
                            <a:t> </a:t>
                          </a:r>
                          <a:r>
                            <a:rPr lang="ru-RU" sz="1000" dirty="0" smtClean="0">
                              <a:effectLst/>
                            </a:rPr>
                            <a:t>расчёт </a:t>
                          </a:r>
                          <a:r>
                            <a:rPr lang="en-US" sz="1000" dirty="0" err="1" smtClean="0">
                              <a:effectLst/>
                            </a:rPr>
                            <a:t>dT</a:t>
                          </a:r>
                          <a:r>
                            <a:rPr lang="en-US" sz="1000" baseline="-25000" dirty="0" err="1" smtClean="0">
                              <a:effectLst/>
                            </a:rPr>
                            <a:t>min</a:t>
                          </a:r>
                          <a:endParaRPr lang="en-US" sz="1000" dirty="0" smtClean="0">
                            <a:effectLst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515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Смеситель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Адиабатическое смешение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000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00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000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ru-RU" sz="1000" dirty="0" smtClean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Разделитель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Деление потока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Состояние сохраняется, расход делится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Источник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Подвод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Задание Q, T или x на выходе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Алгоритм 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err="1" smtClean="0">
                              <a:effectLst/>
                              <a:latin typeface="+mn-lt"/>
                            </a:rPr>
                            <a:t>Нелдера-Мида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Метод деформируемого многогранника, прямой метод безусловной оптимизации (не требует вычисления градиентов)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Объект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3576942"/>
                  </p:ext>
                </p:extLst>
              </p:nvPr>
            </p:nvGraphicFramePr>
            <p:xfrm>
              <a:off x="252264" y="2370926"/>
              <a:ext cx="6470753" cy="357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4947"/>
                    <a:gridCol w="1558835"/>
                    <a:gridCol w="3526971"/>
                  </a:tblGrid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Компонент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Метод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Ключевая особенность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</a:tr>
                  <a:tr h="462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Компрессоры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1436" marR="48862" marT="50898" marB="50898" anchor="ctr">
                        <a:blipFill rotWithShape="0">
                          <a:blip r:embed="rId2"/>
                          <a:stretch>
                            <a:fillRect l="-83592" t="-73684" r="-864" b="-607895"/>
                          </a:stretch>
                        </a:blipFill>
                      </a:tcPr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Турбина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1436" marR="48862" marT="50898" marB="50898" anchor="ctr">
                        <a:blipFill rotWithShape="0">
                          <a:blip r:embed="rId2"/>
                          <a:stretch>
                            <a:fillRect l="-83592" t="-176000" r="-864" b="-516000"/>
                          </a:stretch>
                        </a:blipFill>
                      </a:tcPr>
                    </a:tc>
                  </a:tr>
                  <a:tr h="55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Теплообменник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Численное интегрирование по длине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Разбиение на 20 узлов; пересчёт </a:t>
                          </a:r>
                          <a:r>
                            <a:rPr lang="en-US" sz="1000" dirty="0" smtClean="0">
                              <a:effectLst/>
                            </a:rPr>
                            <a:t>H→T</a:t>
                          </a:r>
                          <a:r>
                            <a:rPr lang="ru-RU" sz="1000" dirty="0" smtClean="0">
                              <a:effectLst/>
                            </a:rPr>
                            <a:t>,</a:t>
                          </a:r>
                          <a:r>
                            <a:rPr lang="en-US" sz="1000" dirty="0" smtClean="0">
                              <a:effectLst/>
                            </a:rPr>
                            <a:t> </a:t>
                          </a:r>
                          <a:r>
                            <a:rPr lang="ru-RU" sz="1000" dirty="0" smtClean="0">
                              <a:effectLst/>
                            </a:rPr>
                            <a:t>расчёт </a:t>
                          </a:r>
                          <a:r>
                            <a:rPr lang="en-US" sz="1000" dirty="0" err="1" smtClean="0">
                              <a:effectLst/>
                            </a:rPr>
                            <a:t>dT</a:t>
                          </a:r>
                          <a:r>
                            <a:rPr lang="en-US" sz="1000" baseline="-25000" dirty="0" err="1" smtClean="0">
                              <a:effectLst/>
                            </a:rPr>
                            <a:t>min</a:t>
                          </a:r>
                          <a:endParaRPr lang="en-US" sz="1000" dirty="0" smtClean="0">
                            <a:effectLst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16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Смеситель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Адиабатическое смешение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1436" marR="48862" marT="50898" marB="50898" anchor="ctr">
                        <a:blipFill rotWithShape="0">
                          <a:blip r:embed="rId2"/>
                          <a:stretch>
                            <a:fillRect l="-83592" t="-439706" r="-864" b="-333824"/>
                          </a:stretch>
                        </a:blipFill>
                      </a:tcPr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Разделитель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Деление потока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Состояние сохраняется, расход делится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Источник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Подвод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Задание Q, T или x на выходе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55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Алгоритм 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err="1" smtClean="0">
                              <a:effectLst/>
                              <a:latin typeface="+mn-lt"/>
                            </a:rPr>
                            <a:t>Нелдера-Мида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Метод деформируемого многогранника, прямой метод безусловной оптимизации (не требует вычисления градиентов)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93849" y="2081655"/>
            <a:ext cx="40056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Методы моделирования основных компонентов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74368" y="940345"/>
            <a:ext cx="114344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Моделирование компонентов цикла выполнено на основе уравнений сохранения энергии с использованием уравнения состояния реального газа </a:t>
            </a:r>
            <a:r>
              <a:rPr lang="ru-RU" dirty="0" err="1">
                <a:solidFill>
                  <a:srgbClr val="445684"/>
                </a:solidFill>
              </a:rPr>
              <a:t>CoolProp</a:t>
            </a:r>
            <a:r>
              <a:rPr lang="ru-RU" dirty="0">
                <a:solidFill>
                  <a:srgbClr val="445684"/>
                </a:solidFill>
              </a:rPr>
              <a:t>. Для турбомашин применён метод изоэнтропийного КПД, для рекуператоров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численная дискретизация по длине с контролем минимального температурного напора.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896" y="2389431"/>
            <a:ext cx="5267138" cy="365145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759896" y="2081654"/>
            <a:ext cx="22238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Блок-схема расчета цикла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2398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Выводы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71638" y="1021852"/>
            <a:ext cx="109616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sCO</a:t>
            </a:r>
            <a:r>
              <a:rPr lang="ru-RU" dirty="0">
                <a:solidFill>
                  <a:srgbClr val="445684"/>
                </a:solidFill>
              </a:rPr>
              <a:t>₂-циклы обеспечивают высокую эффективность и </a:t>
            </a:r>
            <a:r>
              <a:rPr lang="ru-RU" dirty="0" smtClean="0">
                <a:solidFill>
                  <a:srgbClr val="445684"/>
                </a:solidFill>
              </a:rPr>
              <a:t>компактность (турбина </a:t>
            </a:r>
            <a:r>
              <a:rPr lang="ru-RU" dirty="0">
                <a:solidFill>
                  <a:srgbClr val="445684"/>
                </a:solidFill>
              </a:rPr>
              <a:t>в </a:t>
            </a:r>
            <a:r>
              <a:rPr lang="ru-RU" dirty="0" smtClean="0">
                <a:solidFill>
                  <a:srgbClr val="445684"/>
                </a:solidFill>
              </a:rPr>
              <a:t>10-30 </a:t>
            </a:r>
            <a:r>
              <a:rPr lang="ru-RU" dirty="0">
                <a:solidFill>
                  <a:srgbClr val="445684"/>
                </a:solidFill>
              </a:rPr>
              <a:t>раз меньше паровой) за счёт уникальных свойств CO</a:t>
            </a:r>
            <a:r>
              <a:rPr lang="ru-RU" dirty="0" smtClean="0">
                <a:solidFill>
                  <a:srgbClr val="445684"/>
                </a:solidFill>
              </a:rPr>
              <a:t>₂ вблизи </a:t>
            </a:r>
            <a:r>
              <a:rPr lang="ru-RU" dirty="0">
                <a:solidFill>
                  <a:srgbClr val="445684"/>
                </a:solidFill>
              </a:rPr>
              <a:t>критической точки (31°C / 7,38 МПа</a:t>
            </a:r>
            <a:r>
              <a:rPr lang="ru-RU" dirty="0" smtClean="0">
                <a:solidFill>
                  <a:srgbClr val="445684"/>
                </a:solidFill>
              </a:rPr>
              <a:t>).</a:t>
            </a:r>
            <a:endParaRPr lang="ru-RU" dirty="0">
              <a:solidFill>
                <a:srgbClr val="445684"/>
              </a:solidFill>
            </a:endParaRPr>
          </a:p>
          <a:p>
            <a:r>
              <a:rPr lang="ru-RU" dirty="0">
                <a:solidFill>
                  <a:srgbClr val="445684"/>
                </a:solidFill>
              </a:rPr>
              <a:t>2. </a:t>
            </a:r>
            <a:r>
              <a:rPr lang="ru-RU" dirty="0" smtClean="0">
                <a:solidFill>
                  <a:srgbClr val="445684"/>
                </a:solidFill>
              </a:rPr>
              <a:t> </a:t>
            </a:r>
            <a:r>
              <a:rPr lang="ru-RU" dirty="0" err="1" smtClean="0">
                <a:solidFill>
                  <a:srgbClr val="445684"/>
                </a:solidFill>
              </a:rPr>
              <a:t>Рекомпрессионный</a:t>
            </a:r>
            <a:r>
              <a:rPr lang="ru-RU" dirty="0" smtClean="0">
                <a:solidFill>
                  <a:srgbClr val="445684"/>
                </a:solidFill>
              </a:rPr>
              <a:t> </a:t>
            </a:r>
            <a:r>
              <a:rPr lang="ru-RU" dirty="0">
                <a:solidFill>
                  <a:srgbClr val="445684"/>
                </a:solidFill>
              </a:rPr>
              <a:t>цикл Брайтона является оптимальной </a:t>
            </a:r>
            <a:r>
              <a:rPr lang="ru-RU" dirty="0" smtClean="0">
                <a:solidFill>
                  <a:srgbClr val="445684"/>
                </a:solidFill>
              </a:rPr>
              <a:t>конфигурацией для </a:t>
            </a:r>
            <a:r>
              <a:rPr lang="ru-RU" dirty="0">
                <a:solidFill>
                  <a:srgbClr val="445684"/>
                </a:solidFill>
              </a:rPr>
              <a:t>АСММ с параметрами </a:t>
            </a:r>
            <a:r>
              <a:rPr lang="ru-RU" dirty="0" smtClean="0">
                <a:solidFill>
                  <a:srgbClr val="445684"/>
                </a:solidFill>
              </a:rPr>
              <a:t>715°C/30 </a:t>
            </a:r>
            <a:r>
              <a:rPr lang="ru-RU" dirty="0">
                <a:solidFill>
                  <a:srgbClr val="445684"/>
                </a:solidFill>
              </a:rPr>
              <a:t>МПа: КПД до 29,2% для «Шельф-М</a:t>
            </a:r>
            <a:r>
              <a:rPr lang="ru-RU" dirty="0" smtClean="0">
                <a:solidFill>
                  <a:srgbClr val="445684"/>
                </a:solidFill>
              </a:rPr>
              <a:t>», что </a:t>
            </a:r>
            <a:r>
              <a:rPr lang="ru-RU" dirty="0">
                <a:solidFill>
                  <a:srgbClr val="445684"/>
                </a:solidFill>
              </a:rPr>
              <a:t>на 0,8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>
                <a:solidFill>
                  <a:srgbClr val="445684"/>
                </a:solidFill>
              </a:rPr>
              <a:t>. выше парового </a:t>
            </a:r>
            <a:r>
              <a:rPr lang="ru-RU" dirty="0" smtClean="0">
                <a:solidFill>
                  <a:srgbClr val="445684"/>
                </a:solidFill>
              </a:rPr>
              <a:t>цикла.</a:t>
            </a:r>
          </a:p>
          <a:p>
            <a:r>
              <a:rPr lang="ru-RU" dirty="0" smtClean="0">
                <a:solidFill>
                  <a:srgbClr val="445684"/>
                </a:solidFill>
              </a:rPr>
              <a:t>3</a:t>
            </a:r>
            <a:r>
              <a:rPr lang="ru-RU" dirty="0">
                <a:solidFill>
                  <a:srgbClr val="445684"/>
                </a:solidFill>
              </a:rPr>
              <a:t>. </a:t>
            </a:r>
            <a:r>
              <a:rPr lang="ru-RU" dirty="0" smtClean="0">
                <a:solidFill>
                  <a:srgbClr val="445684"/>
                </a:solidFill>
              </a:rPr>
              <a:t> Ключевые </a:t>
            </a:r>
            <a:r>
              <a:rPr lang="ru-RU" dirty="0">
                <a:solidFill>
                  <a:srgbClr val="445684"/>
                </a:solidFill>
              </a:rPr>
              <a:t>параметры: T₂ (0,02–0,03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 smtClean="0">
                <a:solidFill>
                  <a:srgbClr val="445684"/>
                </a:solidFill>
              </a:rPr>
              <a:t>./°К), </a:t>
            </a:r>
            <a:r>
              <a:rPr lang="ru-RU" dirty="0">
                <a:solidFill>
                  <a:srgbClr val="445684"/>
                </a:solidFill>
              </a:rPr>
              <a:t>T₁ (</a:t>
            </a:r>
            <a:r>
              <a:rPr lang="ru-RU" dirty="0" smtClean="0">
                <a:solidFill>
                  <a:srgbClr val="445684"/>
                </a:solidFill>
              </a:rPr>
              <a:t>наибольшая чувствительность</a:t>
            </a:r>
            <a:r>
              <a:rPr lang="ru-RU" dirty="0">
                <a:solidFill>
                  <a:srgbClr val="445684"/>
                </a:solidFill>
              </a:rPr>
              <a:t>, ~4°C → 1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>
                <a:solidFill>
                  <a:srgbClr val="445684"/>
                </a:solidFill>
              </a:rPr>
              <a:t>.), x (</a:t>
            </a:r>
            <a:r>
              <a:rPr lang="ru-RU" dirty="0" smtClean="0">
                <a:solidFill>
                  <a:srgbClr val="445684"/>
                </a:solidFill>
              </a:rPr>
              <a:t>оптимизация </a:t>
            </a:r>
            <a:r>
              <a:rPr lang="ru-RU" dirty="0">
                <a:solidFill>
                  <a:srgbClr val="445684"/>
                </a:solidFill>
              </a:rPr>
              <a:t>+</a:t>
            </a:r>
            <a:r>
              <a:rPr lang="ru-RU" dirty="0" smtClean="0">
                <a:solidFill>
                  <a:srgbClr val="445684"/>
                </a:solidFill>
              </a:rPr>
              <a:t>2-5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 smtClean="0">
                <a:solidFill>
                  <a:srgbClr val="445684"/>
                </a:solidFill>
              </a:rPr>
              <a:t>.).</a:t>
            </a:r>
          </a:p>
          <a:p>
            <a:r>
              <a:rPr lang="ru-RU" dirty="0" smtClean="0">
                <a:solidFill>
                  <a:srgbClr val="445684"/>
                </a:solidFill>
              </a:rPr>
              <a:t>4</a:t>
            </a:r>
            <a:r>
              <a:rPr lang="ru-RU" dirty="0">
                <a:solidFill>
                  <a:srgbClr val="445684"/>
                </a:solidFill>
              </a:rPr>
              <a:t>. </a:t>
            </a:r>
            <a:r>
              <a:rPr lang="ru-RU" dirty="0" smtClean="0">
                <a:solidFill>
                  <a:srgbClr val="445684"/>
                </a:solidFill>
              </a:rPr>
              <a:t> Основной </a:t>
            </a:r>
            <a:r>
              <a:rPr lang="ru-RU" dirty="0">
                <a:solidFill>
                  <a:srgbClr val="445684"/>
                </a:solidFill>
              </a:rPr>
              <a:t>вызов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стойкость материалов к </a:t>
            </a:r>
            <a:r>
              <a:rPr lang="ru-RU" dirty="0" err="1">
                <a:solidFill>
                  <a:srgbClr val="445684"/>
                </a:solidFill>
              </a:rPr>
              <a:t>карбюризации</a:t>
            </a:r>
            <a:r>
              <a:rPr lang="ru-RU" dirty="0">
                <a:solidFill>
                  <a:srgbClr val="445684"/>
                </a:solidFill>
              </a:rPr>
              <a:t>; для T &gt; 650°C</a:t>
            </a:r>
          </a:p>
          <a:p>
            <a:r>
              <a:rPr lang="ru-RU" dirty="0" smtClean="0">
                <a:solidFill>
                  <a:srgbClr val="445684"/>
                </a:solidFill>
              </a:rPr>
              <a:t>требуются </a:t>
            </a:r>
            <a:r>
              <a:rPr lang="ru-RU" dirty="0">
                <a:solidFill>
                  <a:srgbClr val="445684"/>
                </a:solidFill>
              </a:rPr>
              <a:t>никелевые </a:t>
            </a:r>
            <a:r>
              <a:rPr lang="ru-RU" dirty="0" err="1">
                <a:solidFill>
                  <a:srgbClr val="445684"/>
                </a:solidFill>
              </a:rPr>
              <a:t>суперсплавы</a:t>
            </a:r>
            <a:r>
              <a:rPr lang="ru-RU" dirty="0">
                <a:solidFill>
                  <a:srgbClr val="445684"/>
                </a:solidFill>
              </a:rPr>
              <a:t> (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282, </a:t>
            </a:r>
            <a:r>
              <a:rPr lang="ru-RU" dirty="0" err="1">
                <a:solidFill>
                  <a:srgbClr val="445684"/>
                </a:solidFill>
              </a:rPr>
              <a:t>Inconel</a:t>
            </a:r>
            <a:r>
              <a:rPr lang="ru-RU" dirty="0">
                <a:solidFill>
                  <a:srgbClr val="445684"/>
                </a:solidFill>
              </a:rPr>
              <a:t> 740H, 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230</a:t>
            </a:r>
            <a:r>
              <a:rPr lang="ru-RU" dirty="0" smtClean="0">
                <a:solidFill>
                  <a:srgbClr val="445684"/>
                </a:solidFill>
              </a:rPr>
              <a:t>). Отсутствие </a:t>
            </a:r>
            <a:r>
              <a:rPr lang="ru-RU" dirty="0">
                <a:solidFill>
                  <a:srgbClr val="445684"/>
                </a:solidFill>
              </a:rPr>
              <a:t>эксплуатационного опыта и высокая стоимость </a:t>
            </a:r>
            <a:r>
              <a:rPr lang="ru-RU" dirty="0" smtClean="0">
                <a:solidFill>
                  <a:srgbClr val="445684"/>
                </a:solidFill>
              </a:rPr>
              <a:t>компонентов сдерживают </a:t>
            </a:r>
            <a:r>
              <a:rPr lang="ru-RU" dirty="0">
                <a:solidFill>
                  <a:srgbClr val="445684"/>
                </a:solidFill>
              </a:rPr>
              <a:t>промышленное внедрение.</a:t>
            </a:r>
          </a:p>
        </p:txBody>
      </p:sp>
    </p:spTree>
    <p:extLst>
      <p:ext uri="{BB962C8B-B14F-4D97-AF65-F5344CB8AC3E}">
        <p14:creationId xmlns:p14="http://schemas.microsoft.com/office/powerpoint/2010/main" val="2003142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445684"/>
                </a:solidFill>
              </a:rPr>
              <a:t>Спасибо за внимание!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999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Выбор оптимального термодинамического цикла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62100" y="6347021"/>
            <a:ext cx="731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>
                <a:solidFill>
                  <a:srgbClr val="445684"/>
                </a:solidFill>
              </a:rPr>
              <a:t>Источник: АНАЛИЗ </a:t>
            </a:r>
            <a:r>
              <a:rPr lang="ru-RU" sz="1200" b="1" dirty="0">
                <a:solidFill>
                  <a:srgbClr val="445684"/>
                </a:solidFill>
              </a:rPr>
              <a:t>ЭФФЕКТИВНОСТИ S-CO2 ЦИКЛОВ ДЛЯ </a:t>
            </a:r>
            <a:r>
              <a:rPr lang="ru-RU" sz="1200" b="1" dirty="0" smtClean="0">
                <a:solidFill>
                  <a:srgbClr val="445684"/>
                </a:solidFill>
              </a:rPr>
              <a:t>АСММ «ШЕЛЬФ-М</a:t>
            </a:r>
            <a:r>
              <a:rPr lang="ru-RU" sz="1200" b="1" dirty="0">
                <a:solidFill>
                  <a:srgbClr val="445684"/>
                </a:solidFill>
              </a:rPr>
              <a:t>» Д.В. </a:t>
            </a:r>
            <a:r>
              <a:rPr lang="ru-RU" sz="1200" b="1" dirty="0" err="1">
                <a:solidFill>
                  <a:srgbClr val="445684"/>
                </a:solidFill>
              </a:rPr>
              <a:t>Паторкин</a:t>
            </a:r>
            <a:r>
              <a:rPr lang="ru-RU" sz="1200" b="1" dirty="0">
                <a:solidFill>
                  <a:srgbClr val="445684"/>
                </a:solidFill>
              </a:rPr>
              <a:t>, И.А. Максимов, В. Р. Жихарева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71637" y="2443641"/>
            <a:ext cx="61387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>
              <a:solidFill>
                <a:srgbClr val="445684"/>
              </a:solidFill>
            </a:endParaRPr>
          </a:p>
          <a:p>
            <a:r>
              <a:rPr lang="ru-RU" dirty="0">
                <a:solidFill>
                  <a:srgbClr val="445684"/>
                </a:solidFill>
              </a:rPr>
              <a:t>Для таких параметров </a:t>
            </a:r>
            <a:r>
              <a:rPr lang="ru-RU" dirty="0" smtClean="0">
                <a:solidFill>
                  <a:srgbClr val="445684"/>
                </a:solidFill>
              </a:rPr>
              <a:t>перспективным </a:t>
            </a:r>
            <a:r>
              <a:rPr lang="ru-RU" dirty="0">
                <a:solidFill>
                  <a:srgbClr val="445684"/>
                </a:solidFill>
              </a:rPr>
              <a:t>решением является </a:t>
            </a:r>
            <a:r>
              <a:rPr lang="ru-RU" dirty="0" err="1">
                <a:solidFill>
                  <a:srgbClr val="445684"/>
                </a:solidFill>
              </a:rPr>
              <a:t>рекомпрессионный</a:t>
            </a:r>
            <a:r>
              <a:rPr lang="ru-RU" dirty="0">
                <a:solidFill>
                  <a:srgbClr val="445684"/>
                </a:solidFill>
              </a:rPr>
              <a:t> цикл Брайтона на сверхкритическом CO</a:t>
            </a:r>
            <a:r>
              <a:rPr lang="ru-RU" dirty="0" smtClean="0">
                <a:solidFill>
                  <a:srgbClr val="445684"/>
                </a:solidFill>
              </a:rPr>
              <a:t>₂. </a:t>
            </a:r>
            <a:r>
              <a:rPr lang="ru-RU" dirty="0">
                <a:solidFill>
                  <a:srgbClr val="445684"/>
                </a:solidFill>
              </a:rPr>
              <a:t>Это подтверждается рядом исследований: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71637" y="963052"/>
            <a:ext cx="113774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445684"/>
                </a:solidFill>
              </a:rPr>
              <a:t>На основе полученных данных сформулирована задача: обосновать выбор рациональной схемы преобразования тепловой энергии реактора </a:t>
            </a:r>
            <a:r>
              <a:rPr lang="ru-RU" i="1" dirty="0" smtClean="0">
                <a:solidFill>
                  <a:srgbClr val="445684"/>
                </a:solidFill>
              </a:rPr>
              <a:t>мощностью </a:t>
            </a:r>
            <a:r>
              <a:rPr lang="ru-RU" i="1" dirty="0">
                <a:solidFill>
                  <a:srgbClr val="445684"/>
                </a:solidFill>
              </a:rPr>
              <a:t>500 кВт для надёжного энергоснабжения удалённых и изолированных районов.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36102"/>
              </p:ext>
            </p:extLst>
          </p:nvPr>
        </p:nvGraphicFramePr>
        <p:xfrm>
          <a:off x="6386662" y="2759820"/>
          <a:ext cx="5395763" cy="3146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588"/>
                <a:gridCol w="885825"/>
                <a:gridCol w="781050"/>
                <a:gridCol w="857250"/>
                <a:gridCol w="1924050"/>
              </a:tblGrid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max</a:t>
                      </a:r>
                      <a:r>
                        <a:rPr lang="en-US" sz="1200" dirty="0">
                          <a:effectLst/>
                        </a:rPr>
                        <a:t> (°C)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</a:t>
                      </a:r>
                      <a:r>
                        <a:rPr lang="en-US" sz="1200" baseline="-25000">
                          <a:effectLst/>
                        </a:rPr>
                        <a:t>max</a:t>
                      </a:r>
                      <a:r>
                        <a:rPr lang="en-US" sz="1200">
                          <a:effectLst/>
                        </a:rPr>
                        <a:t> (MPa)</a:t>
                      </a:r>
                      <a:endParaRPr lang="en-US" sz="1200" b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dirty="0" smtClean="0">
                          <a:effectLst/>
                        </a:rPr>
                        <a:t>η</a:t>
                      </a:r>
                      <a:r>
                        <a:rPr lang="en-US" sz="1200" baseline="-25000" dirty="0" err="1" smtClean="0">
                          <a:effectLst/>
                        </a:rPr>
                        <a:t>th</a:t>
                      </a:r>
                      <a:r>
                        <a:rPr lang="en-US" sz="1200" dirty="0" smtClean="0">
                          <a:effectLst/>
                        </a:rPr>
                        <a:t> (%)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P</a:t>
                      </a:r>
                      <a:r>
                        <a:rPr lang="en-US" sz="1200" baseline="-25000" dirty="0">
                          <a:effectLst/>
                        </a:rPr>
                        <a:t>net</a:t>
                      </a:r>
                      <a:r>
                        <a:rPr lang="en-US" sz="1200" dirty="0">
                          <a:effectLst/>
                        </a:rPr>
                        <a:t> (MW)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Источник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811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19.98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50.87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80.92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Al-</a:t>
                      </a:r>
                      <a:r>
                        <a:rPr lang="en-US" sz="1200" dirty="0" err="1">
                          <a:effectLst/>
                        </a:rPr>
                        <a:t>Sulaiman</a:t>
                      </a:r>
                      <a:r>
                        <a:rPr lang="en-US" sz="1200" dirty="0">
                          <a:effectLst/>
                        </a:rPr>
                        <a:t> and </a:t>
                      </a:r>
                      <a:r>
                        <a:rPr lang="en-US" sz="1200" dirty="0" err="1">
                          <a:effectLst/>
                        </a:rPr>
                        <a:t>Atif</a:t>
                      </a:r>
                      <a:r>
                        <a:rPr lang="en-US" sz="1200" dirty="0">
                          <a:effectLst/>
                        </a:rPr>
                        <a:t> (2015)</a:t>
                      </a:r>
                      <a:endParaRPr lang="en-US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700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53.14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293.00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Dostal et al. (2004)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650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51.50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25.00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da-DK" sz="1200">
                          <a:effectLst/>
                        </a:rPr>
                        <a:t>Monjurul Ehsan et al. (2020)</a:t>
                      </a:r>
                      <a:endParaRPr lang="da-DK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25.00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42.90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21.42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Mohammadi et al. (2020)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280209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673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42.44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2184.00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 err="1">
                          <a:effectLst/>
                        </a:rPr>
                        <a:t>Halimi</a:t>
                      </a:r>
                      <a:r>
                        <a:rPr lang="en-US" sz="1200" dirty="0">
                          <a:effectLst/>
                        </a:rPr>
                        <a:t> and </a:t>
                      </a:r>
                      <a:r>
                        <a:rPr lang="en-US" sz="1200" dirty="0" err="1">
                          <a:effectLst/>
                        </a:rPr>
                        <a:t>Suh</a:t>
                      </a:r>
                      <a:r>
                        <a:rPr lang="en-US" sz="1200" dirty="0">
                          <a:effectLst/>
                        </a:rPr>
                        <a:t> (2012)</a:t>
                      </a:r>
                      <a:endParaRPr lang="en-US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550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20.70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41.48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249.00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Wang and Dai (2016)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570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27.58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48.46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74.20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Cho et al. (2015)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601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25.46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46.09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7.54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Hou et al. (2018)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577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20.00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40.00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Zhang et al. (2020a)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550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21.46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39.55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237.33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S. </a:t>
                      </a:r>
                      <a:r>
                        <a:rPr lang="en-US" sz="1200" dirty="0" err="1">
                          <a:effectLst/>
                        </a:rPr>
                        <a:t>Mahmoudi</a:t>
                      </a:r>
                      <a:r>
                        <a:rPr lang="en-US" sz="1200" dirty="0">
                          <a:effectLst/>
                        </a:rPr>
                        <a:t> et al. (2016)</a:t>
                      </a:r>
                      <a:endParaRPr lang="en-US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</a:tbl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474091" y="1945684"/>
            <a:ext cx="11226219" cy="646331"/>
          </a:xfrm>
          <a:prstGeom prst="rect">
            <a:avLst/>
          </a:prstGeom>
          <a:ln w="19050">
            <a:solidFill>
              <a:srgbClr val="445684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Исходные данные реакторной установки: тепловая мощность 2,75 МВт, температура на входе в турбину 715°C, давление 30 МПа.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" y="3643970"/>
            <a:ext cx="47148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9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Одноконтурные схемы – применение различных теплоносителей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30487"/>
              </p:ext>
            </p:extLst>
          </p:nvPr>
        </p:nvGraphicFramePr>
        <p:xfrm>
          <a:off x="7188128" y="1387735"/>
          <a:ext cx="4648604" cy="1754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151"/>
                <a:gridCol w="1162151"/>
                <a:gridCol w="1162151"/>
                <a:gridCol w="1162151"/>
              </a:tblGrid>
              <a:tr h="472043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Параметр/теплоноситель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Гелий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СО2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СКВ</a:t>
                      </a:r>
                      <a:endParaRPr lang="ru-RU" sz="1200" dirty="0"/>
                    </a:p>
                  </a:txBody>
                  <a:tcPr/>
                </a:tc>
              </a:tr>
              <a:tr h="275005">
                <a:tc>
                  <a:txBody>
                    <a:bodyPr/>
                    <a:lstStyle/>
                    <a:p>
                      <a:r>
                        <a:rPr lang="ru-RU" sz="1200" dirty="0" err="1" smtClean="0"/>
                        <a:t>Твх</a:t>
                      </a:r>
                      <a:r>
                        <a:rPr lang="ru-RU" sz="1200" baseline="0" dirty="0" smtClean="0"/>
                        <a:t> </a:t>
                      </a:r>
                      <a:r>
                        <a:rPr lang="ru-RU" sz="1200" dirty="0" smtClean="0"/>
                        <a:t>реактора</a:t>
                      </a:r>
                      <a:endParaRPr lang="ru-RU" sz="1200" dirty="0"/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450-</a:t>
                      </a:r>
                      <a:r>
                        <a:rPr lang="ru-RU" sz="1200" dirty="0" smtClean="0"/>
                        <a:t>640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480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350</a:t>
                      </a:r>
                      <a:endParaRPr lang="ru-RU" sz="1200" dirty="0"/>
                    </a:p>
                  </a:txBody>
                  <a:tcPr/>
                </a:tc>
              </a:tr>
              <a:tr h="275005">
                <a:tc>
                  <a:txBody>
                    <a:bodyPr/>
                    <a:lstStyle/>
                    <a:p>
                      <a:r>
                        <a:rPr lang="ru-RU" sz="1200" dirty="0" err="1" smtClean="0"/>
                        <a:t>Твых</a:t>
                      </a:r>
                      <a:r>
                        <a:rPr lang="ru-RU" sz="1200" baseline="0" dirty="0" smtClean="0"/>
                        <a:t> реактора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800-</a:t>
                      </a:r>
                      <a:r>
                        <a:rPr lang="ru-RU" sz="1200" dirty="0" smtClean="0"/>
                        <a:t>1000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800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625</a:t>
                      </a:r>
                      <a:endParaRPr lang="ru-RU" sz="1200" dirty="0"/>
                    </a:p>
                  </a:txBody>
                  <a:tcPr/>
                </a:tc>
              </a:tr>
              <a:tr h="36577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Давление, МПа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7-9 (15-20</a:t>
                      </a:r>
                      <a:r>
                        <a:rPr lang="ru-RU" sz="1200" baseline="0" dirty="0" smtClean="0"/>
                        <a:t> для БН)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20-30/8-10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25</a:t>
                      </a:r>
                      <a:endParaRPr lang="ru-RU" sz="1200" dirty="0"/>
                    </a:p>
                  </a:txBody>
                  <a:tcPr/>
                </a:tc>
              </a:tr>
              <a:tr h="275005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КПД, %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45-55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~</a:t>
                      </a:r>
                      <a:r>
                        <a:rPr lang="ru-RU" sz="1200" dirty="0" smtClean="0"/>
                        <a:t>45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smtClean="0"/>
                        <a:t>45-59(брутто)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Picture 4" descr=" Схематическое изображение сверхкритического ядерного реактора с водяным теплоносителем (СКВЯТ)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64" y="3334039"/>
            <a:ext cx="3261722" cy="265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1052885" y="895302"/>
            <a:ext cx="1727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 smtClean="0">
                <a:solidFill>
                  <a:srgbClr val="445684"/>
                </a:solidFill>
              </a:rPr>
              <a:t>ВТГР гелий/СО2</a:t>
            </a:r>
            <a:endParaRPr lang="ru-RU" u="sng" dirty="0">
              <a:solidFill>
                <a:srgbClr val="445684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399943" y="3136384"/>
            <a:ext cx="1075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 smtClean="0">
                <a:solidFill>
                  <a:srgbClr val="445684"/>
                </a:solidFill>
              </a:rPr>
              <a:t>СКВ вода</a:t>
            </a:r>
            <a:endParaRPr lang="ru-RU" u="sng" dirty="0">
              <a:solidFill>
                <a:srgbClr val="445684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365411" y="826358"/>
            <a:ext cx="1061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 smtClean="0">
                <a:solidFill>
                  <a:srgbClr val="445684"/>
                </a:solidFill>
              </a:rPr>
              <a:t>БН гелий</a:t>
            </a:r>
            <a:endParaRPr lang="ru-RU" u="sng" dirty="0">
              <a:solidFill>
                <a:srgbClr val="445684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7418561" y="913109"/>
            <a:ext cx="4177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Параметры теплоносителей в реакторе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3781612" y="4318477"/>
            <a:ext cx="81246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Одноконтурные схемы в своем большинстве выполнены в виде цикла Брайтона с повторным сжатием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Температура на выходе из реактора зависит от типа реактора и выбранного теплоносителя (из анализа источников: ВТГР – 800-850, ГБНР – 800-100)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Одноконтурные схемы на сверхкритической воде ограничены температурой на выходе из реактора 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783520" y="3949145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Основные выводы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691031" y="3949145"/>
            <a:ext cx="8305800" cy="219448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9" y="1306432"/>
            <a:ext cx="3745024" cy="175913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612" y="1478515"/>
            <a:ext cx="3406516" cy="185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336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NO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NO" id="{8903D020-7EF2-42BE-9BE1-9E74049EAE9E}" vid="{44B0FAE3-C4EA-49CF-9B77-8603680FD34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4669</TotalTime>
  <Words>2692</Words>
  <Application>Microsoft Office PowerPoint</Application>
  <PresentationFormat>Широкоэкранный</PresentationFormat>
  <Paragraphs>537</Paragraphs>
  <Slides>20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Arial</vt:lpstr>
      <vt:lpstr>Arial AMU Regular</vt:lpstr>
      <vt:lpstr>calibri</vt:lpstr>
      <vt:lpstr>calibri</vt:lpstr>
      <vt:lpstr>Calibri Light</vt:lpstr>
      <vt:lpstr>Cambria Math</vt:lpstr>
      <vt:lpstr>Geologica Light</vt:lpstr>
      <vt:lpstr>quote-cjk-patch</vt:lpstr>
      <vt:lpstr>Times New Roman</vt:lpstr>
      <vt:lpstr>Тема Office</vt:lpstr>
      <vt:lpstr>ITNO</vt:lpstr>
      <vt:lpstr>Презентация PowerPoint</vt:lpstr>
      <vt:lpstr>Содержание</vt:lpstr>
      <vt:lpstr>Актуальность использования sCO2</vt:lpstr>
      <vt:lpstr>Ключевое преимущество СО2 – снижение работы сжатия </vt:lpstr>
      <vt:lpstr>Ключевой недостаток – удорожание рекуператоров</vt:lpstr>
      <vt:lpstr> Материалы и деградация в sCO₂-цикле</vt:lpstr>
      <vt:lpstr>В каких циклах можно использовать СО2?</vt:lpstr>
      <vt:lpstr>Презентация PowerPoint</vt:lpstr>
      <vt:lpstr>Презентация PowerPoint</vt:lpstr>
      <vt:lpstr>Влияние начальных и оптимизационных параметров на эффективность</vt:lpstr>
      <vt:lpstr>Постановка задачи моделирования первого режима (рекомпрессия)</vt:lpstr>
      <vt:lpstr>Параметры расчетной сетки рекомпрессионной схемы</vt:lpstr>
      <vt:lpstr>Постановка задачи моделирования (рекуперация)</vt:lpstr>
      <vt:lpstr>Презентация PowerPoint</vt:lpstr>
      <vt:lpstr>Постановка задачи моделирования (теплофикация)</vt:lpstr>
      <vt:lpstr>Методика моделирования СО2 цикла</vt:lpstr>
      <vt:lpstr>Выводы</vt:lpstr>
      <vt:lpstr>Презентация PowerPoint</vt:lpstr>
      <vt:lpstr>Выбор оптимального термодинамического цикла</vt:lpstr>
      <vt:lpstr>Одноконтурные схемы – применение различных теплоносителей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Калугина Ксения Фаиковна</dc:creator>
  <cp:lastModifiedBy>Калугина Ксения Фаиковна</cp:lastModifiedBy>
  <cp:revision>871</cp:revision>
  <dcterms:created xsi:type="dcterms:W3CDTF">2026-07-06T07:17:53Z</dcterms:created>
  <dcterms:modified xsi:type="dcterms:W3CDTF">2026-07-28T07:04:05Z</dcterms:modified>
</cp:coreProperties>
</file>