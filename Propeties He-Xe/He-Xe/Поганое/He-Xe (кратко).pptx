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99" r:id="rId2"/>
    <p:sldId id="29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45684"/>
    <a:srgbClr val="70AD47"/>
    <a:srgbClr val="523BA3"/>
    <a:srgbClr val="17F8F8"/>
    <a:srgbClr val="FF3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144" y="102"/>
      </p:cViewPr>
      <p:guideLst>
        <p:guide orient="horz" pos="2047"/>
        <p:guide pos="388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BE964-8D4B-4051-88B6-C41C4AC1AFA9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D016-9A0B-40D0-9BB2-D06F7099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6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58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="" xmlns:a16="http://schemas.microsoft.com/office/drawing/2014/main" id="{6BD80F16-0C0C-45EB-3773-2B1A97D9E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25450"/>
            <a:ext cx="12192000" cy="1325563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algn="ctr">
              <a:spcBef>
                <a:spcPts val="600"/>
              </a:spcBef>
            </a:pP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Название дисциплины</a:t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Тема занятия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6A781CB9-25B3-0F7D-BF51-8A1D0D3D7B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36B493AB-7287-D4D0-5D86-B7DB8F0BD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4188" y="5159141"/>
            <a:ext cx="4087812" cy="952901"/>
          </a:xfrm>
        </p:spPr>
        <p:txBody>
          <a:bodyPr>
            <a:noAutofit/>
          </a:bodyPr>
          <a:lstStyle>
            <a:lvl1pPr>
              <a:defRPr lang="en-US" sz="20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ru-RU" dirty="0"/>
              <a:t>Иванов И.И. Старший преподаватель ИТНО Лекция 1_01.09.2022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5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>
            <a:extLst>
              <a:ext uri="{FF2B5EF4-FFF2-40B4-BE49-F238E27FC236}">
                <a16:creationId xmlns="" xmlns:a16="http://schemas.microsoft.com/office/drawing/2014/main" id="{7F9103FD-BBAE-6AB4-FA3D-2654D39C7F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="" xmlns:a16="http://schemas.microsoft.com/office/drawing/2014/main" id="{C56CF550-32BB-8D78-ED4B-3AA24A3A0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1963554"/>
            <a:ext cx="12192001" cy="2993457"/>
          </a:xfr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indent="0">
              <a:defRPr lang="en-US" sz="3200" dirty="0" smtClean="0">
                <a:solidFill>
                  <a:srgbClr val="44568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ru-RU" dirty="0"/>
              <a:t>Заключительный слайд с дополнительной информацией, например, списком источников, контактными данными (при необходимости)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l="-1000" t="-100" r="-100" b="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1638" y="100453"/>
            <a:ext cx="10641530" cy="480131"/>
          </a:xfrm>
          <a:noFill/>
        </p:spPr>
        <p:txBody>
          <a:bodyPr wrap="square" rtlCol="0">
            <a:spAutoFit/>
          </a:bodyPr>
          <a:lstStyle>
            <a:lvl1pPr>
              <a:defRPr lang="ru-RU" sz="2800" dirty="0">
                <a:solidFill>
                  <a:srgbClr val="445684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Заголовок слайда: шрифт </a:t>
            </a:r>
            <a:r>
              <a:rPr lang="ru-RU" dirty="0" err="1"/>
              <a:t>Calibri</a:t>
            </a:r>
            <a:r>
              <a:rPr lang="ru-RU" dirty="0"/>
              <a:t> Light (Заголовки)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1638" y="1045979"/>
            <a:ext cx="10515600" cy="483004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228600" indent="0">
              <a:buNone/>
              <a:defRPr lang="en-US" sz="20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85800" indent="0">
              <a:buNone/>
              <a:defRPr lang="en-US" sz="18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43000" indent="0">
              <a:buNone/>
              <a:defRPr lang="en-US" sz="16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600200" indent="0">
              <a:buNone/>
              <a:defRPr lang="ru-RU" sz="1600" kern="1200" dirty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lvl="0"/>
            <a:r>
              <a:rPr lang="ru-RU" dirty="0"/>
              <a:t>Текст презентации: шрифт </a:t>
            </a:r>
            <a:r>
              <a:rPr lang="ru-RU" dirty="0" err="1"/>
              <a:t>Calibri</a:t>
            </a:r>
            <a:r>
              <a:rPr lang="ru-RU" dirty="0"/>
              <a:t> Light, рекомендуемый размер шрифта 20-22 пт., старайтесь придерживаться границ текста (рамка, в которой находится настоящий текст), рекомендуемый цвет текста: индиго (#445684), черный (#000000) </a:t>
            </a:r>
          </a:p>
          <a:p>
            <a:pPr marL="0" lvl="0"/>
            <a:r>
              <a:rPr lang="ru-RU" dirty="0"/>
              <a:t>При необходимости используйте:</a:t>
            </a:r>
          </a:p>
          <a:p>
            <a:pPr marL="0" lvl="0"/>
            <a:r>
              <a:rPr lang="ru-RU" dirty="0"/>
              <a:t>- цвет;</a:t>
            </a:r>
          </a:p>
          <a:p>
            <a:pPr marL="0" lvl="0"/>
            <a:r>
              <a:rPr lang="ru-RU" dirty="0"/>
              <a:t>- подчеркивание;</a:t>
            </a:r>
          </a:p>
          <a:p>
            <a:pPr marL="0" lvl="0"/>
            <a:r>
              <a:rPr lang="ru-RU" dirty="0"/>
              <a:t>- жирный шрифт;</a:t>
            </a:r>
          </a:p>
          <a:p>
            <a:pPr marL="0" lvl="0"/>
            <a:r>
              <a:rPr lang="ru-RU" dirty="0"/>
              <a:t>- встроенные таблицы, фигуры, диаграммы, формулы;</a:t>
            </a:r>
          </a:p>
          <a:p>
            <a:pPr marL="0" lvl="0"/>
            <a:r>
              <a:rPr lang="ru-RU" dirty="0"/>
              <a:t>- бесплатные/собственные иконки и рисунки.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957110" y="6433353"/>
            <a:ext cx="2743200" cy="365125"/>
          </a:xfrm>
        </p:spPr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09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9" name="Текст 34">
            <a:extLst>
              <a:ext uri="{FF2B5EF4-FFF2-40B4-BE49-F238E27FC236}">
                <a16:creationId xmlns="" xmlns:a16="http://schemas.microsoft.com/office/drawing/2014/main" id="{64D3E3AE-F380-4D6C-A5D2-1A37DFFB05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2536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="" xmlns:a16="http://schemas.microsoft.com/office/drawing/2014/main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11" name="Текст 2">
            <a:extLst>
              <a:ext uri="{FF2B5EF4-FFF2-40B4-BE49-F238E27FC236}">
                <a16:creationId xmlns="" xmlns:a16="http://schemas.microsoft.com/office/drawing/2014/main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="" xmlns:a16="http://schemas.microsoft.com/office/drawing/2014/main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>
                <a:solidFill>
                  <a:srgbClr val="A5A5A5"/>
                </a:solidFill>
                <a:latin typeface="Calibri Light" panose="020F0302020204030204"/>
              </a:rPr>
              <a:pPr algn="ctr"/>
              <a:t>17.08.2026</a:t>
            </a:fld>
            <a:endParaRPr lang="ru-RU" sz="1600" dirty="0">
              <a:solidFill>
                <a:srgbClr val="A5A5A5"/>
              </a:solidFill>
              <a:latin typeface="Calibri Light" panose="020F0302020204030204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="" xmlns:a16="http://schemas.microsoft.com/office/drawing/2014/main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19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E4BFD050-F92D-4410-96C2-0650839AE4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76615"/>
            <a:ext cx="10709754" cy="0"/>
          </a:xfrm>
          <a:prstGeom prst="line">
            <a:avLst/>
          </a:prstGeom>
          <a:ln w="38100">
            <a:solidFill>
              <a:srgbClr val="4456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="" xmlns:a16="http://schemas.microsoft.com/office/drawing/2014/main" id="{412F797A-B27A-4213-8D4D-3FD3BA69CF13}"/>
              </a:ext>
            </a:extLst>
          </p:cNvPr>
          <p:cNvCxnSpPr>
            <a:cxnSpLocks/>
          </p:cNvCxnSpPr>
          <p:nvPr userDrawn="1"/>
        </p:nvCxnSpPr>
        <p:spPr>
          <a:xfrm>
            <a:off x="0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="" xmlns:a16="http://schemas.microsoft.com/office/drawing/2014/main" id="{D012AF07-231B-45D8-ADFE-E2D2F1AF43B4}"/>
              </a:ext>
            </a:extLst>
          </p:cNvPr>
          <p:cNvCxnSpPr/>
          <p:nvPr userDrawn="1"/>
        </p:nvCxnSpPr>
        <p:spPr>
          <a:xfrm>
            <a:off x="8945671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871A70B7-2E90-45B9-BC45-EF1C684F5A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0FA73BE-1C83-44B0-AABC-599ABACD9BBB}"/>
              </a:ext>
            </a:extLst>
          </p:cNvPr>
          <p:cNvSpPr txBox="1"/>
          <p:nvPr userDrawn="1"/>
        </p:nvSpPr>
        <p:spPr>
          <a:xfrm>
            <a:off x="10979297" y="638480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9CAE8D2-C71E-42CE-BC50-0B7E2A8D8A9F}" type="slidenum">
              <a:rPr lang="ru-RU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="" xmlns:a16="http://schemas.microsoft.com/office/drawing/2014/main" id="{478E3E56-BE62-4607-A5BD-3C151BDB82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80669"/>
            <a:ext cx="10253759" cy="476248"/>
          </a:xfrm>
          <a:prstGeom prst="rect">
            <a:avLst/>
          </a:prstGeom>
          <a:noFill/>
        </p:spPr>
        <p:txBody>
          <a:bodyPr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ru-RU" sz="2800" dirty="0">
                <a:solidFill>
                  <a:srgbClr val="445684"/>
                </a:solidFill>
                <a:latin typeface="+mj-lt"/>
              </a:rPr>
              <a:t>Заголовок слайда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="" xmlns:a16="http://schemas.microsoft.com/office/drawing/2014/main" id="{C31B5DB4-F3F6-4705-BF12-B3564C4049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612" y="1136946"/>
            <a:ext cx="11307763" cy="4767827"/>
          </a:xfrm>
          <a:prstGeom prst="rect">
            <a:avLst/>
          </a:prstGeom>
          <a:noFill/>
        </p:spPr>
        <p:txBody>
          <a:bodyPr/>
          <a:lstStyle>
            <a:lvl1pPr>
              <a:defRPr sz="22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Основное 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769608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76B-96CA-47F0-9F84-DA9635962C0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17.08.2026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800" dirty="0" smtClean="0">
                <a:solidFill>
                  <a:srgbClr val="445684"/>
                </a:solidFill>
                <a:latin typeface="Calibri" panose="020F0502020204030204"/>
              </a:rPr>
              <a:t>Разработанная тепловая схема </a:t>
            </a:r>
            <a:r>
              <a:rPr lang="ru-RU" sz="1800" dirty="0">
                <a:solidFill>
                  <a:srgbClr val="445684"/>
                </a:solidFill>
                <a:latin typeface="Calibri" panose="020F0502020204030204"/>
              </a:rPr>
              <a:t>АСММ на базе </a:t>
            </a:r>
            <a:r>
              <a:rPr lang="ru-RU" sz="1800" dirty="0" smtClean="0">
                <a:solidFill>
                  <a:srgbClr val="445684"/>
                </a:solidFill>
                <a:latin typeface="Calibri" panose="020F0502020204030204"/>
              </a:rPr>
              <a:t>гелий-ксенонового </a:t>
            </a:r>
            <a:r>
              <a:rPr lang="ru-RU" sz="1800" dirty="0">
                <a:solidFill>
                  <a:srgbClr val="445684"/>
                </a:solidFill>
                <a:latin typeface="Calibri" panose="020F0502020204030204"/>
              </a:rPr>
              <a:t>цикла Брайтона с раздельным производством электрической и тепловой мощности</a:t>
            </a:r>
            <a:endParaRPr lang="ru-RU" dirty="0">
              <a:solidFill>
                <a:srgbClr val="445684"/>
              </a:solidFill>
              <a:latin typeface="+mn-lt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49783" y="941139"/>
            <a:ext cx="5509376" cy="7130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758628" y="930929"/>
            <a:ext cx="4774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rgbClr val="445684"/>
                </a:solidFill>
              </a:rPr>
              <a:t>Тепловая </a:t>
            </a:r>
            <a:r>
              <a:rPr lang="ru-RU" b="1" dirty="0">
                <a:solidFill>
                  <a:srgbClr val="445684"/>
                </a:solidFill>
              </a:rPr>
              <a:t>схема АСММ на базе </a:t>
            </a:r>
            <a:r>
              <a:rPr lang="ru-RU" b="1" dirty="0" smtClean="0">
                <a:solidFill>
                  <a:srgbClr val="445684"/>
                </a:solidFill>
              </a:rPr>
              <a:t>гелий-ксенонового </a:t>
            </a:r>
            <a:r>
              <a:rPr lang="ru-RU" b="1" dirty="0">
                <a:solidFill>
                  <a:srgbClr val="445684"/>
                </a:solidFill>
              </a:rPr>
              <a:t>цикла Брайтона с </a:t>
            </a:r>
            <a:r>
              <a:rPr lang="ru-RU" b="1" dirty="0" smtClean="0">
                <a:solidFill>
                  <a:srgbClr val="445684"/>
                </a:solidFill>
              </a:rPr>
              <a:t>рекуперацией</a:t>
            </a:r>
            <a:endParaRPr lang="ru-RU" b="1" dirty="0">
              <a:solidFill>
                <a:srgbClr val="445684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65562" y="5682476"/>
            <a:ext cx="5781937" cy="924956"/>
          </a:xfrm>
          <a:prstGeom prst="roundRect">
            <a:avLst/>
          </a:prstGeom>
          <a:noFill/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493846" y="5682476"/>
            <a:ext cx="546531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B05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I</a:t>
            </a:r>
            <a:r>
              <a:rPr lang="ru-RU" sz="1400" dirty="0" smtClean="0">
                <a:solidFill>
                  <a:srgbClr val="445684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 – </a:t>
            </a:r>
            <a:r>
              <a:rPr lang="ru-RU" sz="1400" dirty="0">
                <a:solidFill>
                  <a:srgbClr val="445684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теплофикационный контур с </a:t>
            </a:r>
            <a:r>
              <a:rPr lang="ru-RU" sz="1400" dirty="0" smtClean="0">
                <a:solidFill>
                  <a:srgbClr val="445684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гелий-ксеноном </a:t>
            </a:r>
            <a:r>
              <a:rPr lang="ru-RU" sz="1400" dirty="0">
                <a:solidFill>
                  <a:srgbClr val="445684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для отпуска тепла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II</a:t>
            </a:r>
            <a:r>
              <a:rPr lang="ru-RU" sz="1400" dirty="0" smtClean="0">
                <a:solidFill>
                  <a:srgbClr val="445684"/>
                </a:solidFill>
                <a:latin typeface="Adobe Hebrew" panose="02040503050201020203" pitchFamily="18" charset="-79"/>
                <a:cs typeface="Adobe Hebrew" panose="02040503050201020203" pitchFamily="18" charset="-79"/>
              </a:rPr>
              <a:t> – контур цикла рекуперативного цикла Брайтона на гелий-ксеноне для отпуска электроэнергии</a:t>
            </a:r>
          </a:p>
          <a:p>
            <a:endParaRPr lang="ru-RU" sz="14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6256392" y="1030368"/>
            <a:ext cx="5819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Режим 1: Отпуск электрической мощности(без тепловой)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6324284" y="3555418"/>
            <a:ext cx="58196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Режим 2: Отпуск тепловой мощности(без электрической)</a:t>
            </a:r>
            <a:endParaRPr lang="ru-RU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256392" y="1026058"/>
            <a:ext cx="5734022" cy="37364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342040" y="3555418"/>
            <a:ext cx="5734022" cy="37364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01" y="1720450"/>
            <a:ext cx="5265402" cy="3885093"/>
          </a:xfrm>
          <a:prstGeom prst="rect">
            <a:avLst/>
          </a:prstGeom>
        </p:spPr>
      </p:pic>
      <p:sp>
        <p:nvSpPr>
          <p:cNvPr id="27" name="Прямоугольник 26"/>
          <p:cNvSpPr/>
          <p:nvPr/>
        </p:nvSpPr>
        <p:spPr>
          <a:xfrm>
            <a:off x="6168048" y="146661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solidFill>
                  <a:srgbClr val="445684"/>
                </a:solidFill>
              </a:rPr>
              <a:t>Генерация электрической мощности реализована на основе рекуперативного цикла Брайтона с рабочим телом – гелий-ксеноновой смесью, отбираемой непосредственно из реактора. Переключение потоков осуществляется запорно-регулирующей арматурой: задвижки № 3 и № 4 открыты, № 1 и № 2 закрыты. Рабочее тело после совершения работы в турбине возвращается в реакторную установку.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6256392" y="4082851"/>
            <a:ext cx="581967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445684"/>
                </a:solidFill>
              </a:rPr>
              <a:t>Генерация </a:t>
            </a:r>
            <a:r>
              <a:rPr lang="ru-RU" sz="1600" dirty="0">
                <a:solidFill>
                  <a:srgbClr val="445684"/>
                </a:solidFill>
              </a:rPr>
              <a:t>тепловой мощности реализована в теплофикационном контуре. Теплоноситель первого контура (гелий-ксеноновая смесь) из реактора направляется в теплообменник ТО2 для передачи тепла в теплофикационный контур. Переключение потоков осуществляется запорно-регулирующей арматурой: задвижки № 1 и № 2 открыты, № 3 и № 4 закрыты. После передачи тепла теплоноситель первого контура возвращается в реакторную установку.</a:t>
            </a:r>
          </a:p>
        </p:txBody>
      </p:sp>
    </p:spTree>
    <p:extLst>
      <p:ext uri="{BB962C8B-B14F-4D97-AF65-F5344CB8AC3E}">
        <p14:creationId xmlns:p14="http://schemas.microsoft.com/office/powerpoint/2010/main" val="422831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404" y="179283"/>
            <a:ext cx="10641530" cy="480131"/>
          </a:xfrm>
        </p:spPr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(рекуперация </a:t>
            </a:r>
            <a:r>
              <a:rPr lang="en-US" dirty="0" smtClean="0">
                <a:latin typeface="+mn-lt"/>
              </a:rPr>
              <a:t>He-</a:t>
            </a:r>
            <a:r>
              <a:rPr lang="en-US" dirty="0" err="1" smtClean="0">
                <a:latin typeface="+mn-lt"/>
              </a:rPr>
              <a:t>Xe</a:t>
            </a:r>
            <a:r>
              <a:rPr lang="ru-RU" dirty="0" smtClean="0">
                <a:latin typeface="+mn-lt"/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331481" y="1075707"/>
            <a:ext cx="30267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b="1" u="sng" dirty="0" smtClean="0">
                <a:solidFill>
                  <a:srgbClr val="445684"/>
                </a:solidFill>
              </a:rPr>
              <a:t>Табл.1 – Фиксированные параметры</a:t>
            </a:r>
            <a:r>
              <a:rPr lang="en-US" sz="1000" b="1" u="sng" dirty="0" smtClean="0">
                <a:solidFill>
                  <a:srgbClr val="445684"/>
                </a:solidFill>
              </a:rPr>
              <a:t> </a:t>
            </a:r>
            <a:r>
              <a:rPr lang="ru-RU" sz="1000" b="1" u="sng" dirty="0" smtClean="0">
                <a:solidFill>
                  <a:srgbClr val="445684"/>
                </a:solidFill>
              </a:rPr>
              <a:t>оптимизации</a:t>
            </a:r>
            <a:endParaRPr lang="ru-RU" sz="1000" b="1" u="sng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81822"/>
              </p:ext>
            </p:extLst>
          </p:nvPr>
        </p:nvGraphicFramePr>
        <p:xfrm>
          <a:off x="487404" y="1322770"/>
          <a:ext cx="568190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532"/>
                <a:gridCol w="1014370"/>
              </a:tblGrid>
              <a:tr h="233298"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Параметр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Значение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Тепловая мощность реактора, МВт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2.75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Температура на выходе из реактора, </a:t>
                      </a:r>
                      <a:r>
                        <a:rPr lang="ru-RU" sz="1000" dirty="0" smtClean="0">
                          <a:effectLst/>
                        </a:rPr>
                        <a:t>°</a:t>
                      </a:r>
                      <a:r>
                        <a:rPr lang="en-US" sz="1000" dirty="0" smtClean="0">
                          <a:effectLst/>
                        </a:rPr>
                        <a:t>C</a:t>
                      </a:r>
                      <a:endParaRPr lang="en-US" sz="10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1060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Температура перед компрессором, </a:t>
                      </a:r>
                      <a:r>
                        <a:rPr lang="ru-RU" sz="1000" dirty="0" smtClean="0">
                          <a:effectLst/>
                        </a:rPr>
                        <a:t>°</a:t>
                      </a:r>
                      <a:r>
                        <a:rPr lang="en-US" sz="1000" dirty="0" smtClean="0">
                          <a:effectLst/>
                        </a:rPr>
                        <a:t>C</a:t>
                      </a:r>
                      <a:endParaRPr lang="en-US" sz="10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35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Минимальная температура в точке </a:t>
                      </a:r>
                      <a:r>
                        <a:rPr lang="ru-RU" sz="1000" baseline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пинча</a:t>
                      </a:r>
                      <a:r>
                        <a:rPr lang="en-US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000" dirty="0" smtClean="0">
                          <a:effectLst/>
                        </a:rPr>
                        <a:t>°</a:t>
                      </a:r>
                      <a:r>
                        <a:rPr lang="en-US" sz="1000" dirty="0" smtClean="0">
                          <a:effectLst/>
                        </a:rPr>
                        <a:t>C</a:t>
                      </a:r>
                      <a:endParaRPr lang="en-US" sz="10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5</a:t>
                      </a:r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в рекуператоре</a:t>
                      </a:r>
                      <a:r>
                        <a:rPr lang="en-US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4.553</a:t>
                      </a:r>
                      <a:endParaRPr lang="ru-RU" sz="1000" dirty="0" smtClean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в реакторе</a:t>
                      </a:r>
                      <a:r>
                        <a:rPr lang="en-US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0.0364</a:t>
                      </a:r>
                      <a:endParaRPr lang="ru-RU" sz="1000" dirty="0" smtClean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в охладителе</a:t>
                      </a:r>
                      <a:r>
                        <a:rPr lang="en-US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/>
                        <a:t>0.497</a:t>
                      </a:r>
                      <a:endParaRPr lang="ru-RU" sz="1000" dirty="0" smtClean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турбины, %</a:t>
                      </a:r>
                      <a:endParaRPr lang="en-US" sz="10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90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компрессора, %</a:t>
                      </a:r>
                      <a:endParaRPr lang="en-US" sz="10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 smtClean="0"/>
                        <a:t>83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0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контура</a:t>
                      </a:r>
                      <a:endParaRPr lang="en-US" sz="10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He-</a:t>
                      </a:r>
                      <a:r>
                        <a:rPr lang="en-US" sz="1000" dirty="0" err="1" smtClean="0"/>
                        <a:t>Xe</a:t>
                      </a:r>
                      <a:endParaRPr lang="ru-RU" sz="1000" dirty="0"/>
                    </a:p>
                  </a:txBody>
                  <a:tcPr/>
                </a:tc>
              </a:tr>
              <a:tr h="233298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Молярная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 масса смеси, г/моль (мольная доля </a:t>
                      </a:r>
                      <a:r>
                        <a:rPr lang="en-US" sz="1000" b="0" baseline="0" dirty="0" err="1" smtClean="0">
                          <a:effectLst/>
                          <a:latin typeface="+mn-lt"/>
                        </a:rPr>
                        <a:t>Xe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)</a:t>
                      </a:r>
                      <a:endParaRPr lang="ru-RU" sz="1000" b="0" dirty="0" smtClean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40</a:t>
                      </a:r>
                      <a:r>
                        <a:rPr lang="en-US" sz="1000" baseline="0" dirty="0" smtClean="0"/>
                        <a:t> (0.283)</a:t>
                      </a:r>
                      <a:endParaRPr lang="ru-RU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7312570" y="1075706"/>
            <a:ext cx="43877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b="1" u="sng" dirty="0" smtClean="0">
                <a:solidFill>
                  <a:srgbClr val="445684"/>
                </a:solidFill>
              </a:rPr>
              <a:t>Табл.3 </a:t>
            </a:r>
            <a:r>
              <a:rPr lang="ru-RU" sz="1000" b="1" u="sng" dirty="0" smtClean="0">
                <a:solidFill>
                  <a:srgbClr val="445684"/>
                </a:solidFill>
              </a:rPr>
              <a:t>– Варьируемые параметры </a:t>
            </a:r>
            <a:r>
              <a:rPr lang="ru-RU" sz="1000" b="1" u="sng" dirty="0" smtClean="0">
                <a:solidFill>
                  <a:srgbClr val="445684"/>
                </a:solidFill>
              </a:rPr>
              <a:t>оптимизации анализа чувствительности</a:t>
            </a:r>
            <a:endParaRPr lang="ru-RU" sz="1000" b="1" u="sng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79424"/>
              </p:ext>
            </p:extLst>
          </p:nvPr>
        </p:nvGraphicFramePr>
        <p:xfrm>
          <a:off x="491497" y="4644339"/>
          <a:ext cx="5669079" cy="120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550"/>
                <a:gridCol w="1392504"/>
                <a:gridCol w="721635"/>
                <a:gridCol w="1007390"/>
              </a:tblGrid>
              <a:tr h="247887"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Параметр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Диапазон</a:t>
                      </a:r>
                      <a:endParaRPr lang="ru-RU" sz="10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Шаг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Кол-во точек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Давление на входе в </a:t>
                      </a:r>
                      <a:r>
                        <a:rPr lang="ru-RU" sz="1000" dirty="0" smtClean="0">
                          <a:effectLst/>
                        </a:rPr>
                        <a:t>турбину​</a:t>
                      </a:r>
                      <a:r>
                        <a:rPr lang="ru-RU" sz="1000" dirty="0">
                          <a:effectLst/>
                        </a:rPr>
                        <a:t>, МПа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3-5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0.1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21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Давление на выходе из </a:t>
                      </a:r>
                      <a:r>
                        <a:rPr lang="ru-RU" sz="1000" dirty="0" smtClean="0">
                          <a:effectLst/>
                        </a:rPr>
                        <a:t>турбины​</a:t>
                      </a:r>
                      <a:r>
                        <a:rPr lang="ru-RU" sz="1000" dirty="0">
                          <a:effectLst/>
                        </a:rPr>
                        <a:t>, МПа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smtClean="0">
                          <a:effectLst/>
                          <a:latin typeface="+mn-lt"/>
                        </a:rPr>
                        <a:t>1-3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0</a:t>
                      </a:r>
                      <a:r>
                        <a:rPr lang="en-US" sz="1000" smtClean="0">
                          <a:effectLst/>
                        </a:rPr>
                        <a:t>.1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21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 на входе в реактор, </a:t>
                      </a:r>
                      <a:r>
                        <a:rPr lang="ru-RU" sz="1000" dirty="0" smtClean="0">
                          <a:effectLst/>
                        </a:rPr>
                        <a:t>°C</a:t>
                      </a:r>
                      <a:endParaRPr lang="ru-RU" sz="10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6</a:t>
                      </a:r>
                      <a:r>
                        <a:rPr lang="ru-RU" sz="1000" b="0" dirty="0" smtClean="0">
                          <a:effectLst/>
                          <a:latin typeface="+mn-lt"/>
                        </a:rPr>
                        <a:t>50-</a:t>
                      </a:r>
                      <a:r>
                        <a:rPr lang="en-US" sz="1000" b="0" dirty="0" smtClean="0">
                          <a:effectLst/>
                          <a:latin typeface="+mn-lt"/>
                        </a:rPr>
                        <a:t>80</a:t>
                      </a:r>
                      <a:r>
                        <a:rPr lang="ru-RU" sz="1000" b="0" dirty="0" smtClean="0">
                          <a:effectLst/>
                          <a:latin typeface="+mn-lt"/>
                        </a:rPr>
                        <a:t>0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7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18789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effectLst/>
                        </a:rPr>
                        <a:t>Общее количество точек оптимизации</a:t>
                      </a:r>
                      <a:endParaRPr lang="ru-RU" sz="1000" b="0" dirty="0" smtClean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0" dirty="0" smtClean="0">
                          <a:effectLst/>
                          <a:latin typeface="+mn-lt"/>
                        </a:rPr>
                        <a:t>4032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240989"/>
              </p:ext>
            </p:extLst>
          </p:nvPr>
        </p:nvGraphicFramePr>
        <p:xfrm>
          <a:off x="6866325" y="1321928"/>
          <a:ext cx="5080022" cy="155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373"/>
                <a:gridCol w="740779"/>
                <a:gridCol w="1169043"/>
                <a:gridCol w="902827"/>
              </a:tblGrid>
              <a:tr h="201205"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Параметр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Диапазон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Шаг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Кол-во точек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182140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КПД турбины </a:t>
                      </a:r>
                      <a:r>
                        <a:rPr lang="el-GR" sz="1000" dirty="0">
                          <a:effectLst/>
                        </a:rPr>
                        <a:t>η</a:t>
                      </a:r>
                      <a:r>
                        <a:rPr lang="en-US" sz="1000" baseline="-25000" dirty="0" smtClean="0">
                          <a:effectLst/>
                        </a:rPr>
                        <a:t>t</a:t>
                      </a:r>
                      <a:r>
                        <a:rPr lang="en-US" sz="1000" dirty="0" smtClean="0">
                          <a:effectLst/>
                        </a:rPr>
                        <a:t>​</a:t>
                      </a:r>
                      <a:r>
                        <a:rPr lang="en-US" sz="1000" dirty="0">
                          <a:effectLst/>
                        </a:rPr>
                        <a:t>, %</a:t>
                      </a:r>
                      <a:endParaRPr lang="en-US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85-95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2140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КПД компрессора </a:t>
                      </a:r>
                      <a:r>
                        <a:rPr lang="el-GR" sz="1000" dirty="0">
                          <a:effectLst/>
                        </a:rPr>
                        <a:t>η</a:t>
                      </a:r>
                      <a:r>
                        <a:rPr lang="en-US" sz="1000" baseline="-25000" dirty="0" smtClean="0">
                          <a:effectLst/>
                        </a:rPr>
                        <a:t>c</a:t>
                      </a:r>
                      <a:r>
                        <a:rPr lang="en-US" sz="1000" dirty="0" smtClean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%</a:t>
                      </a:r>
                      <a:endParaRPr lang="en-US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75-90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09694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Потери </a:t>
                      </a:r>
                      <a:r>
                        <a:rPr lang="ru-RU" sz="1000" dirty="0" smtClean="0">
                          <a:effectLst/>
                        </a:rPr>
                        <a:t>давления в рекуператоре</a:t>
                      </a: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Δ</a:t>
                      </a:r>
                      <a:r>
                        <a:rPr lang="en-US" sz="1000" dirty="0" smtClean="0">
                          <a:effectLst/>
                        </a:rPr>
                        <a:t>p</a:t>
                      </a:r>
                      <a:r>
                        <a:rPr lang="ru-RU" sz="1000" dirty="0" smtClean="0">
                          <a:effectLst/>
                        </a:rPr>
                        <a:t>, %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2-6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smtClean="0">
                          <a:effectLst/>
                          <a:latin typeface="+mn-lt"/>
                        </a:rPr>
                        <a:t>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>
                          <a:effectLst/>
                          <a:latin typeface="+mn-lt"/>
                        </a:rPr>
                        <a:t>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09694"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Минимальный температурный </a:t>
                      </a:r>
                      <a:r>
                        <a:rPr lang="ru-RU" sz="1000" dirty="0" smtClean="0">
                          <a:effectLst/>
                        </a:rPr>
                        <a:t>напор рекуператора в точке </a:t>
                      </a:r>
                      <a:r>
                        <a:rPr lang="ru-RU" sz="1000" dirty="0" err="1" smtClean="0">
                          <a:effectLst/>
                        </a:rPr>
                        <a:t>пинча</a:t>
                      </a:r>
                      <a:r>
                        <a:rPr lang="ru-RU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ΔT, </a:t>
                      </a:r>
                      <a:r>
                        <a:rPr lang="ru-RU" sz="1000" dirty="0">
                          <a:effectLst/>
                        </a:rPr>
                        <a:t>°C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5-15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rgbClr val="00B0F0"/>
                    </a:solidFill>
                  </a:tcPr>
                </a:tc>
              </a:tr>
              <a:tr h="1821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</a:rPr>
                        <a:t>Общее количество точек анализа</a:t>
                      </a:r>
                      <a:r>
                        <a:rPr lang="ru-RU" sz="1000" baseline="0" dirty="0" smtClean="0">
                          <a:effectLst/>
                        </a:rPr>
                        <a:t> чувствительности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dirty="0" smtClean="0">
                          <a:effectLst/>
                          <a:latin typeface="+mn-lt"/>
                        </a:rPr>
                        <a:t>18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1331481" y="4395546"/>
            <a:ext cx="289213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b="1" u="sng" dirty="0" smtClean="0">
                <a:solidFill>
                  <a:srgbClr val="445684"/>
                </a:solidFill>
              </a:rPr>
              <a:t>Табл.2 </a:t>
            </a:r>
            <a:r>
              <a:rPr lang="ru-RU" sz="1000" b="1" u="sng" dirty="0" smtClean="0">
                <a:solidFill>
                  <a:srgbClr val="445684"/>
                </a:solidFill>
              </a:rPr>
              <a:t>– Варьируемые </a:t>
            </a:r>
            <a:r>
              <a:rPr lang="ru-RU" sz="1000" b="1" u="sng" dirty="0" smtClean="0">
                <a:solidFill>
                  <a:srgbClr val="445684"/>
                </a:solidFill>
              </a:rPr>
              <a:t>параметры оптимизации</a:t>
            </a:r>
            <a:endParaRPr lang="ru-RU" sz="1000" b="1" u="sng" dirty="0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48583"/>
              </p:ext>
            </p:extLst>
          </p:nvPr>
        </p:nvGraphicFramePr>
        <p:xfrm>
          <a:off x="6876751" y="3550959"/>
          <a:ext cx="5033696" cy="173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48"/>
                <a:gridCol w="3940438"/>
                <a:gridCol w="821410"/>
              </a:tblGrid>
              <a:tr h="247887">
                <a:tc>
                  <a:txBody>
                    <a:bodyPr/>
                    <a:lstStyle/>
                    <a:p>
                      <a:pPr algn="l"/>
                      <a:r>
                        <a:rPr lang="ru-RU" sz="1000" dirty="0" smtClean="0">
                          <a:effectLst/>
                        </a:rPr>
                        <a:t>№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 smtClean="0">
                          <a:effectLst/>
                        </a:rPr>
                        <a:t>График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Кол-во точек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r>
                        <a:rPr lang="ru-RU" sz="1000" dirty="0" smtClean="0">
                          <a:effectLst/>
                        </a:rPr>
                        <a:t>1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и давления на выходе из турбины</a:t>
                      </a:r>
                      <a:endParaRPr lang="ru-RU" sz="1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336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r>
                        <a:rPr lang="ru-RU" sz="1000" dirty="0" smtClean="0">
                          <a:effectLst/>
                        </a:rPr>
                        <a:t>2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Зависимость КПД цикла от температуры на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 входе в реактор</a:t>
                      </a:r>
                      <a:endParaRPr lang="en-US" sz="10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smtClean="0">
                          <a:effectLst/>
                          <a:latin typeface="+mn-lt"/>
                        </a:rPr>
                        <a:t>150</a:t>
                      </a:r>
                      <a:endParaRPr lang="ru-RU" sz="10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Зависимость КПД цикла от температуры точки </a:t>
                      </a:r>
                      <a:r>
                        <a:rPr lang="ru-RU" sz="1000" b="0" baseline="0" dirty="0" err="1" smtClean="0">
                          <a:effectLst/>
                          <a:latin typeface="+mn-lt"/>
                        </a:rPr>
                        <a:t>пинча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 КПД цикла от потерь давления в рекуператоре</a:t>
                      </a:r>
                      <a:endParaRPr lang="en-US" sz="10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smtClean="0">
                          <a:effectLst/>
                          <a:latin typeface="+mn-lt"/>
                        </a:rPr>
                        <a:t>3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2478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effectLst/>
                          <a:latin typeface="+mn-lt"/>
                        </a:rPr>
                        <a:t>Карта чувствительности КПД цикла к изменению КПД турбины и компрессора</a:t>
                      </a:r>
                      <a:endParaRPr lang="en-US" sz="10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12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8519631" y="3324286"/>
            <a:ext cx="19736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b="1" u="sng" dirty="0" smtClean="0">
                <a:solidFill>
                  <a:srgbClr val="445684"/>
                </a:solidFill>
              </a:rPr>
              <a:t>Табл.4 – Необходимые графики</a:t>
            </a:r>
            <a:endParaRPr lang="ru-RU" sz="1000" b="1" u="sng" dirty="0"/>
          </a:p>
        </p:txBody>
      </p:sp>
    </p:spTree>
    <p:extLst>
      <p:ext uri="{BB962C8B-B14F-4D97-AF65-F5344CB8AC3E}">
        <p14:creationId xmlns:p14="http://schemas.microsoft.com/office/powerpoint/2010/main" val="3525625517"/>
      </p:ext>
    </p:extLst>
  </p:cSld>
  <p:clrMapOvr>
    <a:masterClrMapping/>
  </p:clrMapOvr>
</p:sld>
</file>

<file path=ppt/theme/theme1.xml><?xml version="1.0" encoding="utf-8"?>
<a:theme xmlns:a="http://schemas.openxmlformats.org/drawingml/2006/main" name="ITNO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NO" id="{8903D020-7EF2-42BE-9BE1-9E74049EAE9E}" vid="{44B0FAE3-C4EA-49CF-9B77-8603680FD34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6509</TotalTime>
  <Words>437</Words>
  <Application>Microsoft Office PowerPoint</Application>
  <PresentationFormat>Широкоэкранный</PresentationFormat>
  <Paragraphs>97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Adobe Hebrew</vt:lpstr>
      <vt:lpstr>Arial</vt:lpstr>
      <vt:lpstr>Calibri</vt:lpstr>
      <vt:lpstr>Calibri Light</vt:lpstr>
      <vt:lpstr>quote-cjk-patch</vt:lpstr>
      <vt:lpstr>Times New Roman</vt:lpstr>
      <vt:lpstr>ITNO</vt:lpstr>
      <vt:lpstr>Презентация PowerPoint</vt:lpstr>
      <vt:lpstr>Постановка задачи моделирования (рекуперация He-Xe)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Калугина Ксения Фаиковна</dc:creator>
  <cp:lastModifiedBy>Student</cp:lastModifiedBy>
  <cp:revision>1262</cp:revision>
  <dcterms:created xsi:type="dcterms:W3CDTF">2026-07-06T07:17:53Z</dcterms:created>
  <dcterms:modified xsi:type="dcterms:W3CDTF">2026-08-17T12:48:37Z</dcterms:modified>
</cp:coreProperties>
</file>