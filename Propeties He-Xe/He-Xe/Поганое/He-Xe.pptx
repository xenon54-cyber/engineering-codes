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0"/>
  </p:notesMasterIdLst>
  <p:sldIdLst>
    <p:sldId id="257" r:id="rId3"/>
    <p:sldId id="269" r:id="rId4"/>
    <p:sldId id="259" r:id="rId5"/>
    <p:sldId id="275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684"/>
    <a:srgbClr val="FF6600"/>
    <a:srgbClr val="70AD47"/>
    <a:srgbClr val="C00000"/>
    <a:srgbClr val="523BA3"/>
    <a:srgbClr val="17F8F8"/>
    <a:srgbClr val="FF3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92" y="54"/>
      </p:cViewPr>
      <p:guideLst>
        <p:guide orient="horz" pos="2092"/>
        <p:guide pos="3885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BE964-8D4B-4051-88B6-C41C4AC1AFA9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3D016-9A0B-40D0-9BB2-D06F7099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16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 - https://www.sciencedirect.com/science/article/pii/S0360544218310065</a:t>
            </a:r>
            <a:endParaRPr lang="ru-RU" dirty="0" smtClean="0"/>
          </a:p>
          <a:p>
            <a:r>
              <a:rPr lang="en-US" dirty="0" smtClean="0"/>
              <a:t>[2] - https://naked-science.ru/article/tech/v-ssha-predstavili-2</a:t>
            </a:r>
          </a:p>
          <a:p>
            <a:r>
              <a:rPr lang="en-US" dirty="0" smtClean="0"/>
              <a:t>[4] - https://www.sciencedirect.com/science/article/pii/S0735193325002921?ref=pdf_download&amp;fr=RR-2&amp;rr=a16daf400aa6ec4f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543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 - https://www.sciencedirect.com/science/article/pii/S0360544218310065</a:t>
            </a:r>
            <a:endParaRPr lang="ru-RU" dirty="0" smtClean="0"/>
          </a:p>
          <a:p>
            <a:r>
              <a:rPr lang="en-US" dirty="0" smtClean="0"/>
              <a:t>[2] - https://naked-science.ru/article/tech/v-ssha-predstavili-2</a:t>
            </a:r>
          </a:p>
          <a:p>
            <a:r>
              <a:rPr lang="en-US" dirty="0" smtClean="0"/>
              <a:t>[4] - https://www.sciencedirect.com/science/article/pii/S0735193325002921?ref=pdf_download&amp;fr=RR-2&amp;rr=a16daf400aa6ec4f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429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 - https://www.sciencedirect.com/science/article/pii/S0360544218310065</a:t>
            </a:r>
            <a:endParaRPr lang="ru-RU" dirty="0" smtClean="0"/>
          </a:p>
          <a:p>
            <a:r>
              <a:rPr lang="en-US" dirty="0" smtClean="0"/>
              <a:t>[2] - https://naked-science.ru/article/tech/v-ssha-predstavili-2</a:t>
            </a:r>
          </a:p>
          <a:p>
            <a:r>
              <a:rPr lang="en-US" dirty="0" smtClean="0"/>
              <a:t>[4] - https://www.sciencedirect.com/science/article/pii/S0735193325002921?ref=pdf_download&amp;fr=RR-2&amp;rr=a16daf400aa6ec4f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022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24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6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28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88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85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64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56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87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64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09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73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:a16="http://schemas.microsoft.com/office/drawing/2014/main" xmlns="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xmlns="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xmlns="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 smtClean="0">
                <a:solidFill>
                  <a:schemeClr val="accent3"/>
                </a:solidFill>
                <a:latin typeface="+mj-lt"/>
              </a:rPr>
              <a:pPr algn="ctr"/>
              <a:t>29.07.2026</a:t>
            </a:fld>
            <a:endParaRPr lang="ru-RU" sz="1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xmlns="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642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xmlns="" id="{6BD80F16-0C0C-45EB-3773-2B1A97D9E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25450"/>
            <a:ext cx="12192000" cy="1325563"/>
          </a:xfr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algn="ctr">
              <a:spcBef>
                <a:spcPts val="600"/>
              </a:spcBef>
            </a:pP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Название дисциплины</a:t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Тема занятия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6A781CB9-25B3-0F7D-BF51-8A1D0D3D7B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36B493AB-7287-D4D0-5D86-B7DB8F0BD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04188" y="5159141"/>
            <a:ext cx="4087812" cy="952901"/>
          </a:xfrm>
        </p:spPr>
        <p:txBody>
          <a:bodyPr>
            <a:noAutofit/>
          </a:bodyPr>
          <a:lstStyle>
            <a:lvl1pPr>
              <a:defRPr lang="en-US" sz="20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ru-RU" dirty="0"/>
              <a:t>Иванов И.И. Старший преподаватель ИТНО Лекция 1_01.09.2022</a:t>
            </a:r>
          </a:p>
          <a:p>
            <a:pPr marL="0" lvl="0" indent="0" algn="r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51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>
            <a:extLst>
              <a:ext uri="{FF2B5EF4-FFF2-40B4-BE49-F238E27FC236}">
                <a16:creationId xmlns:a16="http://schemas.microsoft.com/office/drawing/2014/main" xmlns="" id="{7F9103FD-BBAE-6AB4-FA3D-2654D39C7F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xmlns="" id="{C56CF550-32BB-8D78-ED4B-3AA24A3A0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1963554"/>
            <a:ext cx="12192001" cy="2993457"/>
          </a:xfr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indent="0">
              <a:defRPr lang="en-US" sz="3200" dirty="0" smtClean="0">
                <a:solidFill>
                  <a:srgbClr val="44568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ru-RU" dirty="0"/>
              <a:t>Заключительный слайд с дополнительной информацией, например, списком источников, контактными данными (при необходимости)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36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l="-1000" t="-100" r="-100" b="5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1638" y="100453"/>
            <a:ext cx="10641530" cy="480131"/>
          </a:xfrm>
          <a:noFill/>
        </p:spPr>
        <p:txBody>
          <a:bodyPr wrap="square" rtlCol="0">
            <a:spAutoFit/>
          </a:bodyPr>
          <a:lstStyle>
            <a:lvl1pPr>
              <a:defRPr lang="ru-RU" sz="2800" dirty="0">
                <a:solidFill>
                  <a:srgbClr val="445684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Заголовок слайда: шрифт </a:t>
            </a:r>
            <a:r>
              <a:rPr lang="ru-RU" dirty="0" err="1"/>
              <a:t>Calibri</a:t>
            </a:r>
            <a:r>
              <a:rPr lang="ru-RU" dirty="0"/>
              <a:t> Light (Заголовки)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71638" y="1045979"/>
            <a:ext cx="10515600" cy="483004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228600" indent="0">
              <a:buNone/>
              <a:defRPr lang="en-US" sz="20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85800" indent="0">
              <a:buNone/>
              <a:defRPr lang="en-US" sz="18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143000" indent="0">
              <a:buNone/>
              <a:defRPr lang="en-US" sz="16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600200" indent="0">
              <a:buNone/>
              <a:defRPr lang="ru-RU" sz="1600" kern="1200" dirty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marL="0" lvl="0"/>
            <a:r>
              <a:rPr lang="ru-RU" dirty="0"/>
              <a:t>Текст презентации: шрифт </a:t>
            </a:r>
            <a:r>
              <a:rPr lang="ru-RU" dirty="0" err="1"/>
              <a:t>Calibri</a:t>
            </a:r>
            <a:r>
              <a:rPr lang="ru-RU" dirty="0"/>
              <a:t> Light, рекомендуемый размер шрифта 20-22 пт., старайтесь придерживаться границ текста (рамка, в которой находится настоящий текст), рекомендуемый цвет текста: индиго (#445684), черный (#000000) </a:t>
            </a:r>
          </a:p>
          <a:p>
            <a:pPr marL="0" lvl="0"/>
            <a:r>
              <a:rPr lang="ru-RU" dirty="0"/>
              <a:t>При необходимости используйте:</a:t>
            </a:r>
          </a:p>
          <a:p>
            <a:pPr marL="0" lvl="0"/>
            <a:r>
              <a:rPr lang="ru-RU" dirty="0"/>
              <a:t>- цвет;</a:t>
            </a:r>
          </a:p>
          <a:p>
            <a:pPr marL="0" lvl="0"/>
            <a:r>
              <a:rPr lang="ru-RU" dirty="0"/>
              <a:t>- подчеркивание;</a:t>
            </a:r>
          </a:p>
          <a:p>
            <a:pPr marL="0" lvl="0"/>
            <a:r>
              <a:rPr lang="ru-RU" dirty="0"/>
              <a:t>- жирный шрифт;</a:t>
            </a:r>
          </a:p>
          <a:p>
            <a:pPr marL="0" lvl="0"/>
            <a:r>
              <a:rPr lang="ru-RU" dirty="0"/>
              <a:t>- встроенные таблицы, фигуры, диаграммы, формулы;</a:t>
            </a:r>
          </a:p>
          <a:p>
            <a:pPr marL="0" lvl="0"/>
            <a:r>
              <a:rPr lang="ru-RU" dirty="0"/>
              <a:t>- бесплатные/собственные иконки и рисунки.</a:t>
            </a:r>
          </a:p>
          <a:p>
            <a:pPr marL="457200" lvl="1"/>
            <a:r>
              <a:rPr lang="en-US" dirty="0"/>
              <a:t>Second level</a:t>
            </a:r>
          </a:p>
          <a:p>
            <a:pPr marL="914400" lvl="2"/>
            <a:r>
              <a:rPr lang="en-US" dirty="0"/>
              <a:t>Third level</a:t>
            </a:r>
          </a:p>
          <a:p>
            <a:pPr marL="1371600" lvl="3"/>
            <a:r>
              <a:rPr lang="en-US" dirty="0"/>
              <a:t>Fourth level</a:t>
            </a:r>
          </a:p>
          <a:p>
            <a:pPr marL="1828800"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957110" y="6433353"/>
            <a:ext cx="2743200" cy="365125"/>
          </a:xfrm>
        </p:spPr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09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люч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9" name="Текст 34">
            <a:extLst>
              <a:ext uri="{FF2B5EF4-FFF2-40B4-BE49-F238E27FC236}">
                <a16:creationId xmlns:a16="http://schemas.microsoft.com/office/drawing/2014/main" xmlns="" id="{64D3E3AE-F380-4D6C-A5D2-1A37DFFB05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25364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:a16="http://schemas.microsoft.com/office/drawing/2014/main" xmlns="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xmlns="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xmlns="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>
                <a:solidFill>
                  <a:srgbClr val="A5A5A5"/>
                </a:solidFill>
                <a:latin typeface="Calibri Light" panose="020F0302020204030204"/>
              </a:rPr>
              <a:pPr algn="ctr"/>
              <a:t>29.07.2026</a:t>
            </a:fld>
            <a:endParaRPr lang="ru-RU" sz="1600" dirty="0">
              <a:solidFill>
                <a:srgbClr val="A5A5A5"/>
              </a:solidFill>
              <a:latin typeface="Calibri Light" panose="020F0302020204030204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xmlns="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19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994F-4FB3-4196-A6BB-9CFD993ADD1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4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76B-96CA-47F0-9F84-DA9635962C0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29.07.2026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8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1A2B5803-E288-2F4A-DB50-2C4172DB5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dirty="0" smtClean="0">
                <a:solidFill>
                  <a:srgbClr val="1F497D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Современное состояние исследования смеси </a:t>
            </a:r>
            <a:r>
              <a:rPr lang="en-US" b="0" dirty="0" smtClean="0">
                <a:solidFill>
                  <a:srgbClr val="1F497D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He-</a:t>
            </a:r>
            <a:r>
              <a:rPr lang="en-US" b="0" dirty="0" err="1" smtClean="0">
                <a:solidFill>
                  <a:srgbClr val="1F497D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Xe</a:t>
            </a:r>
            <a:r>
              <a:rPr lang="ru-RU" b="0" dirty="0" smtClean="0">
                <a:solidFill>
                  <a:srgbClr val="1F497D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в качестве рабочего тела реакторов на быстрых нейтронах</a:t>
            </a:r>
            <a:endParaRPr lang="ru-RU" dirty="0">
              <a:solidFill>
                <a:srgbClr val="44568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3B3EB154-4CF1-57F0-F4E1-A3E281D6D6AB}"/>
              </a:ext>
            </a:extLst>
          </p:cNvPr>
          <p:cNvSpPr/>
          <p:nvPr/>
        </p:nvSpPr>
        <p:spPr>
          <a:xfrm>
            <a:off x="4863130" y="5690495"/>
            <a:ext cx="246574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ru-RU" sz="1500" b="1" dirty="0">
                <a:latin typeface="Geologica Light" pitchFamily="2" charset="0"/>
              </a:rPr>
              <a:t>ФГБОУ ВО «НИУ «МЭИ»</a:t>
            </a:r>
          </a:p>
        </p:txBody>
      </p:sp>
    </p:spTree>
    <p:extLst>
      <p:ext uri="{BB962C8B-B14F-4D97-AF65-F5344CB8AC3E}">
        <p14:creationId xmlns:p14="http://schemas.microsoft.com/office/powerpoint/2010/main" val="200222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892" y="1225356"/>
            <a:ext cx="107687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2"/>
                </a:solidFill>
              </a:rPr>
              <a:t>Актуальность использования СО2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Ключевое преимущество СО2 – снижение работы сжатия </a:t>
            </a:r>
            <a:endParaRPr lang="ru-RU" sz="1400" b="1" dirty="0" smtClean="0">
              <a:solidFill>
                <a:srgbClr val="445682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Ключевой недостаток – удорожание </a:t>
            </a:r>
            <a:r>
              <a:rPr lang="ru-RU" sz="1400" b="1" dirty="0" smtClean="0">
                <a:solidFill>
                  <a:srgbClr val="445682"/>
                </a:solidFill>
              </a:rPr>
              <a:t>рекуператоров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Материалы и деградация в sCO₂-</a:t>
            </a:r>
            <a:r>
              <a:rPr lang="ru-RU" sz="1400" b="1" dirty="0" smtClean="0">
                <a:solidFill>
                  <a:srgbClr val="445682"/>
                </a:solidFill>
              </a:rPr>
              <a:t>цикле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В каких циклах можно использовать СО2?</a:t>
            </a:r>
            <a:endParaRPr lang="ru-RU" sz="1400" b="1" dirty="0" smtClean="0">
              <a:solidFill>
                <a:srgbClr val="445682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  <a:cs typeface="Calibri Light" panose="020F0302020204030204" pitchFamily="34" charset="0"/>
              </a:rPr>
              <a:t>Выбор оптимального термодинамического цикла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</a:rPr>
              <a:t>Влияние начальных и оптимизационных параметров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</a:rPr>
              <a:t>Постановка задачи моделирования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4"/>
                </a:solidFill>
              </a:rPr>
              <a:t>Методика моделирования СО2 цикла</a:t>
            </a:r>
            <a:endParaRPr lang="ru-RU" sz="1400" b="1" dirty="0" smtClean="0">
              <a:solidFill>
                <a:srgbClr val="445684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  <a:cs typeface="Calibri Light" panose="020F0302020204030204" pitchFamily="34" charset="0"/>
              </a:rPr>
              <a:t>Выводы</a:t>
            </a:r>
            <a:endParaRPr lang="ru-RU" sz="1400" b="1" dirty="0">
              <a:solidFill>
                <a:srgbClr val="445684"/>
              </a:solidFill>
              <a:cs typeface="Calibri Light" panose="020F03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3713" y="1225356"/>
            <a:ext cx="4665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>
                <a:solidFill>
                  <a:srgbClr val="445682"/>
                </a:solidFill>
                <a:cs typeface="Calibri Light" panose="020F0302020204030204" pitchFamily="34" charset="0"/>
              </a:rPr>
              <a:t>3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4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5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6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altLang="en-US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7</a:t>
            </a:r>
            <a:endParaRPr lang="en-US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8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>
                <a:solidFill>
                  <a:srgbClr val="445682"/>
                </a:solidFill>
                <a:cs typeface="Calibri Light" panose="020F0302020204030204" pitchFamily="34" charset="0"/>
              </a:rPr>
              <a:t>9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10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11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12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3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Реакторы на быстрых нейтронах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936" y="868854"/>
            <a:ext cx="116459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Реактор </a:t>
            </a:r>
            <a:r>
              <a:rPr lang="ru-RU" dirty="0">
                <a:solidFill>
                  <a:srgbClr val="445684"/>
                </a:solidFill>
              </a:rPr>
              <a:t>на быстрых нейтронах — ядерный реактор, использующий для поддержания цепной реакции нейтроны с энергией свыше 0.1 МэВ. В отличие от реакторов на тепловых нейтронах с энергией порядка 0.025 эВ, быстрые реакторы не содержат замедлителей (вода, графит и т. д</a:t>
            </a:r>
            <a:r>
              <a:rPr lang="ru-RU" dirty="0" smtClean="0">
                <a:solidFill>
                  <a:srgbClr val="445684"/>
                </a:solidFill>
              </a:rPr>
              <a:t>.)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202017" y="1792183"/>
            <a:ext cx="57068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Высокоэнергетические </a:t>
            </a:r>
            <a:r>
              <a:rPr lang="ru-RU" dirty="0">
                <a:solidFill>
                  <a:srgbClr val="445684"/>
                </a:solidFill>
              </a:rPr>
              <a:t>нейтроны имеют меньшие сечения деления для </a:t>
            </a:r>
            <a:r>
              <a:rPr lang="ru-RU" dirty="0" smtClean="0">
                <a:solidFill>
                  <a:srgbClr val="445684"/>
                </a:solidFill>
              </a:rPr>
              <a:t>изотопа </a:t>
            </a:r>
            <a:r>
              <a:rPr lang="ru-RU" dirty="0">
                <a:solidFill>
                  <a:srgbClr val="445684"/>
                </a:solidFill>
              </a:rPr>
              <a:t>U-235 по сравнению с тепловыми, однако для U-238 сечение деления при быстрых нейтронах резко возрастает. Это позволяет эффективно использовать природный (0.7% U-235) и обеднённый (менее 0.3% U-235) уран в качестве сырья для воспроизводства </a:t>
            </a:r>
            <a:r>
              <a:rPr lang="ru-RU" dirty="0" err="1">
                <a:solidFill>
                  <a:srgbClr val="445684"/>
                </a:solidFill>
              </a:rPr>
              <a:t>высокоэнергетичного</a:t>
            </a:r>
            <a:r>
              <a:rPr lang="ru-RU" dirty="0">
                <a:solidFill>
                  <a:srgbClr val="445684"/>
                </a:solidFill>
              </a:rPr>
              <a:t> Pu-239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36" y="1792184"/>
            <a:ext cx="3095436" cy="20646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456" y="1792183"/>
            <a:ext cx="3095437" cy="2064629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471638" y="3815923"/>
            <a:ext cx="55816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Сечение деления </a:t>
            </a:r>
            <a:r>
              <a:rPr lang="en-US" sz="1400" b="1" u="sng" dirty="0" smtClean="0">
                <a:solidFill>
                  <a:srgbClr val="445684"/>
                </a:solidFill>
              </a:rPr>
              <a:t>U-235 (</a:t>
            </a:r>
            <a:r>
              <a:rPr lang="ru-RU" sz="1400" b="1" u="sng" dirty="0" smtClean="0">
                <a:solidFill>
                  <a:srgbClr val="445684"/>
                </a:solidFill>
              </a:rPr>
              <a:t>слева</a:t>
            </a:r>
            <a:r>
              <a:rPr lang="en-US" sz="1400" b="1" u="sng" dirty="0" smtClean="0">
                <a:solidFill>
                  <a:srgbClr val="445684"/>
                </a:solidFill>
              </a:rPr>
              <a:t>)</a:t>
            </a:r>
            <a:r>
              <a:rPr lang="ru-RU" sz="1400" b="1" u="sng" dirty="0" smtClean="0">
                <a:solidFill>
                  <a:srgbClr val="445684"/>
                </a:solidFill>
              </a:rPr>
              <a:t> и </a:t>
            </a:r>
            <a:r>
              <a:rPr lang="en-US" sz="1400" b="1" u="sng" dirty="0" smtClean="0">
                <a:solidFill>
                  <a:srgbClr val="445684"/>
                </a:solidFill>
              </a:rPr>
              <a:t>U-238 </a:t>
            </a:r>
            <a:r>
              <a:rPr lang="ru-RU" sz="1400" b="1" u="sng" dirty="0" smtClean="0">
                <a:solidFill>
                  <a:srgbClr val="445684"/>
                </a:solidFill>
              </a:rPr>
              <a:t>(справа) от энергии нейтрона</a:t>
            </a:r>
            <a:endParaRPr lang="ru-RU" sz="1400" b="1" u="sng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262936" y="4343600"/>
            <a:ext cx="116459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Первые </a:t>
            </a:r>
            <a:r>
              <a:rPr lang="ru-RU" dirty="0">
                <a:solidFill>
                  <a:srgbClr val="445684"/>
                </a:solidFill>
              </a:rPr>
              <a:t>экспериментальные реакторы на быстрых нейтронах появились в 1950-е годы. В 1960 — 80-е годы активно велись работы по созданию промышленных реакторов, но к началу 1990-х большинство проектов было закрыто из-за риска аварий и высоких </a:t>
            </a:r>
            <a:r>
              <a:rPr lang="ru-RU" dirty="0" err="1">
                <a:solidFill>
                  <a:srgbClr val="445684"/>
                </a:solidFill>
              </a:rPr>
              <a:t>экплуатационных</a:t>
            </a:r>
            <a:r>
              <a:rPr lang="ru-RU" dirty="0">
                <a:solidFill>
                  <a:srgbClr val="445684"/>
                </a:solidFill>
              </a:rPr>
              <a:t> затрат.</a:t>
            </a:r>
          </a:p>
          <a:p>
            <a:pPr algn="just"/>
            <a:r>
              <a:rPr lang="ru-RU" dirty="0">
                <a:solidFill>
                  <a:srgbClr val="445684"/>
                </a:solidFill>
              </a:rPr>
              <a:t>На настоящий момент только в России остались действующие промышленные реакторы на быстрых нейтронах — БН-600 в 3-м энергоблоке Белоярской АЭС и БН-800 в 4-м энергоблоке Белоярской </a:t>
            </a:r>
            <a:r>
              <a:rPr lang="ru-RU" dirty="0" smtClean="0">
                <a:solidFill>
                  <a:srgbClr val="445684"/>
                </a:solidFill>
              </a:rPr>
              <a:t>АЭС</a:t>
            </a:r>
            <a:endParaRPr lang="ru-RU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75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Параметры рекуперативного цикла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498055"/>
              </p:ext>
            </p:extLst>
          </p:nvPr>
        </p:nvGraphicFramePr>
        <p:xfrm>
          <a:off x="192962" y="1233970"/>
          <a:ext cx="5422227" cy="287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5252"/>
                <a:gridCol w="746975"/>
              </a:tblGrid>
              <a:tr h="35930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Значение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Тепловая мощность реактора, МВт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2.75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Температура рабочего тела</a:t>
                      </a:r>
                      <a:r>
                        <a:rPr lang="ru-RU" sz="1200" baseline="0" dirty="0" smtClean="0">
                          <a:effectLst/>
                        </a:rPr>
                        <a:t> на выходе из РУ,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1060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КПД турбины </a:t>
                      </a:r>
                      <a:r>
                        <a:rPr lang="el-GR" sz="1200" dirty="0" smtClean="0">
                          <a:effectLst/>
                          <a:latin typeface="+mn-lt"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  <a:latin typeface="+mn-lt"/>
                        </a:rPr>
                        <a:t>t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​, %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90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КПД компрессора </a:t>
                      </a:r>
                      <a:r>
                        <a:rPr lang="el-GR" sz="1200" dirty="0" smtClean="0">
                          <a:effectLst/>
                          <a:latin typeface="+mn-lt"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  <a:latin typeface="+mn-lt"/>
                        </a:rPr>
                        <a:t>c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, %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83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Потери давления 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в рекуператоре Δ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p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%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Минимальный температурный напор ΔT, 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Рабочее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тело первого контура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effectLst/>
                          <a:latin typeface="+mn-lt"/>
                        </a:rPr>
                        <a:t>He-</a:t>
                      </a:r>
                      <a:r>
                        <a:rPr lang="en-US" sz="1200" b="0" dirty="0" err="1" smtClean="0">
                          <a:effectLst/>
                          <a:latin typeface="+mn-lt"/>
                        </a:rPr>
                        <a:t>Xe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92961" y="952697"/>
            <a:ext cx="3551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Табл.1 – Фиксированные параметры цикла</a:t>
            </a:r>
            <a:endParaRPr lang="ru-RU" sz="1400" b="1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066074"/>
              </p:ext>
            </p:extLst>
          </p:nvPr>
        </p:nvGraphicFramePr>
        <p:xfrm>
          <a:off x="734840" y="4668132"/>
          <a:ext cx="4736846" cy="2011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6915"/>
                <a:gridCol w="769931"/>
              </a:tblGrid>
              <a:tr h="359306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 smtClean="0">
                          <a:effectLst/>
                          <a:latin typeface="+mn-lt"/>
                        </a:rPr>
                        <a:t>График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effectLst/>
                          <a:latin typeface="+mn-lt"/>
                        </a:rPr>
                        <a:t>Точки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Градиентный график КПД от давлений на входе и на выходе турбины.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336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Градиентный график КПД от температур на входе в реактор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и минимальной.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36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Градиентный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график КПД от </a:t>
                      </a:r>
                      <a:r>
                        <a:rPr lang="el-GR" sz="1200" dirty="0" smtClean="0">
                          <a:effectLst/>
                          <a:latin typeface="+mn-lt"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  <a:latin typeface="+mn-lt"/>
                        </a:rPr>
                        <a:t>t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и </a:t>
                      </a:r>
                      <a:r>
                        <a:rPr lang="el-GR" sz="1200" dirty="0" smtClean="0">
                          <a:effectLst/>
                          <a:latin typeface="+mn-lt"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  <a:latin typeface="+mn-lt"/>
                        </a:rPr>
                        <a:t>c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18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Температурный профиль в рекуператоре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для оценки точки </a:t>
                      </a:r>
                      <a:r>
                        <a:rPr lang="ru-RU" sz="1200" b="0" baseline="0" dirty="0" err="1" smtClean="0">
                          <a:effectLst/>
                          <a:latin typeface="+mn-lt"/>
                        </a:rPr>
                        <a:t>пинча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.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?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92961" y="4223241"/>
            <a:ext cx="15070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Табл.2 – Графики</a:t>
            </a:r>
            <a:endParaRPr lang="ru-RU" sz="1400" b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29" y="1260474"/>
            <a:ext cx="6073762" cy="441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3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Варьируемые параметры рекуперативного цикла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433466"/>
              </p:ext>
            </p:extLst>
          </p:nvPr>
        </p:nvGraphicFramePr>
        <p:xfrm>
          <a:off x="192963" y="1233970"/>
          <a:ext cx="9855812" cy="4311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571"/>
                <a:gridCol w="4521141"/>
                <a:gridCol w="1397167"/>
                <a:gridCol w="1135781"/>
                <a:gridCol w="972152"/>
              </a:tblGrid>
              <a:tr h="359306">
                <a:tc>
                  <a:txBody>
                    <a:bodyPr/>
                    <a:lstStyle/>
                    <a:p>
                      <a:pPr algn="just"/>
                      <a:r>
                        <a:rPr lang="ru-RU" sz="1200" b="1" dirty="0" smtClean="0">
                          <a:effectLst/>
                          <a:latin typeface="+mn-lt"/>
                        </a:rPr>
                        <a:t>Уровень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1" dirty="0">
                          <a:effectLst/>
                          <a:latin typeface="+mn-lt"/>
                        </a:rPr>
                        <a:t>Параметр</a:t>
                      </a: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Диапазон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Шаг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Кол-во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 rowSpan="6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Полный </a:t>
                      </a:r>
                      <a:r>
                        <a:rPr lang="ru-RU" sz="1200" b="0" dirty="0" smtClean="0">
                          <a:effectLst/>
                          <a:latin typeface="+mn-lt"/>
                        </a:rPr>
                        <a:t>перебор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Давление на входе в 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турбину​</a:t>
                      </a:r>
                      <a:r>
                        <a:rPr lang="ru-RU" sz="1200" dirty="0">
                          <a:effectLst/>
                          <a:latin typeface="+mn-lt"/>
                        </a:rPr>
                        <a:t>, МПа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3-5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0.1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21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  <a:latin typeface="+mn-lt"/>
                        </a:rPr>
                        <a:t>Давление на выходе из 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турбины, </a:t>
                      </a:r>
                      <a:r>
                        <a:rPr lang="ru-RU" sz="1200" dirty="0">
                          <a:effectLst/>
                          <a:latin typeface="+mn-lt"/>
                        </a:rPr>
                        <a:t>МПа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effectLst/>
                          <a:latin typeface="+mn-lt"/>
                        </a:rPr>
                        <a:t>0.5-2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effectLst/>
                          <a:latin typeface="+mn-lt"/>
                        </a:rPr>
                        <a:t>0.1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16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теплоносителя на входе в реактор, 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650-800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25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9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перед компрессором, 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100-150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25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Мольная доля </a:t>
                      </a:r>
                      <a:r>
                        <a:rPr lang="en-US" sz="1200" b="0" dirty="0" err="1" smtClean="0">
                          <a:effectLst/>
                          <a:latin typeface="+mn-lt"/>
                        </a:rPr>
                        <a:t>Xe</a:t>
                      </a:r>
                      <a:r>
                        <a:rPr lang="ru-RU" sz="1200" b="0" dirty="0" smtClean="0">
                          <a:effectLst/>
                          <a:latin typeface="+mn-lt"/>
                        </a:rPr>
                        <a:t>,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%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0-30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7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Итого</a:t>
                      </a: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63504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rowSpan="5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Оптимальная точка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(заданы оптимальные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параметры выше</a:t>
                      </a:r>
                      <a:r>
                        <a:rPr lang="ru-RU" sz="1200" b="0" dirty="0" smtClean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КПД турбины </a:t>
                      </a:r>
                      <a:r>
                        <a:rPr lang="el-GR" sz="1200" dirty="0" smtClean="0">
                          <a:effectLst/>
                          <a:latin typeface="+mn-lt"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  <a:latin typeface="+mn-lt"/>
                        </a:rPr>
                        <a:t>t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​, %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85-95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КПД компрессора </a:t>
                      </a:r>
                      <a:r>
                        <a:rPr lang="el-GR" sz="1200" dirty="0" smtClean="0">
                          <a:effectLst/>
                          <a:latin typeface="+mn-lt"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  <a:latin typeface="+mn-lt"/>
                        </a:rPr>
                        <a:t>c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, %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75-90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Потери давления Δ</a:t>
                      </a:r>
                      <a:r>
                        <a:rPr lang="en-US" sz="1200" dirty="0" smtClean="0">
                          <a:effectLst/>
                          <a:latin typeface="+mn-lt"/>
                        </a:rPr>
                        <a:t>p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%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1-3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  <a:latin typeface="+mn-lt"/>
                        </a:rPr>
                        <a:t>Минимальный температурный напор ΔT, 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5-15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 gridSpan="3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Итого</a:t>
                      </a: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dirty="0" smtClean="0">
                          <a:effectLst/>
                          <a:latin typeface="+mn-lt"/>
                        </a:rPr>
                        <a:t>216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92963" y="926193"/>
            <a:ext cx="34043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Табл.2 – Варьируемые параметры цикла</a:t>
            </a:r>
            <a:endParaRPr lang="ru-RU" sz="1400" b="1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Примечания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936" y="868854"/>
            <a:ext cx="1164591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Для </a:t>
            </a:r>
            <a:r>
              <a:rPr lang="en-US" dirty="0" err="1" smtClean="0">
                <a:solidFill>
                  <a:srgbClr val="445684"/>
                </a:solidFill>
              </a:rPr>
              <a:t>Xe</a:t>
            </a:r>
            <a:r>
              <a:rPr lang="en-US" dirty="0" smtClean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критическая температура 289.5 </a:t>
            </a:r>
            <a:r>
              <a:rPr lang="en-US" dirty="0" smtClean="0">
                <a:solidFill>
                  <a:srgbClr val="445684"/>
                </a:solidFill>
              </a:rPr>
              <a:t>K</a:t>
            </a:r>
            <a:r>
              <a:rPr lang="ru-RU" dirty="0" smtClean="0">
                <a:solidFill>
                  <a:srgbClr val="445684"/>
                </a:solidFill>
              </a:rPr>
              <a:t>, критическое давление 5.84 МПа.</a:t>
            </a:r>
          </a:p>
          <a:p>
            <a:pPr algn="just"/>
            <a:endParaRPr lang="ru-RU" dirty="0" smtClean="0">
              <a:solidFill>
                <a:srgbClr val="445684"/>
              </a:solidFill>
            </a:endParaRP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Для «Прометея»:</a:t>
            </a: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Мощность реактора 783 кВт.</a:t>
            </a:r>
            <a:endParaRPr lang="en-US" dirty="0" smtClean="0">
              <a:solidFill>
                <a:srgbClr val="445684"/>
              </a:solidFill>
            </a:endParaRP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Молярная масса смеси 31.5 г/моль (21.7% </a:t>
            </a:r>
            <a:r>
              <a:rPr lang="en-US" dirty="0" err="1" smtClean="0">
                <a:solidFill>
                  <a:srgbClr val="445684"/>
                </a:solidFill>
              </a:rPr>
              <a:t>Xe</a:t>
            </a:r>
            <a:r>
              <a:rPr lang="ru-RU" dirty="0" smtClean="0">
                <a:solidFill>
                  <a:srgbClr val="445684"/>
                </a:solidFill>
              </a:rPr>
              <a:t>). Предельное встречаемое 40 г/моль</a:t>
            </a:r>
            <a:r>
              <a:rPr lang="en-US" dirty="0" smtClean="0">
                <a:solidFill>
                  <a:srgbClr val="445684"/>
                </a:solidFill>
              </a:rPr>
              <a:t> (28.3% </a:t>
            </a:r>
            <a:r>
              <a:rPr lang="en-US" dirty="0" err="1" smtClean="0">
                <a:solidFill>
                  <a:srgbClr val="445684"/>
                </a:solidFill>
              </a:rPr>
              <a:t>Xe</a:t>
            </a:r>
            <a:r>
              <a:rPr lang="en-US" dirty="0" smtClean="0">
                <a:solidFill>
                  <a:srgbClr val="445684"/>
                </a:solidFill>
              </a:rPr>
              <a:t>)</a:t>
            </a:r>
            <a:r>
              <a:rPr lang="ru-RU" dirty="0" smtClean="0">
                <a:solidFill>
                  <a:srgbClr val="445684"/>
                </a:solidFill>
              </a:rPr>
              <a:t> (при более высоких теплоотдача ниже, чем для чистого </a:t>
            </a:r>
            <a:r>
              <a:rPr lang="en-US" dirty="0" smtClean="0">
                <a:solidFill>
                  <a:srgbClr val="445684"/>
                </a:solidFill>
              </a:rPr>
              <a:t>He</a:t>
            </a:r>
            <a:r>
              <a:rPr lang="ru-RU" dirty="0" smtClean="0">
                <a:solidFill>
                  <a:srgbClr val="445684"/>
                </a:solidFill>
              </a:rPr>
              <a:t>). При 20 г/моль (12.6% </a:t>
            </a:r>
            <a:r>
              <a:rPr lang="en-US" dirty="0" err="1" smtClean="0">
                <a:solidFill>
                  <a:srgbClr val="445684"/>
                </a:solidFill>
              </a:rPr>
              <a:t>Xe</a:t>
            </a:r>
            <a:r>
              <a:rPr lang="ru-RU" dirty="0" smtClean="0">
                <a:solidFill>
                  <a:srgbClr val="445684"/>
                </a:solidFill>
              </a:rPr>
              <a:t>) теплоотдача максимальна.</a:t>
            </a:r>
            <a:endParaRPr lang="ru-RU" dirty="0">
              <a:solidFill>
                <a:srgbClr val="445684"/>
              </a:solidFill>
            </a:endParaRP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Потери в рекуператоре 1.5%</a:t>
            </a:r>
            <a:r>
              <a:rPr lang="en-US" dirty="0" smtClean="0">
                <a:solidFill>
                  <a:srgbClr val="445684"/>
                </a:solidFill>
              </a:rPr>
              <a:t>;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en-US" dirty="0" err="1" smtClean="0">
                <a:solidFill>
                  <a:srgbClr val="445684"/>
                </a:solidFill>
              </a:rPr>
              <a:t>eff</a:t>
            </a:r>
            <a:r>
              <a:rPr lang="ru-RU" dirty="0" smtClean="0">
                <a:solidFill>
                  <a:srgbClr val="445684"/>
                </a:solidFill>
              </a:rPr>
              <a:t> компрессора 84.7%, турбины 90%.</a:t>
            </a:r>
          </a:p>
          <a:p>
            <a:pPr algn="just"/>
            <a:r>
              <a:rPr lang="ru-RU" dirty="0">
                <a:solidFill>
                  <a:srgbClr val="445684"/>
                </a:solidFill>
              </a:rPr>
              <a:t>Н</a:t>
            </a:r>
            <a:r>
              <a:rPr lang="ru-RU" dirty="0" smtClean="0">
                <a:solidFill>
                  <a:srgbClr val="445684"/>
                </a:solidFill>
              </a:rPr>
              <a:t>а входе в реактор </a:t>
            </a:r>
            <a:r>
              <a:rPr lang="en-US" dirty="0" smtClean="0">
                <a:solidFill>
                  <a:srgbClr val="445684"/>
                </a:solidFill>
              </a:rPr>
              <a:t>T</a:t>
            </a:r>
            <a:r>
              <a:rPr lang="ru-RU" dirty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= 896 </a:t>
            </a:r>
            <a:r>
              <a:rPr lang="en-US" dirty="0" smtClean="0">
                <a:solidFill>
                  <a:srgbClr val="445684"/>
                </a:solidFill>
              </a:rPr>
              <a:t>K</a:t>
            </a:r>
            <a:r>
              <a:rPr lang="ru-RU" dirty="0" smtClean="0">
                <a:solidFill>
                  <a:srgbClr val="445684"/>
                </a:solidFill>
              </a:rPr>
              <a:t>, на выходе 1150</a:t>
            </a:r>
            <a:r>
              <a:rPr lang="en-US" dirty="0" smtClean="0">
                <a:solidFill>
                  <a:srgbClr val="445684"/>
                </a:solidFill>
              </a:rPr>
              <a:t> K; </a:t>
            </a:r>
            <a:r>
              <a:rPr lang="ru-RU" dirty="0" smtClean="0">
                <a:solidFill>
                  <a:srgbClr val="445684"/>
                </a:solidFill>
              </a:rPr>
              <a:t>минимальная 390 </a:t>
            </a:r>
            <a:r>
              <a:rPr lang="en-US" dirty="0" smtClean="0">
                <a:solidFill>
                  <a:srgbClr val="445684"/>
                </a:solidFill>
              </a:rPr>
              <a:t>K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Перед турбиной </a:t>
            </a:r>
            <a:r>
              <a:rPr lang="en-US" dirty="0" smtClean="0">
                <a:solidFill>
                  <a:srgbClr val="445684"/>
                </a:solidFill>
              </a:rPr>
              <a:t>P = </a:t>
            </a:r>
            <a:r>
              <a:rPr lang="ru-RU" dirty="0" smtClean="0">
                <a:solidFill>
                  <a:srgbClr val="445684"/>
                </a:solidFill>
              </a:rPr>
              <a:t>1.918 МПа, после 1.051 МПа.</a:t>
            </a:r>
          </a:p>
          <a:p>
            <a:pPr algn="just"/>
            <a:endParaRPr lang="ru-RU" dirty="0">
              <a:solidFill>
                <a:srgbClr val="445684"/>
              </a:solidFill>
            </a:endParaRP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Исследование для «</a:t>
            </a:r>
            <a:r>
              <a:rPr lang="ru-RU" dirty="0" err="1" smtClean="0">
                <a:solidFill>
                  <a:srgbClr val="445684"/>
                </a:solidFill>
              </a:rPr>
              <a:t>мегаваттного</a:t>
            </a:r>
            <a:r>
              <a:rPr lang="ru-RU" dirty="0" smtClean="0">
                <a:solidFill>
                  <a:srgbClr val="445684"/>
                </a:solidFill>
              </a:rPr>
              <a:t>»:</a:t>
            </a:r>
          </a:p>
          <a:p>
            <a:pPr algn="just"/>
            <a:r>
              <a:rPr lang="ru-RU" dirty="0" smtClean="0">
                <a:solidFill>
                  <a:srgbClr val="445684"/>
                </a:solidFill>
              </a:rPr>
              <a:t>Мощность реактора 3.4 МВт.</a:t>
            </a:r>
          </a:p>
          <a:p>
            <a:pPr algn="just"/>
            <a:r>
              <a:rPr lang="ru-RU" dirty="0">
                <a:solidFill>
                  <a:srgbClr val="445684"/>
                </a:solidFill>
              </a:rPr>
              <a:t>На входе в реактор </a:t>
            </a:r>
            <a:r>
              <a:rPr lang="en-US" dirty="0">
                <a:solidFill>
                  <a:srgbClr val="445684"/>
                </a:solidFill>
              </a:rPr>
              <a:t>T</a:t>
            </a:r>
            <a:r>
              <a:rPr lang="ru-RU" dirty="0">
                <a:solidFill>
                  <a:srgbClr val="445684"/>
                </a:solidFill>
              </a:rPr>
              <a:t> = </a:t>
            </a:r>
            <a:r>
              <a:rPr lang="ru-RU" dirty="0" smtClean="0">
                <a:solidFill>
                  <a:srgbClr val="445684"/>
                </a:solidFill>
              </a:rPr>
              <a:t>1050 </a:t>
            </a:r>
            <a:r>
              <a:rPr lang="en-US" dirty="0">
                <a:solidFill>
                  <a:srgbClr val="445684"/>
                </a:solidFill>
              </a:rPr>
              <a:t>K</a:t>
            </a:r>
            <a:r>
              <a:rPr lang="ru-RU" dirty="0">
                <a:solidFill>
                  <a:srgbClr val="445684"/>
                </a:solidFill>
              </a:rPr>
              <a:t>, на выходе </a:t>
            </a:r>
            <a:r>
              <a:rPr lang="ru-RU" dirty="0" smtClean="0">
                <a:solidFill>
                  <a:srgbClr val="445684"/>
                </a:solidFill>
              </a:rPr>
              <a:t>1500</a:t>
            </a:r>
            <a:r>
              <a:rPr lang="en-US" dirty="0" smtClean="0">
                <a:solidFill>
                  <a:srgbClr val="445684"/>
                </a:solidFill>
              </a:rPr>
              <a:t> </a:t>
            </a:r>
            <a:r>
              <a:rPr lang="en-US" dirty="0">
                <a:solidFill>
                  <a:srgbClr val="445684"/>
                </a:solidFill>
              </a:rPr>
              <a:t>K; </a:t>
            </a:r>
            <a:r>
              <a:rPr lang="ru-RU" dirty="0">
                <a:solidFill>
                  <a:srgbClr val="445684"/>
                </a:solidFill>
              </a:rPr>
              <a:t>минимальная </a:t>
            </a:r>
            <a:r>
              <a:rPr lang="ru-RU" dirty="0" smtClean="0">
                <a:solidFill>
                  <a:srgbClr val="445684"/>
                </a:solidFill>
              </a:rPr>
              <a:t>407 </a:t>
            </a:r>
            <a:r>
              <a:rPr lang="en-US" dirty="0">
                <a:solidFill>
                  <a:srgbClr val="445684"/>
                </a:solidFill>
              </a:rPr>
              <a:t>K</a:t>
            </a:r>
            <a:r>
              <a:rPr lang="ru-RU" dirty="0">
                <a:solidFill>
                  <a:srgbClr val="445684"/>
                </a:solidFill>
              </a:rPr>
              <a:t>.</a:t>
            </a:r>
          </a:p>
          <a:p>
            <a:pPr algn="just"/>
            <a:r>
              <a:rPr lang="ru-RU" dirty="0">
                <a:solidFill>
                  <a:srgbClr val="445684"/>
                </a:solidFill>
              </a:rPr>
              <a:t>Перед турбиной </a:t>
            </a:r>
            <a:r>
              <a:rPr lang="en-US" dirty="0">
                <a:solidFill>
                  <a:srgbClr val="445684"/>
                </a:solidFill>
              </a:rPr>
              <a:t>P = </a:t>
            </a:r>
            <a:r>
              <a:rPr lang="ru-RU" dirty="0" smtClean="0">
                <a:solidFill>
                  <a:srgbClr val="445684"/>
                </a:solidFill>
              </a:rPr>
              <a:t>3.3 </a:t>
            </a:r>
            <a:r>
              <a:rPr lang="ru-RU" dirty="0">
                <a:solidFill>
                  <a:srgbClr val="445684"/>
                </a:solidFill>
              </a:rPr>
              <a:t>МПа, после </a:t>
            </a:r>
            <a:r>
              <a:rPr lang="ru-RU" dirty="0" smtClean="0">
                <a:solidFill>
                  <a:srgbClr val="445684"/>
                </a:solidFill>
              </a:rPr>
              <a:t>1.38 </a:t>
            </a:r>
            <a:r>
              <a:rPr lang="ru-RU" dirty="0">
                <a:solidFill>
                  <a:srgbClr val="445684"/>
                </a:solidFill>
              </a:rPr>
              <a:t>МПа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</a:p>
          <a:p>
            <a:pPr algn="just"/>
            <a:endParaRPr lang="ru-RU" dirty="0" smtClean="0">
              <a:solidFill>
                <a:srgbClr val="445684"/>
              </a:solidFill>
            </a:endParaRPr>
          </a:p>
          <a:p>
            <a:pPr algn="just"/>
            <a:r>
              <a:rPr lang="ru-RU" dirty="0">
                <a:solidFill>
                  <a:srgbClr val="445684"/>
                </a:solidFill>
              </a:rPr>
              <a:t>Про испытанный турбокомпрессор 1964 </a:t>
            </a:r>
            <a:r>
              <a:rPr lang="ru-RU" dirty="0" smtClean="0">
                <a:solidFill>
                  <a:srgbClr val="445684"/>
                </a:solidFill>
              </a:rPr>
              <a:t>г.:</a:t>
            </a:r>
          </a:p>
          <a:p>
            <a:pPr algn="just"/>
            <a:r>
              <a:rPr lang="ru-RU" dirty="0">
                <a:solidFill>
                  <a:srgbClr val="445684"/>
                </a:solidFill>
              </a:rPr>
              <a:t>«</a:t>
            </a:r>
            <a:r>
              <a:rPr lang="en-US" dirty="0">
                <a:solidFill>
                  <a:srgbClr val="445684"/>
                </a:solidFill>
              </a:rPr>
              <a:t>Preliminary test results indicate a design-point efficiency of 0.90 for the BRU turbine, and a peak efficiency of 0.83 for the BRU compressor</a:t>
            </a:r>
            <a:r>
              <a:rPr lang="ru-RU" dirty="0" smtClean="0">
                <a:solidFill>
                  <a:srgbClr val="445684"/>
                </a:solidFill>
              </a:rPr>
              <a:t>».</a:t>
            </a:r>
            <a:endParaRPr lang="ru-RU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94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Примечания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936" y="868854"/>
            <a:ext cx="116459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Для </a:t>
            </a:r>
            <a:r>
              <a:rPr lang="en-US" dirty="0" err="1" smtClean="0">
                <a:solidFill>
                  <a:srgbClr val="445684"/>
                </a:solidFill>
              </a:rPr>
              <a:t>Xe</a:t>
            </a:r>
            <a:r>
              <a:rPr lang="en-US" dirty="0" smtClean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критическая температура 289.5 </a:t>
            </a:r>
            <a:r>
              <a:rPr lang="en-US" dirty="0" smtClean="0">
                <a:solidFill>
                  <a:srgbClr val="445684"/>
                </a:solidFill>
              </a:rPr>
              <a:t>K</a:t>
            </a:r>
            <a:r>
              <a:rPr lang="ru-RU" dirty="0" smtClean="0">
                <a:solidFill>
                  <a:srgbClr val="445684"/>
                </a:solidFill>
              </a:rPr>
              <a:t>, критическое давление 5.84 МПа.</a:t>
            </a:r>
          </a:p>
          <a:p>
            <a:pPr algn="just"/>
            <a:endParaRPr lang="ru-RU" dirty="0" smtClean="0">
              <a:solidFill>
                <a:srgbClr val="445684"/>
              </a:solidFill>
            </a:endParaRPr>
          </a:p>
          <a:p>
            <a:pPr algn="just"/>
            <a:endParaRPr lang="ru-RU" dirty="0" smtClean="0">
              <a:solidFill>
                <a:srgbClr val="445684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36" y="2410654"/>
            <a:ext cx="11779490" cy="181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6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NO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NO" id="{8903D020-7EF2-42BE-9BE1-9E74049EAE9E}" vid="{44B0FAE3-C4EA-49CF-9B77-8603680FD34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5562</TotalTime>
  <Words>717</Words>
  <Application>Microsoft Office PowerPoint</Application>
  <PresentationFormat>Широкоэкранный</PresentationFormat>
  <Paragraphs>144</Paragraphs>
  <Slides>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</vt:lpstr>
      <vt:lpstr>Calibri Light</vt:lpstr>
      <vt:lpstr>Geologica Light</vt:lpstr>
      <vt:lpstr>quote-cjk-patch</vt:lpstr>
      <vt:lpstr>Тема Office</vt:lpstr>
      <vt:lpstr>ITNO</vt:lpstr>
      <vt:lpstr>Презентация PowerPoint</vt:lpstr>
      <vt:lpstr>Содержание</vt:lpstr>
      <vt:lpstr>Реакторы на быстрых нейтронах</vt:lpstr>
      <vt:lpstr>Параметры рекуперативного цикла</vt:lpstr>
      <vt:lpstr>Варьируемые параметры рекуперативного цикла</vt:lpstr>
      <vt:lpstr>Примечания</vt:lpstr>
      <vt:lpstr>Примечания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Калугина Ксения Фаиковна</dc:creator>
  <cp:lastModifiedBy>Романова Анна Сергеевна</cp:lastModifiedBy>
  <cp:revision>1056</cp:revision>
  <dcterms:created xsi:type="dcterms:W3CDTF">2026-07-06T07:17:53Z</dcterms:created>
  <dcterms:modified xsi:type="dcterms:W3CDTF">2026-07-29T15:54:42Z</dcterms:modified>
</cp:coreProperties>
</file>